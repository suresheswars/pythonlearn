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1"/>
  </p:notesMasterIdLst>
  <p:sldIdLst>
    <p:sldId id="256" r:id="rId2"/>
    <p:sldId id="320" r:id="rId3"/>
    <p:sldId id="267" r:id="rId4"/>
    <p:sldId id="268" r:id="rId5"/>
    <p:sldId id="321" r:id="rId6"/>
    <p:sldId id="261" r:id="rId7"/>
    <p:sldId id="260" r:id="rId8"/>
    <p:sldId id="262" r:id="rId9"/>
    <p:sldId id="266" r:id="rId10"/>
    <p:sldId id="293" r:id="rId11"/>
    <p:sldId id="294" r:id="rId12"/>
    <p:sldId id="295" r:id="rId13"/>
    <p:sldId id="296" r:id="rId14"/>
    <p:sldId id="297" r:id="rId15"/>
    <p:sldId id="298" r:id="rId16"/>
    <p:sldId id="299" r:id="rId17"/>
    <p:sldId id="300" r:id="rId18"/>
    <p:sldId id="301" r:id="rId19"/>
    <p:sldId id="302" r:id="rId20"/>
    <p:sldId id="270" r:id="rId21"/>
    <p:sldId id="259" r:id="rId22"/>
    <p:sldId id="303" r:id="rId23"/>
    <p:sldId id="304" r:id="rId24"/>
    <p:sldId id="305" r:id="rId25"/>
    <p:sldId id="306" r:id="rId26"/>
    <p:sldId id="307" r:id="rId27"/>
    <p:sldId id="308" r:id="rId28"/>
    <p:sldId id="309" r:id="rId29"/>
    <p:sldId id="310" r:id="rId30"/>
    <p:sldId id="312" r:id="rId31"/>
    <p:sldId id="313" r:id="rId32"/>
    <p:sldId id="314" r:id="rId33"/>
    <p:sldId id="315" r:id="rId34"/>
    <p:sldId id="316" r:id="rId35"/>
    <p:sldId id="317" r:id="rId36"/>
    <p:sldId id="318" r:id="rId37"/>
    <p:sldId id="319" r:id="rId38"/>
    <p:sldId id="265" r:id="rId39"/>
    <p:sldId id="278" r:id="rId40"/>
    <p:sldId id="264" r:id="rId41"/>
    <p:sldId id="263" r:id="rId42"/>
    <p:sldId id="271" r:id="rId43"/>
    <p:sldId id="272" r:id="rId44"/>
    <p:sldId id="273" r:id="rId45"/>
    <p:sldId id="274" r:id="rId46"/>
    <p:sldId id="275" r:id="rId47"/>
    <p:sldId id="276" r:id="rId48"/>
    <p:sldId id="277" r:id="rId49"/>
    <p:sldId id="279" r:id="rId50"/>
    <p:sldId id="280" r:id="rId51"/>
    <p:sldId id="281" r:id="rId52"/>
    <p:sldId id="285" r:id="rId53"/>
    <p:sldId id="286" r:id="rId54"/>
    <p:sldId id="287" r:id="rId55"/>
    <p:sldId id="288" r:id="rId56"/>
    <p:sldId id="289" r:id="rId57"/>
    <p:sldId id="290" r:id="rId58"/>
    <p:sldId id="291" r:id="rId59"/>
    <p:sldId id="292" r:id="rId60"/>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2855054-B0FC-47A3-9D21-3CDD025DB110}">
          <p14:sldIdLst>
            <p14:sldId id="256"/>
            <p14:sldId id="320"/>
            <p14:sldId id="267"/>
            <p14:sldId id="268"/>
          </p14:sldIdLst>
        </p14:section>
        <p14:section name="Agentic AI" id="{80038844-E7FE-4265-B3AD-C5FC5BBD2A87}">
          <p14:sldIdLst>
            <p14:sldId id="321"/>
            <p14:sldId id="261"/>
            <p14:sldId id="260"/>
            <p14:sldId id="262"/>
          </p14:sldIdLst>
        </p14:section>
        <p14:section name="Diff bw Agentic AI &amp; Generative AI" id="{18E56722-82CC-4130-AB2B-279A541E76E1}">
          <p14:sldIdLst>
            <p14:sldId id="266"/>
          </p14:sldIdLst>
        </p14:section>
        <p14:section name="Workflow GenAI Vs Agentic AI" id="{322E30F3-68DA-4915-9271-3DE959C72AF5}">
          <p14:sldIdLst>
            <p14:sldId id="293"/>
            <p14:sldId id="294"/>
            <p14:sldId id="295"/>
            <p14:sldId id="296"/>
            <p14:sldId id="297"/>
            <p14:sldId id="298"/>
            <p14:sldId id="299"/>
            <p14:sldId id="300"/>
            <p14:sldId id="301"/>
            <p14:sldId id="302"/>
          </p14:sldIdLst>
        </p14:section>
        <p14:section name="Need for AI Agents" id="{8154ACC8-2187-46B2-BD8A-8E2D98361F0F}">
          <p14:sldIdLst>
            <p14:sldId id="270"/>
          </p14:sldIdLst>
        </p14:section>
        <p14:section name="Evolution of Agents" id="{6AEAAC4F-C2F0-4BE2-814B-0C2EC59506EF}">
          <p14:sldIdLst>
            <p14:sldId id="259"/>
          </p14:sldIdLst>
        </p14:section>
        <p14:section name="Characteristics Of Agentic AI" id="{155EEF22-7F0D-4830-BAB2-3700187D8C27}">
          <p14:sldIdLst>
            <p14:sldId id="303"/>
            <p14:sldId id="304"/>
            <p14:sldId id="305"/>
            <p14:sldId id="306"/>
            <p14:sldId id="307"/>
            <p14:sldId id="308"/>
            <p14:sldId id="309"/>
            <p14:sldId id="310"/>
          </p14:sldIdLst>
        </p14:section>
        <p14:section name="Components of Agentic AI" id="{BAAE5C07-14FF-4272-AD3A-2EF21FA82CCC}">
          <p14:sldIdLst>
            <p14:sldId id="312"/>
            <p14:sldId id="313"/>
            <p14:sldId id="314"/>
            <p14:sldId id="315"/>
            <p14:sldId id="316"/>
            <p14:sldId id="317"/>
            <p14:sldId id="318"/>
            <p14:sldId id="319"/>
          </p14:sldIdLst>
        </p14:section>
        <p14:section name="AI Agents vs Agentic AI" id="{F72AAFB1-6AAE-4F95-BBA2-F9650FC7A254}">
          <p14:sldIdLst>
            <p14:sldId id="265"/>
            <p14:sldId id="278"/>
            <p14:sldId id="264"/>
          </p14:sldIdLst>
        </p14:section>
        <p14:section name="React Agent" id="{015C31FB-75E0-417D-9FD7-D46AC4409E64}">
          <p14:sldIdLst>
            <p14:sldId id="263"/>
          </p14:sldIdLst>
        </p14:section>
        <p14:section name="Advantages of using Agents over LLMs" id="{DC12BD45-2E16-49B6-9FEC-BDA7909338A7}">
          <p14:sldIdLst>
            <p14:sldId id="271"/>
          </p14:sldIdLst>
        </p14:section>
        <p14:section name="Uses of Agentic AI" id="{3BF8FA29-2783-49FC-B28C-E8924FB454A6}">
          <p14:sldIdLst>
            <p14:sldId id="272"/>
            <p14:sldId id="273"/>
          </p14:sldIdLst>
        </p14:section>
        <p14:section name="Langchain &amp; Other Framework" id="{F9A88251-6984-4B07-9411-2013BF73CAC3}">
          <p14:sldIdLst>
            <p14:sldId id="274"/>
            <p14:sldId id="275"/>
            <p14:sldId id="276"/>
            <p14:sldId id="277"/>
          </p14:sldIdLst>
        </p14:section>
        <p14:section name="Hands-on" id="{B22DA90C-313E-4444-AD0A-3FCC836514ED}">
          <p14:sldIdLst>
            <p14:sldId id="279"/>
            <p14:sldId id="280"/>
            <p14:sldId id="281"/>
          </p14:sldIdLst>
        </p14:section>
        <p14:section name="Responsible AI" id="{C1FF61CD-58C3-4664-A263-98B0EB1364F0}">
          <p14:sldIdLst>
            <p14:sldId id="285"/>
          </p14:sldIdLst>
        </p14:section>
        <p14:section name="Best Practices" id="{A36C87D7-41E4-4F06-B770-6426E86D6583}">
          <p14:sldIdLst>
            <p14:sldId id="286"/>
            <p14:sldId id="287"/>
            <p14:sldId id="288"/>
          </p14:sldIdLst>
        </p14:section>
        <p14:section name="Future of Agents" id="{D0C5E72D-95D6-4C65-AF9F-8638E13363F7}">
          <p14:sldIdLst>
            <p14:sldId id="289"/>
            <p14:sldId id="290"/>
            <p14:sldId id="291"/>
            <p14:sldId id="292"/>
          </p14:sldIdLst>
        </p14:section>
        <p14:section name="Graveyard" id="{3C242618-7597-4EAD-A725-4933B06019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C1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3" autoAdjust="0"/>
  </p:normalViewPr>
  <p:slideViewPr>
    <p:cSldViewPr snapToGrid="0" snapToObjects="1">
      <p:cViewPr varScale="1">
        <p:scale>
          <a:sx n="109" d="100"/>
          <a:sy n="109" d="100"/>
        </p:scale>
        <p:origin x="73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6222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D9930-AEF1-057F-0204-4641B0A4D6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088E09-09D0-81AD-8245-C64604609BF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5117A5-C37F-EAE5-A69B-22BDBB1E60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FE40FC-98EE-F1F9-44B4-413B1A9B7B3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9486027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jfif"/><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7.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6.png"/><Relationship Id="rId7"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7.png"/><Relationship Id="rId4" Type="http://schemas.openxmlformats.org/officeDocument/2006/relationships/image" Target="../media/image27.png"/><Relationship Id="rId9" Type="http://schemas.openxmlformats.org/officeDocument/2006/relationships/image" Target="../media/image25.png"/></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7.png"/><Relationship Id="rId10" Type="http://schemas.openxmlformats.org/officeDocument/2006/relationships/image" Target="../media/image38.png"/><Relationship Id="rId4" Type="http://schemas.openxmlformats.org/officeDocument/2006/relationships/image" Target="../media/image27.png"/><Relationship Id="rId9" Type="http://schemas.openxmlformats.org/officeDocument/2006/relationships/image" Target="../media/image37.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41.png"/><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9.png"/><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48.png"/></Relationships>
</file>

<file path=ppt/slides/_rels/slide24.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0.png"/></Relationships>
</file>

<file path=ppt/slides/_rels/slide2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openxmlformats.org/officeDocument/2006/relationships/image" Target="../media/image52.png"/></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53.png"/></Relationships>
</file>

<file path=ppt/slides/_rels/slide2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55.png"/></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57.png"/></Relationships>
</file>

<file path=ppt/slides/_rels/slide2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1.png"/><Relationship Id="rId7" Type="http://schemas.openxmlformats.org/officeDocument/2006/relationships/image" Target="../media/image54.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51.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8.png"/><Relationship Id="rId7" Type="http://schemas.openxmlformats.org/officeDocument/2006/relationships/image" Target="../media/image61.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10" Type="http://schemas.openxmlformats.org/officeDocument/2006/relationships/image" Target="../media/image53.png"/><Relationship Id="rId4" Type="http://schemas.openxmlformats.org/officeDocument/2006/relationships/image" Target="../media/image13.png"/><Relationship Id="rId9" Type="http://schemas.openxmlformats.org/officeDocument/2006/relationships/image" Target="../media/image63.png"/></Relationships>
</file>

<file path=ppt/slides/_rels/slide32.xml.rels><?xml version="1.0" encoding="UTF-8" standalone="yes"?>
<Relationships xmlns="http://schemas.openxmlformats.org/package/2006/relationships"><Relationship Id="rId8" Type="http://schemas.openxmlformats.org/officeDocument/2006/relationships/image" Target="../media/image66.png"/><Relationship Id="rId3" Type="http://schemas.openxmlformats.org/officeDocument/2006/relationships/image" Target="../media/image64.png"/><Relationship Id="rId7" Type="http://schemas.openxmlformats.org/officeDocument/2006/relationships/image" Target="../media/image6.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14.png"/><Relationship Id="rId10" Type="http://schemas.openxmlformats.org/officeDocument/2006/relationships/image" Target="../media/image57.png"/><Relationship Id="rId4" Type="http://schemas.openxmlformats.org/officeDocument/2006/relationships/image" Target="../media/image63.png"/><Relationship Id="rId9" Type="http://schemas.openxmlformats.org/officeDocument/2006/relationships/image" Target="../media/image67.png"/></Relationships>
</file>

<file path=ppt/slides/_rels/slide33.xml.rels><?xml version="1.0" encoding="UTF-8" standalone="yes"?>
<Relationships xmlns="http://schemas.openxmlformats.org/package/2006/relationships"><Relationship Id="rId8" Type="http://schemas.openxmlformats.org/officeDocument/2006/relationships/image" Target="../media/image70.png"/><Relationship Id="rId3" Type="http://schemas.openxmlformats.org/officeDocument/2006/relationships/image" Target="../media/image68.png"/><Relationship Id="rId7" Type="http://schemas.openxmlformats.org/officeDocument/2006/relationships/image" Target="../media/image69.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6.png"/><Relationship Id="rId10" Type="http://schemas.openxmlformats.org/officeDocument/2006/relationships/image" Target="../media/image55.png"/><Relationship Id="rId4" Type="http://schemas.openxmlformats.org/officeDocument/2006/relationships/image" Target="../media/image13.png"/><Relationship Id="rId9" Type="http://schemas.openxmlformats.org/officeDocument/2006/relationships/image" Target="../media/image71.png"/></Relationships>
</file>

<file path=ppt/slides/_rels/slide3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72.png"/><Relationship Id="rId7" Type="http://schemas.openxmlformats.org/officeDocument/2006/relationships/image" Target="../media/image6.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65.png"/><Relationship Id="rId5" Type="http://schemas.openxmlformats.org/officeDocument/2006/relationships/image" Target="../media/image5.png"/><Relationship Id="rId10" Type="http://schemas.openxmlformats.org/officeDocument/2006/relationships/image" Target="../media/image74.png"/><Relationship Id="rId4" Type="http://schemas.openxmlformats.org/officeDocument/2006/relationships/image" Target="../media/image23.png"/><Relationship Id="rId9" Type="http://schemas.openxmlformats.org/officeDocument/2006/relationships/image" Target="../media/image73.png"/></Relationships>
</file>

<file path=ppt/slides/_rels/slide35.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75.png"/><Relationship Id="rId7" Type="http://schemas.openxmlformats.org/officeDocument/2006/relationships/image" Target="../media/image65.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78.png"/><Relationship Id="rId5" Type="http://schemas.openxmlformats.org/officeDocument/2006/relationships/image" Target="../media/image77.png"/><Relationship Id="rId10" Type="http://schemas.openxmlformats.org/officeDocument/2006/relationships/image" Target="../media/image79.png"/><Relationship Id="rId4" Type="http://schemas.openxmlformats.org/officeDocument/2006/relationships/image" Target="../media/image76.png"/><Relationship Id="rId9" Type="http://schemas.openxmlformats.org/officeDocument/2006/relationships/image" Target="../media/image46.png"/></Relationships>
</file>

<file path=ppt/slides/_rels/slide36.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64.png"/><Relationship Id="rId7" Type="http://schemas.openxmlformats.org/officeDocument/2006/relationships/image" Target="../media/image75.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72.png"/><Relationship Id="rId4" Type="http://schemas.openxmlformats.org/officeDocument/2006/relationships/image" Target="../media/image8.png"/></Relationships>
</file>

<file path=ppt/slides/_rels/slide37.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75.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68.png"/><Relationship Id="rId4" Type="http://schemas.openxmlformats.org/officeDocument/2006/relationships/image" Target="../media/image64.png"/></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33.png"/></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9.xml"/><Relationship Id="rId1" Type="http://schemas.openxmlformats.org/officeDocument/2006/relationships/slideLayout" Target="../slideLayouts/slideLayout1.xml"/><Relationship Id="rId4" Type="http://schemas.openxmlformats.org/officeDocument/2006/relationships/image" Target="../media/image45.png"/></Relationships>
</file>

<file path=ppt/slides/_rels/slide40.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7.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46.png"/><Relationship Id="rId5" Type="http://schemas.openxmlformats.org/officeDocument/2006/relationships/image" Target="../media/image82.png"/><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8" Type="http://schemas.openxmlformats.org/officeDocument/2006/relationships/image" Target="../media/image84.png"/><Relationship Id="rId3" Type="http://schemas.openxmlformats.org/officeDocument/2006/relationships/image" Target="../media/image23.png"/><Relationship Id="rId7" Type="http://schemas.openxmlformats.org/officeDocument/2006/relationships/image" Target="../media/image66.png"/><Relationship Id="rId2" Type="http://schemas.openxmlformats.org/officeDocument/2006/relationships/notesSlide" Target="../notesSlides/notesSlide4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62.png"/><Relationship Id="rId4" Type="http://schemas.openxmlformats.org/officeDocument/2006/relationships/image" Target="../media/image46.png"/></Relationships>
</file>

<file path=ppt/slides/_rels/slide44.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45.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83.png"/><Relationship Id="rId7" Type="http://schemas.openxmlformats.org/officeDocument/2006/relationships/image" Target="../media/image13.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66.png"/><Relationship Id="rId4" Type="http://schemas.openxmlformats.org/officeDocument/2006/relationships/image" Target="../media/image46.png"/></Relationships>
</file>

<file path=ppt/slides/_rels/slide5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66.png"/><Relationship Id="rId4" Type="http://schemas.openxmlformats.org/officeDocument/2006/relationships/image" Target="../media/image71.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55.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56.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56.xml"/><Relationship Id="rId1" Type="http://schemas.openxmlformats.org/officeDocument/2006/relationships/slideLayout" Target="../slideLayouts/slideLayout1.xml"/><Relationship Id="rId6" Type="http://schemas.openxmlformats.org/officeDocument/2006/relationships/image" Target="../media/image66.png"/><Relationship Id="rId5" Type="http://schemas.openxmlformats.org/officeDocument/2006/relationships/image" Target="../media/image23.png"/><Relationship Id="rId4" Type="http://schemas.openxmlformats.org/officeDocument/2006/relationships/image" Target="../media/image84.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82.png"/></Relationships>
</file>

<file path=ppt/slides/_rels/slide5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US" dirty="0"/>
          </a:p>
        </p:txBody>
      </p:sp>
      <p:sp>
        <p:nvSpPr>
          <p:cNvPr id="3" name="Shape 1"/>
          <p:cNvSpPr/>
          <p:nvPr/>
        </p:nvSpPr>
        <p:spPr>
          <a:xfrm>
            <a:off x="0" y="5070348"/>
            <a:ext cx="9144000" cy="73152"/>
          </a:xfrm>
          <a:prstGeom prst="rect">
            <a:avLst/>
          </a:prstGeom>
          <a:solidFill>
            <a:srgbClr val="0891B2"/>
          </a:solidFill>
          <a:ln/>
        </p:spPr>
        <p:txBody>
          <a:bodyPr/>
          <a:lstStyle/>
          <a:p>
            <a:endParaRPr lang="en-US" dirty="0"/>
          </a:p>
        </p:txBody>
      </p:sp>
      <p:sp>
        <p:nvSpPr>
          <p:cNvPr id="4" name="Shape 2"/>
          <p:cNvSpPr/>
          <p:nvPr/>
        </p:nvSpPr>
        <p:spPr>
          <a:xfrm>
            <a:off x="3886200" y="548640"/>
            <a:ext cx="1371600" cy="1371600"/>
          </a:xfrm>
          <a:prstGeom prst="ellipse">
            <a:avLst/>
          </a:prstGeom>
          <a:solidFill>
            <a:srgbClr val="0891B2"/>
          </a:solidFill>
          <a:ln/>
        </p:spPr>
        <p:txBody>
          <a:bodyPr/>
          <a:lstStyle/>
          <a:p>
            <a:endParaRPr lang="en-US" dirty="0"/>
          </a:p>
        </p:txBody>
      </p:sp>
      <p:pic>
        <p:nvPicPr>
          <p:cNvPr id="5" name="Image 0" descr="preencoded.png"/>
          <p:cNvPicPr>
            <a:picLocks noChangeAspect="1"/>
          </p:cNvPicPr>
          <p:nvPr/>
        </p:nvPicPr>
        <p:blipFill>
          <a:blip r:embed="rId3"/>
          <a:stretch>
            <a:fillRect/>
          </a:stretch>
        </p:blipFill>
        <p:spPr>
          <a:xfrm>
            <a:off x="4195509" y="850392"/>
            <a:ext cx="768096" cy="768096"/>
          </a:xfrm>
          <a:prstGeom prst="rect">
            <a:avLst/>
          </a:prstGeom>
        </p:spPr>
      </p:pic>
      <p:sp>
        <p:nvSpPr>
          <p:cNvPr id="6" name="Text 3"/>
          <p:cNvSpPr/>
          <p:nvPr/>
        </p:nvSpPr>
        <p:spPr>
          <a:xfrm>
            <a:off x="731520" y="2103120"/>
            <a:ext cx="7680960" cy="1463040"/>
          </a:xfrm>
          <a:prstGeom prst="rect">
            <a:avLst/>
          </a:prstGeom>
          <a:noFill/>
          <a:ln/>
        </p:spPr>
        <p:txBody>
          <a:bodyPr wrap="square" lIns="0" tIns="0" rIns="0" bIns="0" rtlCol="0" anchor="ctr"/>
          <a:lstStyle/>
          <a:p>
            <a:pPr marL="0" indent="0" algn="ctr">
              <a:buNone/>
            </a:pPr>
            <a:r>
              <a:rPr lang="en-US" sz="3600" b="1" dirty="0">
                <a:solidFill>
                  <a:srgbClr val="FFFFFF"/>
                </a:solidFill>
                <a:latin typeface="Trebuchet MS" pitchFamily="34" charset="0"/>
                <a:ea typeface="Trebuchet MS" pitchFamily="34" charset="-122"/>
                <a:cs typeface="Trebuchet MS" pitchFamily="34" charset="-120"/>
              </a:rPr>
              <a:t>What Are AI Agents &amp;</a:t>
            </a:r>
            <a:endParaRPr lang="en-US" sz="3600" dirty="0"/>
          </a:p>
          <a:p>
            <a:pPr marL="0" indent="0" algn="ctr">
              <a:buNone/>
            </a:pPr>
            <a:r>
              <a:rPr lang="en-US" sz="3600" b="1" dirty="0">
                <a:solidFill>
                  <a:srgbClr val="FFFFFF"/>
                </a:solidFill>
                <a:latin typeface="Trebuchet MS" pitchFamily="34" charset="0"/>
                <a:ea typeface="Trebuchet MS" pitchFamily="34" charset="-122"/>
                <a:cs typeface="Trebuchet MS" pitchFamily="34" charset="-120"/>
              </a:rPr>
              <a:t>Why Do We Need Them?</a:t>
            </a:r>
            <a:endParaRPr lang="en-US" sz="3600" dirty="0"/>
          </a:p>
        </p:txBody>
      </p:sp>
      <p:sp>
        <p:nvSpPr>
          <p:cNvPr id="7" name="Text 4"/>
          <p:cNvSpPr/>
          <p:nvPr/>
        </p:nvSpPr>
        <p:spPr>
          <a:xfrm>
            <a:off x="731520" y="3566160"/>
            <a:ext cx="7680960" cy="457200"/>
          </a:xfrm>
          <a:prstGeom prst="rect">
            <a:avLst/>
          </a:prstGeom>
          <a:noFill/>
          <a:ln/>
        </p:spPr>
        <p:txBody>
          <a:bodyPr wrap="square" lIns="0" tIns="0" rIns="0" bIns="0" rtlCol="0" anchor="ctr"/>
          <a:lstStyle/>
          <a:p>
            <a:pPr marL="0" indent="0" algn="ctr">
              <a:buNone/>
            </a:pPr>
            <a:r>
              <a:rPr lang="en-US" sz="1600" dirty="0">
                <a:solidFill>
                  <a:srgbClr val="22D3EE"/>
                </a:solidFill>
                <a:latin typeface="Calibri" pitchFamily="34" charset="0"/>
                <a:ea typeface="Calibri" pitchFamily="34" charset="-122"/>
                <a:cs typeface="Calibri" pitchFamily="34" charset="-120"/>
              </a:rPr>
              <a:t>A Comprehensive 3-Hour Workshop  |  LangChain + Python</a:t>
            </a:r>
            <a:endParaRPr lang="en-US" sz="1600" dirty="0"/>
          </a:p>
        </p:txBody>
      </p:sp>
      <p:sp>
        <p:nvSpPr>
          <p:cNvPr id="8" name="Text 5"/>
          <p:cNvSpPr/>
          <p:nvPr/>
        </p:nvSpPr>
        <p:spPr>
          <a:xfrm>
            <a:off x="731520" y="4114800"/>
            <a:ext cx="7680960" cy="457200"/>
          </a:xfrm>
          <a:prstGeom prst="rect">
            <a:avLst/>
          </a:prstGeom>
          <a:noFill/>
          <a:ln/>
        </p:spPr>
        <p:txBody>
          <a:bodyPr wrap="square" lIns="0" tIns="0" rIns="0" bIns="0" rtlCol="0" anchor="ctr"/>
          <a:lstStyle/>
          <a:p>
            <a:pPr marL="0" indent="0" algn="ctr">
              <a:buNone/>
            </a:pPr>
            <a:r>
              <a:rPr lang="en-US" sz="1300" i="1" dirty="0">
                <a:solidFill>
                  <a:srgbClr val="94A3B8"/>
                </a:solidFill>
                <a:latin typeface="Calibri" pitchFamily="34" charset="0"/>
                <a:ea typeface="Calibri" pitchFamily="34" charset="-122"/>
                <a:cs typeface="Calibri" pitchFamily="34" charset="-120"/>
              </a:rPr>
              <a:t>From Understanding to Building Autonomous AI Systems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B2433"/>
          </a:solidFill>
          <a:ln w="12700">
            <a:solidFill>
              <a:srgbClr val="1B2433"/>
            </a:solidFill>
            <a:prstDash val="solid"/>
          </a:ln>
        </p:spPr>
      </p:sp>
      <p:sp>
        <p:nvSpPr>
          <p:cNvPr id="3" name="Text 1"/>
          <p:cNvSpPr/>
          <p:nvPr/>
        </p:nvSpPr>
        <p:spPr>
          <a:xfrm>
            <a:off x="292608" y="73152"/>
            <a:ext cx="8558784" cy="512064"/>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Know Your Instructor</a:t>
            </a:r>
            <a:endParaRPr lang="en-US" sz="2400" dirty="0"/>
          </a:p>
        </p:txBody>
      </p:sp>
      <p:sp>
        <p:nvSpPr>
          <p:cNvPr id="4" name="Shape 2"/>
          <p:cNvSpPr/>
          <p:nvPr/>
        </p:nvSpPr>
        <p:spPr>
          <a:xfrm>
            <a:off x="256032" y="822960"/>
            <a:ext cx="5120640" cy="4133088"/>
          </a:xfrm>
          <a:prstGeom prst="rect">
            <a:avLst/>
          </a:prstGeom>
          <a:solidFill>
            <a:srgbClr val="FFFFFF"/>
          </a:solidFill>
          <a:ln w="12700">
            <a:solidFill>
              <a:srgbClr val="DEE3EA"/>
            </a:solidFill>
            <a:prstDash val="solid"/>
          </a:ln>
          <a:effectLst>
            <a:outerShdw blurRad="63500" dist="25400" dir="8100000" algn="bl" rotWithShape="0">
              <a:srgbClr val="000000">
                <a:alpha val="7000"/>
              </a:srgbClr>
            </a:outerShdw>
          </a:effectLst>
        </p:spPr>
      </p:sp>
      <p:sp>
        <p:nvSpPr>
          <p:cNvPr id="5" name="Text 3"/>
          <p:cNvSpPr/>
          <p:nvPr/>
        </p:nvSpPr>
        <p:spPr>
          <a:xfrm>
            <a:off x="475488" y="969264"/>
            <a:ext cx="4681728" cy="384048"/>
          </a:xfrm>
          <a:prstGeom prst="rect">
            <a:avLst/>
          </a:prstGeom>
          <a:noFill/>
          <a:ln/>
        </p:spPr>
        <p:txBody>
          <a:bodyPr wrap="square" lIns="0" tIns="0" rIns="0" bIns="0" rtlCol="0" anchor="ctr"/>
          <a:lstStyle/>
          <a:p>
            <a:pPr marL="0" indent="0">
              <a:buNone/>
            </a:pPr>
            <a:r>
              <a:rPr lang="en-US" sz="1800" b="1" dirty="0">
                <a:solidFill>
                  <a:srgbClr val="1B2433"/>
                </a:solidFill>
                <a:latin typeface="Calibri" pitchFamily="34" charset="0"/>
                <a:ea typeface="Calibri" pitchFamily="34" charset="-122"/>
                <a:cs typeface="Calibri" pitchFamily="34" charset="-120"/>
              </a:rPr>
              <a:t>Varush H.</a:t>
            </a:r>
            <a:endParaRPr lang="en-US" sz="1800" dirty="0"/>
          </a:p>
        </p:txBody>
      </p:sp>
      <p:sp>
        <p:nvSpPr>
          <p:cNvPr id="6" name="Text 4"/>
          <p:cNvSpPr/>
          <p:nvPr/>
        </p:nvSpPr>
        <p:spPr>
          <a:xfrm>
            <a:off x="475488" y="1371600"/>
            <a:ext cx="4681728" cy="256032"/>
          </a:xfrm>
          <a:prstGeom prst="rect">
            <a:avLst/>
          </a:prstGeom>
          <a:noFill/>
          <a:ln/>
        </p:spPr>
        <p:txBody>
          <a:bodyPr wrap="square" lIns="0" tIns="0" rIns="0" bIns="0" rtlCol="0" anchor="ctr"/>
          <a:lstStyle/>
          <a:p>
            <a:pPr marL="0" indent="0">
              <a:buNone/>
            </a:pPr>
            <a:r>
              <a:rPr lang="en-US" sz="1100" b="1" dirty="0">
                <a:solidFill>
                  <a:srgbClr val="00A8C8"/>
                </a:solidFill>
                <a:latin typeface="Calibri" pitchFamily="34" charset="0"/>
                <a:ea typeface="Calibri" pitchFamily="34" charset="-122"/>
                <a:cs typeface="Calibri" pitchFamily="34" charset="-120"/>
              </a:rPr>
              <a:t>Senior Data Scientist · PwC India</a:t>
            </a:r>
            <a:endParaRPr lang="en-US" sz="1100" dirty="0"/>
          </a:p>
        </p:txBody>
      </p:sp>
      <p:sp>
        <p:nvSpPr>
          <p:cNvPr id="7" name="Shape 5"/>
          <p:cNvSpPr/>
          <p:nvPr/>
        </p:nvSpPr>
        <p:spPr>
          <a:xfrm>
            <a:off x="475488" y="1783080"/>
            <a:ext cx="54864" cy="594360"/>
          </a:xfrm>
          <a:prstGeom prst="rect">
            <a:avLst/>
          </a:prstGeom>
          <a:solidFill>
            <a:srgbClr val="00A8C8"/>
          </a:solidFill>
          <a:ln w="12700">
            <a:solidFill>
              <a:srgbClr val="00A8C8"/>
            </a:solidFill>
            <a:prstDash val="solid"/>
          </a:ln>
        </p:spPr>
      </p:sp>
      <p:sp>
        <p:nvSpPr>
          <p:cNvPr id="8" name="Text 6"/>
          <p:cNvSpPr/>
          <p:nvPr/>
        </p:nvSpPr>
        <p:spPr>
          <a:xfrm>
            <a:off x="658368" y="1792224"/>
            <a:ext cx="4462272" cy="237744"/>
          </a:xfrm>
          <a:prstGeom prst="rect">
            <a:avLst/>
          </a:prstGeom>
          <a:noFill/>
          <a:ln/>
        </p:spPr>
        <p:txBody>
          <a:bodyPr wrap="square" lIns="0" tIns="0" rIns="0" bIns="0" rtlCol="0" anchor="ctr"/>
          <a:lstStyle/>
          <a:p>
            <a:pPr marL="0" indent="0">
              <a:buNone/>
            </a:pPr>
            <a:r>
              <a:rPr lang="en-US" sz="1150" b="1" dirty="0">
                <a:solidFill>
                  <a:srgbClr val="1B2433"/>
                </a:solidFill>
                <a:latin typeface="Calibri" pitchFamily="34" charset="0"/>
                <a:ea typeface="Calibri" pitchFamily="34" charset="-122"/>
                <a:cs typeface="Calibri" pitchFamily="34" charset="-120"/>
              </a:rPr>
              <a:t>Senior Data Scientist @ PwC India</a:t>
            </a:r>
            <a:endParaRPr lang="en-US" sz="1150" dirty="0"/>
          </a:p>
        </p:txBody>
      </p:sp>
      <p:sp>
        <p:nvSpPr>
          <p:cNvPr id="9" name="Text 7"/>
          <p:cNvSpPr/>
          <p:nvPr/>
        </p:nvSpPr>
        <p:spPr>
          <a:xfrm>
            <a:off x="658368" y="2039112"/>
            <a:ext cx="4462272" cy="329184"/>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Leads high-impact AI/ML projects delivering measurable business ROI across enterprise clients in consulting.</a:t>
            </a:r>
            <a:endParaRPr lang="en-US" sz="1000" dirty="0"/>
          </a:p>
        </p:txBody>
      </p:sp>
      <p:sp>
        <p:nvSpPr>
          <p:cNvPr id="10" name="Shape 8"/>
          <p:cNvSpPr/>
          <p:nvPr/>
        </p:nvSpPr>
        <p:spPr>
          <a:xfrm>
            <a:off x="475488" y="2551176"/>
            <a:ext cx="54864" cy="594360"/>
          </a:xfrm>
          <a:prstGeom prst="rect">
            <a:avLst/>
          </a:prstGeom>
          <a:solidFill>
            <a:srgbClr val="00A8C8"/>
          </a:solidFill>
          <a:ln w="12700">
            <a:solidFill>
              <a:srgbClr val="00A8C8"/>
            </a:solidFill>
            <a:prstDash val="solid"/>
          </a:ln>
        </p:spPr>
      </p:sp>
      <p:sp>
        <p:nvSpPr>
          <p:cNvPr id="11" name="Text 9"/>
          <p:cNvSpPr/>
          <p:nvPr/>
        </p:nvSpPr>
        <p:spPr>
          <a:xfrm>
            <a:off x="658368" y="2560320"/>
            <a:ext cx="4462272" cy="237744"/>
          </a:xfrm>
          <a:prstGeom prst="rect">
            <a:avLst/>
          </a:prstGeom>
          <a:noFill/>
          <a:ln/>
        </p:spPr>
        <p:txBody>
          <a:bodyPr wrap="square" lIns="0" tIns="0" rIns="0" bIns="0" rtlCol="0" anchor="ctr"/>
          <a:lstStyle/>
          <a:p>
            <a:pPr marL="0" indent="0">
              <a:buNone/>
            </a:pPr>
            <a:r>
              <a:rPr lang="en-US" sz="1150" b="1" dirty="0">
                <a:solidFill>
                  <a:srgbClr val="1B2433"/>
                </a:solidFill>
                <a:latin typeface="Calibri" pitchFamily="34" charset="0"/>
                <a:ea typeface="Calibri" pitchFamily="34" charset="-122"/>
                <a:cs typeface="Calibri" pitchFamily="34" charset="-120"/>
              </a:rPr>
              <a:t>Agentic &amp; Generative AI Practitioner</a:t>
            </a:r>
            <a:endParaRPr lang="en-US" sz="1150" dirty="0"/>
          </a:p>
        </p:txBody>
      </p:sp>
      <p:sp>
        <p:nvSpPr>
          <p:cNvPr id="12" name="Text 10"/>
          <p:cNvSpPr/>
          <p:nvPr/>
        </p:nvSpPr>
        <p:spPr>
          <a:xfrm>
            <a:off x="658368" y="2807208"/>
            <a:ext cx="4462272" cy="329184"/>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Architected and shipped production-grade Agentic AI, NLP, Deep Learning, and LLM-powered solutions.</a:t>
            </a:r>
            <a:endParaRPr lang="en-US" sz="1000" dirty="0"/>
          </a:p>
        </p:txBody>
      </p:sp>
      <p:sp>
        <p:nvSpPr>
          <p:cNvPr id="13" name="Shape 11"/>
          <p:cNvSpPr/>
          <p:nvPr/>
        </p:nvSpPr>
        <p:spPr>
          <a:xfrm>
            <a:off x="475488" y="3319272"/>
            <a:ext cx="54864" cy="594360"/>
          </a:xfrm>
          <a:prstGeom prst="rect">
            <a:avLst/>
          </a:prstGeom>
          <a:solidFill>
            <a:srgbClr val="00A8C8"/>
          </a:solidFill>
          <a:ln w="12700">
            <a:solidFill>
              <a:srgbClr val="00A8C8"/>
            </a:solidFill>
            <a:prstDash val="solid"/>
          </a:ln>
        </p:spPr>
      </p:sp>
      <p:sp>
        <p:nvSpPr>
          <p:cNvPr id="14" name="Text 12"/>
          <p:cNvSpPr/>
          <p:nvPr/>
        </p:nvSpPr>
        <p:spPr>
          <a:xfrm>
            <a:off x="658368" y="3328416"/>
            <a:ext cx="4462272" cy="237744"/>
          </a:xfrm>
          <a:prstGeom prst="rect">
            <a:avLst/>
          </a:prstGeom>
          <a:noFill/>
          <a:ln/>
        </p:spPr>
        <p:txBody>
          <a:bodyPr wrap="square" lIns="0" tIns="0" rIns="0" bIns="0" rtlCol="0" anchor="ctr"/>
          <a:lstStyle/>
          <a:p>
            <a:pPr marL="0" indent="0">
              <a:buNone/>
            </a:pPr>
            <a:r>
              <a:rPr lang="en-US" sz="1150" b="1" dirty="0">
                <a:solidFill>
                  <a:srgbClr val="1B2433"/>
                </a:solidFill>
                <a:latin typeface="Calibri" pitchFamily="34" charset="0"/>
                <a:ea typeface="Calibri" pitchFamily="34" charset="-122"/>
                <a:cs typeface="Calibri" pitchFamily="34" charset="-120"/>
              </a:rPr>
              <a:t>Student Mentor &amp; Educator</a:t>
            </a:r>
            <a:endParaRPr lang="en-US" sz="1150" dirty="0"/>
          </a:p>
        </p:txBody>
      </p:sp>
      <p:sp>
        <p:nvSpPr>
          <p:cNvPr id="15" name="Text 13"/>
          <p:cNvSpPr/>
          <p:nvPr/>
        </p:nvSpPr>
        <p:spPr>
          <a:xfrm>
            <a:off x="658368" y="3575304"/>
            <a:ext cx="4462272" cy="329184"/>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Mentors aspiring data scientists and junior engineers — guiding careers, projects, and skill-building in AI/ML.</a:t>
            </a:r>
            <a:endParaRPr lang="en-US" sz="1000" dirty="0"/>
          </a:p>
        </p:txBody>
      </p:sp>
      <p:sp>
        <p:nvSpPr>
          <p:cNvPr id="16" name="Shape 14"/>
          <p:cNvSpPr/>
          <p:nvPr/>
        </p:nvSpPr>
        <p:spPr>
          <a:xfrm>
            <a:off x="475488" y="4087368"/>
            <a:ext cx="54864" cy="594360"/>
          </a:xfrm>
          <a:prstGeom prst="rect">
            <a:avLst/>
          </a:prstGeom>
          <a:solidFill>
            <a:srgbClr val="00A8C8"/>
          </a:solidFill>
          <a:ln w="12700">
            <a:solidFill>
              <a:srgbClr val="00A8C8"/>
            </a:solidFill>
            <a:prstDash val="solid"/>
          </a:ln>
        </p:spPr>
      </p:sp>
      <p:sp>
        <p:nvSpPr>
          <p:cNvPr id="17" name="Text 15"/>
          <p:cNvSpPr/>
          <p:nvPr/>
        </p:nvSpPr>
        <p:spPr>
          <a:xfrm>
            <a:off x="658368" y="4096512"/>
            <a:ext cx="4462272" cy="237744"/>
          </a:xfrm>
          <a:prstGeom prst="rect">
            <a:avLst/>
          </a:prstGeom>
          <a:noFill/>
          <a:ln/>
        </p:spPr>
        <p:txBody>
          <a:bodyPr wrap="square" lIns="0" tIns="0" rIns="0" bIns="0" rtlCol="0" anchor="ctr"/>
          <a:lstStyle/>
          <a:p>
            <a:pPr marL="0" indent="0">
              <a:buNone/>
            </a:pPr>
            <a:r>
              <a:rPr lang="en-US" sz="1150" b="1" dirty="0">
                <a:solidFill>
                  <a:srgbClr val="1B2433"/>
                </a:solidFill>
                <a:latin typeface="Calibri" pitchFamily="34" charset="0"/>
                <a:ea typeface="Calibri" pitchFamily="34" charset="-122"/>
                <a:cs typeface="Calibri" pitchFamily="34" charset="-120"/>
              </a:rPr>
              <a:t>Workshop Facilitator — AI</a:t>
            </a:r>
            <a:endParaRPr lang="en-US" sz="1150" dirty="0"/>
          </a:p>
        </p:txBody>
      </p:sp>
      <p:sp>
        <p:nvSpPr>
          <p:cNvPr id="18" name="Text 16"/>
          <p:cNvSpPr/>
          <p:nvPr/>
        </p:nvSpPr>
        <p:spPr>
          <a:xfrm>
            <a:off x="658368" y="4343400"/>
            <a:ext cx="4462272" cy="329184"/>
          </a:xfrm>
          <a:prstGeom prst="rect">
            <a:avLst/>
          </a:prstGeom>
          <a:noFill/>
          <a:ln/>
        </p:spPr>
        <p:txBody>
          <a:bodyPr wrap="square" lIns="0" tIns="0" rIns="0" bIns="0" rtlCol="0" anchor="ctr"/>
          <a:lstStyle/>
          <a:p>
            <a:pPr marL="0" indent="0">
              <a:buNone/>
            </a:pPr>
            <a:r>
              <a:rPr lang="en-US" sz="1000" dirty="0">
                <a:solidFill>
                  <a:srgbClr val="4A5568"/>
                </a:solidFill>
                <a:latin typeface="Calibri" pitchFamily="34" charset="0"/>
                <a:ea typeface="Calibri" pitchFamily="34" charset="-122"/>
                <a:cs typeface="Calibri" pitchFamily="34" charset="-120"/>
              </a:rPr>
              <a:t>Delivers hands-on workshops translating complex AI concepts into practical, build-ready knowledge for learners.</a:t>
            </a:r>
            <a:endParaRPr lang="en-US" sz="1000" dirty="0"/>
          </a:p>
        </p:txBody>
      </p:sp>
      <p:sp>
        <p:nvSpPr>
          <p:cNvPr id="19" name="Shape 17"/>
          <p:cNvSpPr/>
          <p:nvPr/>
        </p:nvSpPr>
        <p:spPr>
          <a:xfrm>
            <a:off x="5596128" y="822960"/>
            <a:ext cx="3291840" cy="4133088"/>
          </a:xfrm>
          <a:prstGeom prst="rect">
            <a:avLst/>
          </a:prstGeom>
          <a:solidFill>
            <a:srgbClr val="FFFFFF"/>
          </a:solidFill>
          <a:ln w="12700">
            <a:solidFill>
              <a:srgbClr val="DEE3EA"/>
            </a:solidFill>
            <a:prstDash val="solid"/>
          </a:ln>
          <a:effectLst>
            <a:outerShdw blurRad="63500" dist="25400" dir="8100000" algn="bl" rotWithShape="0">
              <a:srgbClr val="000000">
                <a:alpha val="7000"/>
              </a:srgbClr>
            </a:outerShdw>
          </a:effectLst>
        </p:spPr>
        <p:txBody>
          <a:bodyPr/>
          <a:lstStyle/>
          <a:p>
            <a:endParaRPr lang="en-IN" dirty="0"/>
          </a:p>
        </p:txBody>
      </p:sp>
      <p:sp>
        <p:nvSpPr>
          <p:cNvPr id="20" name="Shape 18"/>
          <p:cNvSpPr/>
          <p:nvPr/>
        </p:nvSpPr>
        <p:spPr>
          <a:xfrm>
            <a:off x="6413608" y="948866"/>
            <a:ext cx="1656878" cy="1676341"/>
          </a:xfrm>
          <a:prstGeom prst="ellipse">
            <a:avLst/>
          </a:prstGeom>
          <a:solidFill>
            <a:srgbClr val="E8F6F9"/>
          </a:solidFill>
          <a:ln w="25400">
            <a:solidFill>
              <a:srgbClr val="00A8C8"/>
            </a:solidFill>
            <a:prstDash val="solid"/>
          </a:ln>
        </p:spPr>
        <p:txBody>
          <a:bodyPr/>
          <a:lstStyle/>
          <a:p>
            <a:endParaRPr lang="en-IN" dirty="0"/>
          </a:p>
        </p:txBody>
      </p:sp>
      <p:sp>
        <p:nvSpPr>
          <p:cNvPr id="21" name="Text 19"/>
          <p:cNvSpPr/>
          <p:nvPr/>
        </p:nvSpPr>
        <p:spPr>
          <a:xfrm>
            <a:off x="6236208" y="987552"/>
            <a:ext cx="2011680" cy="2011680"/>
          </a:xfrm>
          <a:prstGeom prst="rect">
            <a:avLst/>
          </a:prstGeom>
          <a:noFill/>
          <a:ln/>
        </p:spPr>
        <p:txBody>
          <a:bodyPr wrap="square" rtlCol="0" anchor="ctr"/>
          <a:lstStyle/>
          <a:p>
            <a:pPr marL="0" indent="0" algn="ctr">
              <a:buNone/>
            </a:pPr>
            <a:endParaRPr lang="en-US" sz="1100" dirty="0"/>
          </a:p>
        </p:txBody>
      </p:sp>
      <p:sp>
        <p:nvSpPr>
          <p:cNvPr id="22" name="Shape 20"/>
          <p:cNvSpPr/>
          <p:nvPr/>
        </p:nvSpPr>
        <p:spPr>
          <a:xfrm>
            <a:off x="5760720" y="3127248"/>
            <a:ext cx="2962656" cy="0"/>
          </a:xfrm>
          <a:prstGeom prst="line">
            <a:avLst/>
          </a:prstGeom>
          <a:noFill/>
          <a:ln w="12700">
            <a:solidFill>
              <a:srgbClr val="EEF1F5"/>
            </a:solidFill>
            <a:prstDash val="solid"/>
          </a:ln>
        </p:spPr>
      </p:sp>
      <p:sp>
        <p:nvSpPr>
          <p:cNvPr id="23" name="Text 21"/>
          <p:cNvSpPr/>
          <p:nvPr/>
        </p:nvSpPr>
        <p:spPr>
          <a:xfrm>
            <a:off x="5504688" y="2732649"/>
            <a:ext cx="3291840" cy="256032"/>
          </a:xfrm>
          <a:prstGeom prst="rect">
            <a:avLst/>
          </a:prstGeom>
          <a:noFill/>
          <a:ln/>
        </p:spPr>
        <p:txBody>
          <a:bodyPr wrap="square" lIns="0" tIns="0" rIns="0" bIns="0" rtlCol="0" anchor="ctr"/>
          <a:lstStyle/>
          <a:p>
            <a:pPr marL="0" indent="0" algn="ctr">
              <a:buNone/>
            </a:pPr>
            <a:r>
              <a:rPr lang="en-US" sz="1100" b="1" dirty="0">
                <a:solidFill>
                  <a:srgbClr val="1B2433"/>
                </a:solidFill>
                <a:latin typeface="Calibri" pitchFamily="34" charset="0"/>
                <a:ea typeface="Calibri" pitchFamily="34" charset="-122"/>
                <a:cs typeface="Calibri" pitchFamily="34" charset="-120"/>
              </a:rPr>
              <a:t>Scan to Connect on</a:t>
            </a:r>
            <a:endParaRPr lang="en-US" sz="1100" dirty="0"/>
          </a:p>
        </p:txBody>
      </p:sp>
      <p:pic>
        <p:nvPicPr>
          <p:cNvPr id="24" name="Image 0" descr="preencoded.png"/>
          <p:cNvPicPr>
            <a:picLocks noChangeAspect="1"/>
          </p:cNvPicPr>
          <p:nvPr/>
        </p:nvPicPr>
        <p:blipFill>
          <a:blip r:embed="rId3"/>
          <a:stretch>
            <a:fillRect/>
          </a:stretch>
        </p:blipFill>
        <p:spPr>
          <a:xfrm>
            <a:off x="6236208" y="2953512"/>
            <a:ext cx="2011680" cy="2011680"/>
          </a:xfrm>
          <a:prstGeom prst="rect">
            <a:avLst/>
          </a:prstGeom>
        </p:spPr>
      </p:pic>
      <p:pic>
        <p:nvPicPr>
          <p:cNvPr id="27" name="Picture 26">
            <a:extLst>
              <a:ext uri="{FF2B5EF4-FFF2-40B4-BE49-F238E27FC236}">
                <a16:creationId xmlns:a16="http://schemas.microsoft.com/office/drawing/2014/main" id="{AB6C9B40-7394-22AD-25B7-9B00AFF2188B}"/>
              </a:ext>
            </a:extLst>
          </p:cNvPr>
          <p:cNvPicPr>
            <a:picLocks noChangeAspect="1"/>
          </p:cNvPicPr>
          <p:nvPr/>
        </p:nvPicPr>
        <p:blipFill>
          <a:blip r:embed="rId4"/>
          <a:stretch>
            <a:fillRect/>
          </a:stretch>
        </p:blipFill>
        <p:spPr>
          <a:xfrm>
            <a:off x="7667771" y="2690622"/>
            <a:ext cx="374025" cy="374025"/>
          </a:xfrm>
          <a:prstGeom prst="rect">
            <a:avLst/>
          </a:prstGeom>
        </p:spPr>
      </p:pic>
      <p:pic>
        <p:nvPicPr>
          <p:cNvPr id="29" name="Picture 28">
            <a:extLst>
              <a:ext uri="{FF2B5EF4-FFF2-40B4-BE49-F238E27FC236}">
                <a16:creationId xmlns:a16="http://schemas.microsoft.com/office/drawing/2014/main" id="{D8FEE9E2-FAF3-70E6-C797-7745DF235E11}"/>
              </a:ext>
            </a:extLst>
          </p:cNvPr>
          <p:cNvPicPr>
            <a:picLocks noChangeAspect="1"/>
          </p:cNvPicPr>
          <p:nvPr/>
        </p:nvPicPr>
        <p:blipFill>
          <a:blip r:embed="rId5"/>
          <a:stretch>
            <a:fillRect/>
          </a:stretch>
        </p:blipFill>
        <p:spPr>
          <a:xfrm>
            <a:off x="6413608" y="954641"/>
            <a:ext cx="1656878" cy="1656878"/>
          </a:xfrm>
          <a:prstGeom prst="flowChartConnector">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Tools — Giving Agents Superpowers</a:t>
            </a:r>
            <a:endParaRPr lang="en-US" sz="2200" dirty="0"/>
          </a:p>
        </p:txBody>
      </p:sp>
      <p:sp>
        <p:nvSpPr>
          <p:cNvPr id="4" name="Shape 2"/>
          <p:cNvSpPr/>
          <p:nvPr/>
        </p:nvSpPr>
        <p:spPr>
          <a:xfrm>
            <a:off x="731520" y="1097280"/>
            <a:ext cx="365760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Text 3"/>
          <p:cNvSpPr/>
          <p:nvPr/>
        </p:nvSpPr>
        <p:spPr>
          <a:xfrm>
            <a:off x="914400" y="1188720"/>
            <a:ext cx="329184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What Are Tools?</a:t>
            </a:r>
            <a:endParaRPr lang="en-US" sz="1600" dirty="0"/>
          </a:p>
        </p:txBody>
      </p:sp>
      <p:sp>
        <p:nvSpPr>
          <p:cNvPr id="6" name="Text 4"/>
          <p:cNvSpPr/>
          <p:nvPr/>
        </p:nvSpPr>
        <p:spPr>
          <a:xfrm>
            <a:off x="914400" y="1600200"/>
            <a:ext cx="3291840" cy="8229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Tools are functions that agents can invoke to interact with the external world. They bridge the gap between language understanding and real-world action.</a:t>
            </a:r>
            <a:endParaRPr lang="en-US" sz="1200" dirty="0"/>
          </a:p>
        </p:txBody>
      </p:sp>
      <p:sp>
        <p:nvSpPr>
          <p:cNvPr id="7" name="Text 5"/>
          <p:cNvSpPr/>
          <p:nvPr/>
        </p:nvSpPr>
        <p:spPr>
          <a:xfrm>
            <a:off x="1005840" y="2514600"/>
            <a:ext cx="1188720" cy="274320"/>
          </a:xfrm>
          <a:prstGeom prst="rect">
            <a:avLst/>
          </a:prstGeom>
          <a:noFill/>
          <a:ln/>
        </p:spPr>
        <p:txBody>
          <a:bodyPr wrap="square" lIns="0" tIns="0" rIns="0" bIns="0" rtlCol="0" anchor="ctr"/>
          <a:lstStyle/>
          <a:p>
            <a:pPr marL="0" indent="0">
              <a:buNone/>
            </a:pPr>
            <a:r>
              <a:rPr lang="en-US" sz="1100" b="1" dirty="0">
                <a:solidFill>
                  <a:srgbClr val="0891B2"/>
                </a:solidFill>
                <a:latin typeface="Trebuchet MS" pitchFamily="34" charset="0"/>
                <a:ea typeface="Trebuchet MS" pitchFamily="34" charset="-122"/>
                <a:cs typeface="Trebuchet MS" pitchFamily="34" charset="-120"/>
              </a:rPr>
              <a:t>Web Search</a:t>
            </a:r>
            <a:endParaRPr lang="en-US" sz="1100" dirty="0"/>
          </a:p>
        </p:txBody>
      </p:sp>
      <p:sp>
        <p:nvSpPr>
          <p:cNvPr id="8" name="Text 6"/>
          <p:cNvSpPr/>
          <p:nvPr/>
        </p:nvSpPr>
        <p:spPr>
          <a:xfrm>
            <a:off x="2194560" y="2514600"/>
            <a:ext cx="2011680" cy="274320"/>
          </a:xfrm>
          <a:prstGeom prst="rect">
            <a:avLst/>
          </a:prstGeom>
          <a:noFill/>
          <a:ln/>
        </p:spPr>
        <p:txBody>
          <a:bodyPr wrap="square" lIns="0" tIns="0" rIns="0" bIns="0" rtlCol="0" anchor="ctr"/>
          <a:lstStyle/>
          <a:p>
            <a:pPr marL="0" indent="0">
              <a:buNone/>
            </a:pPr>
            <a:r>
              <a:rPr lang="en-US" sz="1000" dirty="0">
                <a:solidFill>
                  <a:srgbClr val="334155"/>
                </a:solidFill>
                <a:latin typeface="Consolas" pitchFamily="34" charset="0"/>
                <a:ea typeface="Consolas" pitchFamily="34" charset="-122"/>
                <a:cs typeface="Consolas" pitchFamily="34" charset="-120"/>
              </a:rPr>
              <a:t>search('latest Python release')</a:t>
            </a:r>
            <a:endParaRPr lang="en-US" sz="1000" dirty="0"/>
          </a:p>
        </p:txBody>
      </p:sp>
      <p:sp>
        <p:nvSpPr>
          <p:cNvPr id="9" name="Text 7"/>
          <p:cNvSpPr/>
          <p:nvPr/>
        </p:nvSpPr>
        <p:spPr>
          <a:xfrm>
            <a:off x="1005840" y="2971800"/>
            <a:ext cx="1188720" cy="274320"/>
          </a:xfrm>
          <a:prstGeom prst="rect">
            <a:avLst/>
          </a:prstGeom>
          <a:noFill/>
          <a:ln/>
        </p:spPr>
        <p:txBody>
          <a:bodyPr wrap="square" lIns="0" tIns="0" rIns="0" bIns="0" rtlCol="0" anchor="ctr"/>
          <a:lstStyle/>
          <a:p>
            <a:pPr marL="0" indent="0">
              <a:buNone/>
            </a:pPr>
            <a:r>
              <a:rPr lang="en-US" sz="1100" b="1" dirty="0">
                <a:solidFill>
                  <a:srgbClr val="0891B2"/>
                </a:solidFill>
                <a:latin typeface="Trebuchet MS" pitchFamily="34" charset="0"/>
                <a:ea typeface="Trebuchet MS" pitchFamily="34" charset="-122"/>
                <a:cs typeface="Trebuchet MS" pitchFamily="34" charset="-120"/>
              </a:rPr>
              <a:t>Calculator</a:t>
            </a:r>
            <a:endParaRPr lang="en-US" sz="1100" dirty="0"/>
          </a:p>
        </p:txBody>
      </p:sp>
      <p:sp>
        <p:nvSpPr>
          <p:cNvPr id="10" name="Text 8"/>
          <p:cNvSpPr/>
          <p:nvPr/>
        </p:nvSpPr>
        <p:spPr>
          <a:xfrm>
            <a:off x="2194560" y="2971800"/>
            <a:ext cx="2011680" cy="274320"/>
          </a:xfrm>
          <a:prstGeom prst="rect">
            <a:avLst/>
          </a:prstGeom>
          <a:noFill/>
          <a:ln/>
        </p:spPr>
        <p:txBody>
          <a:bodyPr wrap="square" lIns="0" tIns="0" rIns="0" bIns="0" rtlCol="0" anchor="ctr"/>
          <a:lstStyle/>
          <a:p>
            <a:pPr marL="0" indent="0">
              <a:buNone/>
            </a:pPr>
            <a:r>
              <a:rPr lang="en-US" sz="1000" dirty="0">
                <a:solidFill>
                  <a:srgbClr val="334155"/>
                </a:solidFill>
                <a:latin typeface="Consolas" pitchFamily="34" charset="0"/>
                <a:ea typeface="Consolas" pitchFamily="34" charset="-122"/>
                <a:cs typeface="Consolas" pitchFamily="34" charset="-120"/>
              </a:rPr>
              <a:t>calculate('15% of 2499')</a:t>
            </a:r>
            <a:endParaRPr lang="en-US" sz="1000" dirty="0"/>
          </a:p>
        </p:txBody>
      </p:sp>
      <p:sp>
        <p:nvSpPr>
          <p:cNvPr id="11" name="Text 9"/>
          <p:cNvSpPr/>
          <p:nvPr/>
        </p:nvSpPr>
        <p:spPr>
          <a:xfrm>
            <a:off x="1005840" y="3429000"/>
            <a:ext cx="1188720" cy="274320"/>
          </a:xfrm>
          <a:prstGeom prst="rect">
            <a:avLst/>
          </a:prstGeom>
          <a:noFill/>
          <a:ln/>
        </p:spPr>
        <p:txBody>
          <a:bodyPr wrap="square" lIns="0" tIns="0" rIns="0" bIns="0" rtlCol="0" anchor="ctr"/>
          <a:lstStyle/>
          <a:p>
            <a:pPr marL="0" indent="0">
              <a:buNone/>
            </a:pPr>
            <a:r>
              <a:rPr lang="en-US" sz="1100" b="1" dirty="0">
                <a:solidFill>
                  <a:srgbClr val="0891B2"/>
                </a:solidFill>
                <a:latin typeface="Trebuchet MS" pitchFamily="34" charset="0"/>
                <a:ea typeface="Trebuchet MS" pitchFamily="34" charset="-122"/>
                <a:cs typeface="Trebuchet MS" pitchFamily="34" charset="-120"/>
              </a:rPr>
              <a:t>Database</a:t>
            </a:r>
            <a:endParaRPr lang="en-US" sz="1100" dirty="0"/>
          </a:p>
        </p:txBody>
      </p:sp>
      <p:sp>
        <p:nvSpPr>
          <p:cNvPr id="12" name="Text 10"/>
          <p:cNvSpPr/>
          <p:nvPr/>
        </p:nvSpPr>
        <p:spPr>
          <a:xfrm>
            <a:off x="2194560" y="3429000"/>
            <a:ext cx="2011680" cy="274320"/>
          </a:xfrm>
          <a:prstGeom prst="rect">
            <a:avLst/>
          </a:prstGeom>
          <a:noFill/>
          <a:ln/>
        </p:spPr>
        <p:txBody>
          <a:bodyPr wrap="square" lIns="0" tIns="0" rIns="0" bIns="0" rtlCol="0" anchor="ctr"/>
          <a:lstStyle/>
          <a:p>
            <a:pPr marL="0" indent="0">
              <a:buNone/>
            </a:pPr>
            <a:r>
              <a:rPr lang="en-US" sz="1000" dirty="0">
                <a:solidFill>
                  <a:srgbClr val="334155"/>
                </a:solidFill>
                <a:latin typeface="Consolas" pitchFamily="34" charset="0"/>
                <a:ea typeface="Consolas" pitchFamily="34" charset="-122"/>
                <a:cs typeface="Consolas" pitchFamily="34" charset="-120"/>
              </a:rPr>
              <a:t>query_db('SELECT * FROM users')</a:t>
            </a:r>
            <a:endParaRPr lang="en-US" sz="1000" dirty="0"/>
          </a:p>
        </p:txBody>
      </p:sp>
      <p:sp>
        <p:nvSpPr>
          <p:cNvPr id="13" name="Text 11"/>
          <p:cNvSpPr/>
          <p:nvPr/>
        </p:nvSpPr>
        <p:spPr>
          <a:xfrm>
            <a:off x="1005840" y="3886200"/>
            <a:ext cx="1188720" cy="274320"/>
          </a:xfrm>
          <a:prstGeom prst="rect">
            <a:avLst/>
          </a:prstGeom>
          <a:noFill/>
          <a:ln/>
        </p:spPr>
        <p:txBody>
          <a:bodyPr wrap="square" lIns="0" tIns="0" rIns="0" bIns="0" rtlCol="0" anchor="ctr"/>
          <a:lstStyle/>
          <a:p>
            <a:pPr marL="0" indent="0">
              <a:buNone/>
            </a:pPr>
            <a:r>
              <a:rPr lang="en-US" sz="1100" b="1" dirty="0">
                <a:solidFill>
                  <a:srgbClr val="0891B2"/>
                </a:solidFill>
                <a:latin typeface="Trebuchet MS" pitchFamily="34" charset="0"/>
                <a:ea typeface="Trebuchet MS" pitchFamily="34" charset="-122"/>
                <a:cs typeface="Trebuchet MS" pitchFamily="34" charset="-120"/>
              </a:rPr>
              <a:t>API Call</a:t>
            </a:r>
            <a:endParaRPr lang="en-US" sz="1100" dirty="0"/>
          </a:p>
        </p:txBody>
      </p:sp>
      <p:sp>
        <p:nvSpPr>
          <p:cNvPr id="14" name="Text 12"/>
          <p:cNvSpPr/>
          <p:nvPr/>
        </p:nvSpPr>
        <p:spPr>
          <a:xfrm>
            <a:off x="2194560" y="3886200"/>
            <a:ext cx="2011680" cy="274320"/>
          </a:xfrm>
          <a:prstGeom prst="rect">
            <a:avLst/>
          </a:prstGeom>
          <a:noFill/>
          <a:ln/>
        </p:spPr>
        <p:txBody>
          <a:bodyPr wrap="square" lIns="0" tIns="0" rIns="0" bIns="0" rtlCol="0" anchor="ctr"/>
          <a:lstStyle/>
          <a:p>
            <a:pPr marL="0" indent="0">
              <a:buNone/>
            </a:pPr>
            <a:r>
              <a:rPr lang="en-US" sz="1000" dirty="0">
                <a:solidFill>
                  <a:srgbClr val="334155"/>
                </a:solidFill>
                <a:latin typeface="Consolas" pitchFamily="34" charset="0"/>
                <a:ea typeface="Consolas" pitchFamily="34" charset="-122"/>
                <a:cs typeface="Consolas" pitchFamily="34" charset="-120"/>
              </a:rPr>
              <a:t>send_email(to='bob@...')</a:t>
            </a:r>
            <a:endParaRPr lang="en-US" sz="1000" dirty="0"/>
          </a:p>
        </p:txBody>
      </p:sp>
      <p:sp>
        <p:nvSpPr>
          <p:cNvPr id="15" name="Shape 13"/>
          <p:cNvSpPr/>
          <p:nvPr/>
        </p:nvSpPr>
        <p:spPr>
          <a:xfrm>
            <a:off x="4754880" y="1097280"/>
            <a:ext cx="384048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6" name="Text 14"/>
          <p:cNvSpPr/>
          <p:nvPr/>
        </p:nvSpPr>
        <p:spPr>
          <a:xfrm>
            <a:off x="4937760" y="1188720"/>
            <a:ext cx="347472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Tool Calling Flow</a:t>
            </a:r>
            <a:endParaRPr lang="en-US" sz="1600" dirty="0"/>
          </a:p>
        </p:txBody>
      </p:sp>
      <p:sp>
        <p:nvSpPr>
          <p:cNvPr id="17" name="Text 15"/>
          <p:cNvSpPr/>
          <p:nvPr/>
        </p:nvSpPr>
        <p:spPr>
          <a:xfrm>
            <a:off x="5029200" y="1691640"/>
            <a:ext cx="329184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1. LLM receives user query</a:t>
            </a:r>
            <a:endParaRPr lang="en-US" sz="1200" dirty="0"/>
          </a:p>
        </p:txBody>
      </p:sp>
      <p:sp>
        <p:nvSpPr>
          <p:cNvPr id="18" name="Text 16"/>
          <p:cNvSpPr/>
          <p:nvPr/>
        </p:nvSpPr>
        <p:spPr>
          <a:xfrm>
            <a:off x="5029200" y="2194560"/>
            <a:ext cx="329184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2. LLM decides which tool to use</a:t>
            </a:r>
            <a:endParaRPr lang="en-US" sz="1200" dirty="0"/>
          </a:p>
        </p:txBody>
      </p:sp>
      <p:sp>
        <p:nvSpPr>
          <p:cNvPr id="19" name="Text 17"/>
          <p:cNvSpPr/>
          <p:nvPr/>
        </p:nvSpPr>
        <p:spPr>
          <a:xfrm>
            <a:off x="5029200" y="2697480"/>
            <a:ext cx="329184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3. LLM generates tool input (JSON)</a:t>
            </a:r>
            <a:endParaRPr lang="en-US" sz="1200" dirty="0"/>
          </a:p>
        </p:txBody>
      </p:sp>
      <p:sp>
        <p:nvSpPr>
          <p:cNvPr id="20" name="Text 18"/>
          <p:cNvSpPr/>
          <p:nvPr/>
        </p:nvSpPr>
        <p:spPr>
          <a:xfrm>
            <a:off x="5029200" y="3200400"/>
            <a:ext cx="329184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4. Tool executes and returns result</a:t>
            </a:r>
            <a:endParaRPr lang="en-US" sz="1200" dirty="0"/>
          </a:p>
        </p:txBody>
      </p:sp>
      <p:sp>
        <p:nvSpPr>
          <p:cNvPr id="21" name="Text 19"/>
          <p:cNvSpPr/>
          <p:nvPr/>
        </p:nvSpPr>
        <p:spPr>
          <a:xfrm>
            <a:off x="5029200" y="3703320"/>
            <a:ext cx="329184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5. LLM interprets result for user</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Memory — Giving Agents Context</a:t>
            </a:r>
            <a:endParaRPr lang="en-US" sz="2200" dirty="0"/>
          </a:p>
        </p:txBody>
      </p:sp>
      <p:sp>
        <p:nvSpPr>
          <p:cNvPr id="4" name="Shape 2"/>
          <p:cNvSpPr/>
          <p:nvPr/>
        </p:nvSpPr>
        <p:spPr>
          <a:xfrm>
            <a:off x="548640" y="1097280"/>
            <a:ext cx="260604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1417320" y="1280160"/>
            <a:ext cx="640080" cy="640080"/>
          </a:xfrm>
          <a:prstGeom prst="ellipse">
            <a:avLst/>
          </a:prstGeom>
          <a:solidFill>
            <a:srgbClr val="0891B2"/>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1558138" y="1420978"/>
            <a:ext cx="358445" cy="358445"/>
          </a:xfrm>
          <a:prstGeom prst="rect">
            <a:avLst/>
          </a:prstGeom>
        </p:spPr>
      </p:pic>
      <p:sp>
        <p:nvSpPr>
          <p:cNvPr id="7" name="Text 4"/>
          <p:cNvSpPr/>
          <p:nvPr/>
        </p:nvSpPr>
        <p:spPr>
          <a:xfrm>
            <a:off x="548640" y="2103120"/>
            <a:ext cx="2606040" cy="36576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Short-Term Memory</a:t>
            </a:r>
            <a:endParaRPr lang="en-US" sz="1400" dirty="0"/>
          </a:p>
        </p:txBody>
      </p:sp>
      <p:sp>
        <p:nvSpPr>
          <p:cNvPr id="8" name="Text 5"/>
          <p:cNvSpPr/>
          <p:nvPr/>
        </p:nvSpPr>
        <p:spPr>
          <a:xfrm>
            <a:off x="685800" y="2514600"/>
            <a:ext cx="2331720" cy="9144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Conversation buffer that holds recent exchanges. Limited by context window size.</a:t>
            </a:r>
            <a:endParaRPr lang="en-US" sz="1100" dirty="0"/>
          </a:p>
        </p:txBody>
      </p:sp>
      <p:sp>
        <p:nvSpPr>
          <p:cNvPr id="9" name="Shape 6"/>
          <p:cNvSpPr/>
          <p:nvPr/>
        </p:nvSpPr>
        <p:spPr>
          <a:xfrm>
            <a:off x="685800" y="3520440"/>
            <a:ext cx="2331720" cy="502920"/>
          </a:xfrm>
          <a:prstGeom prst="rect">
            <a:avLst/>
          </a:prstGeom>
          <a:solidFill>
            <a:srgbClr val="0F172A"/>
          </a:solidFill>
          <a:ln/>
        </p:spPr>
        <p:txBody>
          <a:bodyPr/>
          <a:lstStyle/>
          <a:p>
            <a:endParaRPr lang="en-US" dirty="0"/>
          </a:p>
        </p:txBody>
      </p:sp>
      <p:sp>
        <p:nvSpPr>
          <p:cNvPr id="10" name="Text 7"/>
          <p:cNvSpPr/>
          <p:nvPr/>
        </p:nvSpPr>
        <p:spPr>
          <a:xfrm>
            <a:off x="777240" y="3566160"/>
            <a:ext cx="2148840" cy="411480"/>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ConversationBufferMemory</a:t>
            </a:r>
            <a:endParaRPr lang="en-US" sz="900" dirty="0"/>
          </a:p>
        </p:txBody>
      </p:sp>
      <p:sp>
        <p:nvSpPr>
          <p:cNvPr id="11" name="Shape 8"/>
          <p:cNvSpPr/>
          <p:nvPr/>
        </p:nvSpPr>
        <p:spPr>
          <a:xfrm>
            <a:off x="3383280" y="1097280"/>
            <a:ext cx="260604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2" name="Shape 9"/>
          <p:cNvSpPr/>
          <p:nvPr/>
        </p:nvSpPr>
        <p:spPr>
          <a:xfrm>
            <a:off x="4251960" y="1280160"/>
            <a:ext cx="640080" cy="640080"/>
          </a:xfrm>
          <a:prstGeom prst="ellipse">
            <a:avLst/>
          </a:prstGeom>
          <a:solidFill>
            <a:srgbClr val="F59E0B"/>
          </a:solidFill>
          <a:ln/>
        </p:spPr>
        <p:txBody>
          <a:bodyPr/>
          <a:lstStyle/>
          <a:p>
            <a:endParaRPr lang="en-US" dirty="0"/>
          </a:p>
        </p:txBody>
      </p:sp>
      <p:pic>
        <p:nvPicPr>
          <p:cNvPr id="13" name="Image 1" descr="preencoded.png"/>
          <p:cNvPicPr>
            <a:picLocks noChangeAspect="1"/>
          </p:cNvPicPr>
          <p:nvPr/>
        </p:nvPicPr>
        <p:blipFill>
          <a:blip r:embed="rId4"/>
          <a:stretch>
            <a:fillRect/>
          </a:stretch>
        </p:blipFill>
        <p:spPr>
          <a:xfrm>
            <a:off x="4392778" y="1420978"/>
            <a:ext cx="358445" cy="358445"/>
          </a:xfrm>
          <a:prstGeom prst="rect">
            <a:avLst/>
          </a:prstGeom>
        </p:spPr>
      </p:pic>
      <p:sp>
        <p:nvSpPr>
          <p:cNvPr id="14" name="Text 10"/>
          <p:cNvSpPr/>
          <p:nvPr/>
        </p:nvSpPr>
        <p:spPr>
          <a:xfrm>
            <a:off x="3383280" y="2103120"/>
            <a:ext cx="2606040" cy="36576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Long-Term Memory</a:t>
            </a:r>
            <a:endParaRPr lang="en-US" sz="1400" dirty="0"/>
          </a:p>
        </p:txBody>
      </p:sp>
      <p:sp>
        <p:nvSpPr>
          <p:cNvPr id="15" name="Text 11"/>
          <p:cNvSpPr/>
          <p:nvPr/>
        </p:nvSpPr>
        <p:spPr>
          <a:xfrm>
            <a:off x="3520440" y="2514600"/>
            <a:ext cx="2331720" cy="9144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Vector store that persists knowledge across sessions using embeddings.</a:t>
            </a:r>
            <a:endParaRPr lang="en-US" sz="1100" dirty="0"/>
          </a:p>
        </p:txBody>
      </p:sp>
      <p:sp>
        <p:nvSpPr>
          <p:cNvPr id="16" name="Shape 12"/>
          <p:cNvSpPr/>
          <p:nvPr/>
        </p:nvSpPr>
        <p:spPr>
          <a:xfrm>
            <a:off x="3520440" y="3520440"/>
            <a:ext cx="2331720" cy="502920"/>
          </a:xfrm>
          <a:prstGeom prst="rect">
            <a:avLst/>
          </a:prstGeom>
          <a:solidFill>
            <a:srgbClr val="0F172A"/>
          </a:solidFill>
          <a:ln/>
        </p:spPr>
        <p:txBody>
          <a:bodyPr/>
          <a:lstStyle/>
          <a:p>
            <a:endParaRPr lang="en-US" dirty="0"/>
          </a:p>
        </p:txBody>
      </p:sp>
      <p:sp>
        <p:nvSpPr>
          <p:cNvPr id="17" name="Text 13"/>
          <p:cNvSpPr/>
          <p:nvPr/>
        </p:nvSpPr>
        <p:spPr>
          <a:xfrm>
            <a:off x="3611880" y="3566160"/>
            <a:ext cx="2148840" cy="411480"/>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VectorStoreRetrieverMemory</a:t>
            </a:r>
            <a:endParaRPr lang="en-US" sz="900" dirty="0"/>
          </a:p>
        </p:txBody>
      </p:sp>
      <p:sp>
        <p:nvSpPr>
          <p:cNvPr id="18" name="Shape 14"/>
          <p:cNvSpPr/>
          <p:nvPr/>
        </p:nvSpPr>
        <p:spPr>
          <a:xfrm>
            <a:off x="6217920" y="1097280"/>
            <a:ext cx="260604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9" name="Shape 15"/>
          <p:cNvSpPr/>
          <p:nvPr/>
        </p:nvSpPr>
        <p:spPr>
          <a:xfrm>
            <a:off x="7086600" y="1280160"/>
            <a:ext cx="640080" cy="640080"/>
          </a:xfrm>
          <a:prstGeom prst="ellipse">
            <a:avLst/>
          </a:prstGeom>
          <a:solidFill>
            <a:srgbClr val="8B5CF6"/>
          </a:solidFill>
          <a:ln/>
        </p:spPr>
        <p:txBody>
          <a:bodyPr/>
          <a:lstStyle/>
          <a:p>
            <a:endParaRPr lang="en-US" dirty="0"/>
          </a:p>
        </p:txBody>
      </p:sp>
      <p:pic>
        <p:nvPicPr>
          <p:cNvPr id="20" name="Image 2" descr="preencoded.png"/>
          <p:cNvPicPr>
            <a:picLocks noChangeAspect="1"/>
          </p:cNvPicPr>
          <p:nvPr/>
        </p:nvPicPr>
        <p:blipFill>
          <a:blip r:embed="rId5"/>
          <a:stretch>
            <a:fillRect/>
          </a:stretch>
        </p:blipFill>
        <p:spPr>
          <a:xfrm>
            <a:off x="7227418" y="1420978"/>
            <a:ext cx="358445" cy="358445"/>
          </a:xfrm>
          <a:prstGeom prst="rect">
            <a:avLst/>
          </a:prstGeom>
        </p:spPr>
      </p:pic>
      <p:sp>
        <p:nvSpPr>
          <p:cNvPr id="21" name="Text 16"/>
          <p:cNvSpPr/>
          <p:nvPr/>
        </p:nvSpPr>
        <p:spPr>
          <a:xfrm>
            <a:off x="6217920" y="2103120"/>
            <a:ext cx="2606040" cy="36576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Episodic Memory</a:t>
            </a:r>
            <a:endParaRPr lang="en-US" sz="1400" dirty="0"/>
          </a:p>
        </p:txBody>
      </p:sp>
      <p:sp>
        <p:nvSpPr>
          <p:cNvPr id="22" name="Text 17"/>
          <p:cNvSpPr/>
          <p:nvPr/>
        </p:nvSpPr>
        <p:spPr>
          <a:xfrm>
            <a:off x="6355080" y="2514600"/>
            <a:ext cx="2331720" cy="91440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Records of past agent runs, successful strategies, and learned patterns.</a:t>
            </a:r>
            <a:endParaRPr lang="en-US" sz="1100" dirty="0"/>
          </a:p>
        </p:txBody>
      </p:sp>
      <p:sp>
        <p:nvSpPr>
          <p:cNvPr id="23" name="Shape 18"/>
          <p:cNvSpPr/>
          <p:nvPr/>
        </p:nvSpPr>
        <p:spPr>
          <a:xfrm>
            <a:off x="6355080" y="3520440"/>
            <a:ext cx="2331720" cy="502920"/>
          </a:xfrm>
          <a:prstGeom prst="rect">
            <a:avLst/>
          </a:prstGeom>
          <a:solidFill>
            <a:srgbClr val="0F172A"/>
          </a:solidFill>
          <a:ln/>
        </p:spPr>
        <p:txBody>
          <a:bodyPr/>
          <a:lstStyle/>
          <a:p>
            <a:endParaRPr lang="en-US" dirty="0"/>
          </a:p>
        </p:txBody>
      </p:sp>
      <p:sp>
        <p:nvSpPr>
          <p:cNvPr id="24" name="Text 19"/>
          <p:cNvSpPr/>
          <p:nvPr/>
        </p:nvSpPr>
        <p:spPr>
          <a:xfrm>
            <a:off x="6446520" y="3566160"/>
            <a:ext cx="2148840" cy="411480"/>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Entity Memory</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a:extLst>
            <a:ext uri="{FF2B5EF4-FFF2-40B4-BE49-F238E27FC236}">
              <a16:creationId xmlns:a16="http://schemas.microsoft.com/office/drawing/2014/main" id="{9F168368-DB35-46CF-6EAC-9BC13FCCA6E2}"/>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47EEEE14-4CF6-4F20-F432-FB103B96E6ED}"/>
              </a:ext>
            </a:extLst>
          </p:cNvPr>
          <p:cNvSpPr/>
          <p:nvPr/>
        </p:nvSpPr>
        <p:spPr>
          <a:xfrm>
            <a:off x="0" y="0"/>
            <a:ext cx="9144000" cy="54864"/>
          </a:xfrm>
          <a:prstGeom prst="rect">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 name="Text 1">
            <a:extLst>
              <a:ext uri="{FF2B5EF4-FFF2-40B4-BE49-F238E27FC236}">
                <a16:creationId xmlns:a16="http://schemas.microsoft.com/office/drawing/2014/main" id="{FDF7F661-6E09-EBFA-D2B2-2A198AACBD4C}"/>
              </a:ext>
            </a:extLst>
          </p:cNvPr>
          <p:cNvSpPr/>
          <p:nvPr/>
        </p:nvSpPr>
        <p:spPr>
          <a:xfrm>
            <a:off x="731520" y="1371600"/>
            <a:ext cx="7680960" cy="10972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Foundations &amp; Concepts</a:t>
            </a:r>
            <a:endParaRPr kumimoji="0" lang="en-US" sz="4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2">
            <a:extLst>
              <a:ext uri="{FF2B5EF4-FFF2-40B4-BE49-F238E27FC236}">
                <a16:creationId xmlns:a16="http://schemas.microsoft.com/office/drawing/2014/main" id="{71E622C8-74B0-C7B8-DCE7-37F36D7EEC26}"/>
              </a:ext>
            </a:extLst>
          </p:cNvPr>
          <p:cNvSpPr/>
          <p:nvPr/>
        </p:nvSpPr>
        <p:spPr>
          <a:xfrm>
            <a:off x="731520" y="2560320"/>
            <a:ext cx="768096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Understanding AI Agents, Agentic AI &amp; How They Work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3">
            <a:extLst>
              <a:ext uri="{FF2B5EF4-FFF2-40B4-BE49-F238E27FC236}">
                <a16:creationId xmlns:a16="http://schemas.microsoft.com/office/drawing/2014/main" id="{8368B2DA-8696-CE4F-496E-FCD372ADF6D2}"/>
              </a:ext>
            </a:extLst>
          </p:cNvPr>
          <p:cNvSpPr/>
          <p:nvPr/>
        </p:nvSpPr>
        <p:spPr>
          <a:xfrm>
            <a:off x="7671892" y="330997"/>
            <a:ext cx="1097280" cy="1097280"/>
          </a:xfrm>
          <a:prstGeom prst="ellipse">
            <a:avLst/>
          </a:prstGeom>
          <a:solidFill>
            <a:srgbClr val="0891B2"/>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 name="Image 0" descr="preencoded.png">
            <a:extLst>
              <a:ext uri="{FF2B5EF4-FFF2-40B4-BE49-F238E27FC236}">
                <a16:creationId xmlns:a16="http://schemas.microsoft.com/office/drawing/2014/main" id="{3069889B-8025-0618-BAEF-5CB3C985BF5D}"/>
              </a:ext>
            </a:extLst>
          </p:cNvPr>
          <p:cNvPicPr>
            <a:picLocks noChangeAspect="1"/>
          </p:cNvPicPr>
          <p:nvPr/>
        </p:nvPicPr>
        <p:blipFill>
          <a:blip r:embed="rId3"/>
          <a:stretch>
            <a:fillRect/>
          </a:stretch>
        </p:blipFill>
        <p:spPr>
          <a:xfrm>
            <a:off x="7913293" y="544060"/>
            <a:ext cx="614477" cy="614477"/>
          </a:xfrm>
          <a:prstGeom prst="rect">
            <a:avLst/>
          </a:prstGeom>
        </p:spPr>
      </p:pic>
      <p:sp>
        <p:nvSpPr>
          <p:cNvPr id="7" name="Text 4">
            <a:extLst>
              <a:ext uri="{FF2B5EF4-FFF2-40B4-BE49-F238E27FC236}">
                <a16:creationId xmlns:a16="http://schemas.microsoft.com/office/drawing/2014/main" id="{4FE25CBF-632F-BF15-6C1D-B85C72FCFC98}"/>
              </a:ext>
            </a:extLst>
          </p:cNvPr>
          <p:cNvSpPr/>
          <p:nvPr/>
        </p:nvSpPr>
        <p:spPr>
          <a:xfrm>
            <a:off x="7671892" y="1106371"/>
            <a:ext cx="10972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94A3B8"/>
                </a:solidFill>
                <a:latin typeface="Calibri" pitchFamily="34" charset="0"/>
                <a:ea typeface="Calibri" pitchFamily="34" charset="-122"/>
                <a:cs typeface="Calibri" pitchFamily="34" charset="-120"/>
              </a:rPr>
              <a:t>3</a:t>
            </a:r>
            <a:r>
              <a:rPr kumimoji="0" lang="en-US" sz="1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0 min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62364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Core Components of an AI Agent</a:t>
            </a:r>
            <a:endParaRPr lang="en-US" sz="2200" dirty="0"/>
          </a:p>
        </p:txBody>
      </p:sp>
      <p:sp>
        <p:nvSpPr>
          <p:cNvPr id="4" name="Shape 2"/>
          <p:cNvSpPr/>
          <p:nvPr/>
        </p:nvSpPr>
        <p:spPr>
          <a:xfrm>
            <a:off x="731520" y="1097280"/>
            <a:ext cx="365760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960120" y="1325880"/>
            <a:ext cx="594360" cy="594360"/>
          </a:xfrm>
          <a:prstGeom prst="ellipse">
            <a:avLst/>
          </a:prstGeom>
          <a:solidFill>
            <a:srgbClr val="0891B2"/>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1090879" y="1456639"/>
            <a:ext cx="332842" cy="332842"/>
          </a:xfrm>
          <a:prstGeom prst="rect">
            <a:avLst/>
          </a:prstGeom>
        </p:spPr>
      </p:pic>
      <p:sp>
        <p:nvSpPr>
          <p:cNvPr id="7" name="Text 4"/>
          <p:cNvSpPr/>
          <p:nvPr/>
        </p:nvSpPr>
        <p:spPr>
          <a:xfrm>
            <a:off x="1737360" y="1280160"/>
            <a:ext cx="237744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LLM Brain</a:t>
            </a:r>
            <a:endParaRPr lang="en-US" sz="1600" dirty="0"/>
          </a:p>
        </p:txBody>
      </p:sp>
      <p:sp>
        <p:nvSpPr>
          <p:cNvPr id="8" name="Text 5"/>
          <p:cNvSpPr/>
          <p:nvPr/>
        </p:nvSpPr>
        <p:spPr>
          <a:xfrm>
            <a:off x="1737360" y="1691640"/>
            <a:ext cx="2468880" cy="8229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The reasoning engine that interprets inputs, plans steps, and generates outputs</a:t>
            </a:r>
            <a:endParaRPr lang="en-US" sz="1200" dirty="0"/>
          </a:p>
        </p:txBody>
      </p:sp>
      <p:sp>
        <p:nvSpPr>
          <p:cNvPr id="9" name="Shape 6"/>
          <p:cNvSpPr/>
          <p:nvPr/>
        </p:nvSpPr>
        <p:spPr>
          <a:xfrm>
            <a:off x="4754880" y="1097280"/>
            <a:ext cx="365760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0" name="Shape 7"/>
          <p:cNvSpPr/>
          <p:nvPr/>
        </p:nvSpPr>
        <p:spPr>
          <a:xfrm>
            <a:off x="4983480" y="1325880"/>
            <a:ext cx="594360" cy="594360"/>
          </a:xfrm>
          <a:prstGeom prst="ellipse">
            <a:avLst/>
          </a:prstGeom>
          <a:solidFill>
            <a:srgbClr val="F59E0B"/>
          </a:solidFill>
          <a:ln/>
        </p:spPr>
        <p:txBody>
          <a:bodyPr/>
          <a:lstStyle/>
          <a:p>
            <a:endParaRPr lang="en-US" dirty="0"/>
          </a:p>
        </p:txBody>
      </p:sp>
      <p:pic>
        <p:nvPicPr>
          <p:cNvPr id="11" name="Image 1" descr="preencoded.png"/>
          <p:cNvPicPr>
            <a:picLocks noChangeAspect="1"/>
          </p:cNvPicPr>
          <p:nvPr/>
        </p:nvPicPr>
        <p:blipFill>
          <a:blip r:embed="rId4"/>
          <a:stretch>
            <a:fillRect/>
          </a:stretch>
        </p:blipFill>
        <p:spPr>
          <a:xfrm>
            <a:off x="5114239" y="1456639"/>
            <a:ext cx="332842" cy="332842"/>
          </a:xfrm>
          <a:prstGeom prst="rect">
            <a:avLst/>
          </a:prstGeom>
        </p:spPr>
      </p:pic>
      <p:sp>
        <p:nvSpPr>
          <p:cNvPr id="12" name="Text 8"/>
          <p:cNvSpPr/>
          <p:nvPr/>
        </p:nvSpPr>
        <p:spPr>
          <a:xfrm>
            <a:off x="5760720" y="1280160"/>
            <a:ext cx="237744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Tools</a:t>
            </a:r>
            <a:endParaRPr lang="en-US" sz="1600" dirty="0"/>
          </a:p>
        </p:txBody>
      </p:sp>
      <p:sp>
        <p:nvSpPr>
          <p:cNvPr id="13" name="Text 9"/>
          <p:cNvSpPr/>
          <p:nvPr/>
        </p:nvSpPr>
        <p:spPr>
          <a:xfrm>
            <a:off x="5760720" y="1691640"/>
            <a:ext cx="2468880" cy="8229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APIs, databases, calculators, web search — actions the agent can perform</a:t>
            </a:r>
            <a:endParaRPr lang="en-US" sz="1200" dirty="0"/>
          </a:p>
        </p:txBody>
      </p:sp>
      <p:sp>
        <p:nvSpPr>
          <p:cNvPr id="14" name="Shape 10"/>
          <p:cNvSpPr/>
          <p:nvPr/>
        </p:nvSpPr>
        <p:spPr>
          <a:xfrm>
            <a:off x="731520" y="2971800"/>
            <a:ext cx="365760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5" name="Shape 11"/>
          <p:cNvSpPr/>
          <p:nvPr/>
        </p:nvSpPr>
        <p:spPr>
          <a:xfrm>
            <a:off x="960120" y="3200400"/>
            <a:ext cx="594360" cy="594360"/>
          </a:xfrm>
          <a:prstGeom prst="ellipse">
            <a:avLst/>
          </a:prstGeom>
          <a:solidFill>
            <a:srgbClr val="8B5CF6"/>
          </a:solidFill>
          <a:ln/>
        </p:spPr>
        <p:txBody>
          <a:bodyPr/>
          <a:lstStyle/>
          <a:p>
            <a:endParaRPr lang="en-US" dirty="0"/>
          </a:p>
        </p:txBody>
      </p:sp>
      <p:pic>
        <p:nvPicPr>
          <p:cNvPr id="16" name="Image 2" descr="preencoded.png"/>
          <p:cNvPicPr>
            <a:picLocks noChangeAspect="1"/>
          </p:cNvPicPr>
          <p:nvPr/>
        </p:nvPicPr>
        <p:blipFill>
          <a:blip r:embed="rId5"/>
          <a:stretch>
            <a:fillRect/>
          </a:stretch>
        </p:blipFill>
        <p:spPr>
          <a:xfrm>
            <a:off x="1090879" y="3331159"/>
            <a:ext cx="332842" cy="332842"/>
          </a:xfrm>
          <a:prstGeom prst="rect">
            <a:avLst/>
          </a:prstGeom>
        </p:spPr>
      </p:pic>
      <p:sp>
        <p:nvSpPr>
          <p:cNvPr id="17" name="Text 12"/>
          <p:cNvSpPr/>
          <p:nvPr/>
        </p:nvSpPr>
        <p:spPr>
          <a:xfrm>
            <a:off x="1737360" y="3154680"/>
            <a:ext cx="237744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Memory</a:t>
            </a:r>
            <a:endParaRPr lang="en-US" sz="1600" dirty="0"/>
          </a:p>
        </p:txBody>
      </p:sp>
      <p:sp>
        <p:nvSpPr>
          <p:cNvPr id="18" name="Text 13"/>
          <p:cNvSpPr/>
          <p:nvPr/>
        </p:nvSpPr>
        <p:spPr>
          <a:xfrm>
            <a:off x="1737360" y="3566160"/>
            <a:ext cx="2468880" cy="8229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Short-term (conversation) and long-term (vector store) context retention</a:t>
            </a:r>
            <a:endParaRPr lang="en-US" sz="1200" dirty="0"/>
          </a:p>
        </p:txBody>
      </p:sp>
      <p:sp>
        <p:nvSpPr>
          <p:cNvPr id="19" name="Shape 14"/>
          <p:cNvSpPr/>
          <p:nvPr/>
        </p:nvSpPr>
        <p:spPr>
          <a:xfrm>
            <a:off x="4754880" y="2971800"/>
            <a:ext cx="365760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0" name="Shape 15"/>
          <p:cNvSpPr/>
          <p:nvPr/>
        </p:nvSpPr>
        <p:spPr>
          <a:xfrm>
            <a:off x="4983480" y="3200400"/>
            <a:ext cx="594360" cy="594360"/>
          </a:xfrm>
          <a:prstGeom prst="ellipse">
            <a:avLst/>
          </a:prstGeom>
          <a:solidFill>
            <a:srgbClr val="10B981"/>
          </a:solidFill>
          <a:ln/>
        </p:spPr>
        <p:txBody>
          <a:bodyPr/>
          <a:lstStyle/>
          <a:p>
            <a:endParaRPr lang="en-US" dirty="0"/>
          </a:p>
        </p:txBody>
      </p:sp>
      <p:pic>
        <p:nvPicPr>
          <p:cNvPr id="21" name="Image 3" descr="preencoded.png"/>
          <p:cNvPicPr>
            <a:picLocks noChangeAspect="1"/>
          </p:cNvPicPr>
          <p:nvPr/>
        </p:nvPicPr>
        <p:blipFill>
          <a:blip r:embed="rId6"/>
          <a:stretch>
            <a:fillRect/>
          </a:stretch>
        </p:blipFill>
        <p:spPr>
          <a:xfrm>
            <a:off x="5114239" y="3331159"/>
            <a:ext cx="332842" cy="332842"/>
          </a:xfrm>
          <a:prstGeom prst="rect">
            <a:avLst/>
          </a:prstGeom>
        </p:spPr>
      </p:pic>
      <p:sp>
        <p:nvSpPr>
          <p:cNvPr id="22" name="Text 16"/>
          <p:cNvSpPr/>
          <p:nvPr/>
        </p:nvSpPr>
        <p:spPr>
          <a:xfrm>
            <a:off x="5760720" y="3154680"/>
            <a:ext cx="237744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Planning</a:t>
            </a:r>
            <a:endParaRPr lang="en-US" sz="1600" dirty="0"/>
          </a:p>
        </p:txBody>
      </p:sp>
      <p:sp>
        <p:nvSpPr>
          <p:cNvPr id="23" name="Text 17"/>
          <p:cNvSpPr/>
          <p:nvPr/>
        </p:nvSpPr>
        <p:spPr>
          <a:xfrm>
            <a:off x="5760720" y="3566160"/>
            <a:ext cx="2468880" cy="82296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Breaking complex goals into sub-tasks and determining execution order</a:t>
            </a:r>
            <a:endParaRPr lang="en-US" sz="12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fade">
                                      <p:cBhvr>
                                        <p:cTn id="39" dur="1000"/>
                                        <p:tgtEl>
                                          <p:spTgt spid="10"/>
                                        </p:tgtEl>
                                      </p:cBhvr>
                                    </p:animEffect>
                                    <p:anim calcmode="lin" valueType="num">
                                      <p:cBhvr>
                                        <p:cTn id="40" dur="1000" fill="hold"/>
                                        <p:tgtEl>
                                          <p:spTgt spid="10"/>
                                        </p:tgtEl>
                                        <p:attrNameLst>
                                          <p:attrName>ppt_x</p:attrName>
                                        </p:attrNameLst>
                                      </p:cBhvr>
                                      <p:tavLst>
                                        <p:tav tm="0">
                                          <p:val>
                                            <p:strVal val="#ppt_x"/>
                                          </p:val>
                                        </p:tav>
                                        <p:tav tm="100000">
                                          <p:val>
                                            <p:strVal val="#ppt_x"/>
                                          </p:val>
                                        </p:tav>
                                      </p:tavLst>
                                    </p:anim>
                                    <p:anim calcmode="lin" valueType="num">
                                      <p:cBhvr>
                                        <p:cTn id="41" dur="1000" fill="hold"/>
                                        <p:tgtEl>
                                          <p:spTgt spid="10"/>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1"/>
                                        </p:tgtEl>
                                        <p:attrNameLst>
                                          <p:attrName>style.visibility</p:attrName>
                                        </p:attrNameLst>
                                      </p:cBhvr>
                                      <p:to>
                                        <p:strVal val="visible"/>
                                      </p:to>
                                    </p:set>
                                    <p:animEffect transition="in" filter="fade">
                                      <p:cBhvr>
                                        <p:cTn id="44" dur="1000"/>
                                        <p:tgtEl>
                                          <p:spTgt spid="11"/>
                                        </p:tgtEl>
                                      </p:cBhvr>
                                    </p:animEffect>
                                    <p:anim calcmode="lin" valueType="num">
                                      <p:cBhvr>
                                        <p:cTn id="45" dur="1000" fill="hold"/>
                                        <p:tgtEl>
                                          <p:spTgt spid="11"/>
                                        </p:tgtEl>
                                        <p:attrNameLst>
                                          <p:attrName>ppt_x</p:attrName>
                                        </p:attrNameLst>
                                      </p:cBhvr>
                                      <p:tavLst>
                                        <p:tav tm="0">
                                          <p:val>
                                            <p:strVal val="#ppt_x"/>
                                          </p:val>
                                        </p:tav>
                                        <p:tav tm="100000">
                                          <p:val>
                                            <p:strVal val="#ppt_x"/>
                                          </p:val>
                                        </p:tav>
                                      </p:tavLst>
                                    </p:anim>
                                    <p:anim calcmode="lin" valueType="num">
                                      <p:cBhvr>
                                        <p:cTn id="46" dur="1000" fill="hold"/>
                                        <p:tgtEl>
                                          <p:spTgt spid="11"/>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2"/>
                                        </p:tgtEl>
                                        <p:attrNameLst>
                                          <p:attrName>style.visibility</p:attrName>
                                        </p:attrNameLst>
                                      </p:cBhvr>
                                      <p:to>
                                        <p:strVal val="visible"/>
                                      </p:to>
                                    </p:set>
                                    <p:animEffect transition="in" filter="fade">
                                      <p:cBhvr>
                                        <p:cTn id="49" dur="1000"/>
                                        <p:tgtEl>
                                          <p:spTgt spid="12"/>
                                        </p:tgtEl>
                                      </p:cBhvr>
                                    </p:animEffect>
                                    <p:anim calcmode="lin" valueType="num">
                                      <p:cBhvr>
                                        <p:cTn id="50" dur="1000" fill="hold"/>
                                        <p:tgtEl>
                                          <p:spTgt spid="12"/>
                                        </p:tgtEl>
                                        <p:attrNameLst>
                                          <p:attrName>ppt_x</p:attrName>
                                        </p:attrNameLst>
                                      </p:cBhvr>
                                      <p:tavLst>
                                        <p:tav tm="0">
                                          <p:val>
                                            <p:strVal val="#ppt_x"/>
                                          </p:val>
                                        </p:tav>
                                        <p:tav tm="100000">
                                          <p:val>
                                            <p:strVal val="#ppt_x"/>
                                          </p:val>
                                        </p:tav>
                                      </p:tavLst>
                                    </p:anim>
                                    <p:anim calcmode="lin" valueType="num">
                                      <p:cBhvr>
                                        <p:cTn id="51" dur="1000" fill="hold"/>
                                        <p:tgtEl>
                                          <p:spTgt spid="12"/>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fade">
                                      <p:cBhvr>
                                        <p:cTn id="54" dur="1000"/>
                                        <p:tgtEl>
                                          <p:spTgt spid="13"/>
                                        </p:tgtEl>
                                      </p:cBhvr>
                                    </p:animEffect>
                                    <p:anim calcmode="lin" valueType="num">
                                      <p:cBhvr>
                                        <p:cTn id="55" dur="1000" fill="hold"/>
                                        <p:tgtEl>
                                          <p:spTgt spid="13"/>
                                        </p:tgtEl>
                                        <p:attrNameLst>
                                          <p:attrName>ppt_x</p:attrName>
                                        </p:attrNameLst>
                                      </p:cBhvr>
                                      <p:tavLst>
                                        <p:tav tm="0">
                                          <p:val>
                                            <p:strVal val="#ppt_x"/>
                                          </p:val>
                                        </p:tav>
                                        <p:tav tm="100000">
                                          <p:val>
                                            <p:strVal val="#ppt_x"/>
                                          </p:val>
                                        </p:tav>
                                      </p:tavLst>
                                    </p:anim>
                                    <p:anim calcmode="lin" valueType="num">
                                      <p:cBhvr>
                                        <p:cTn id="56"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14"/>
                                        </p:tgtEl>
                                        <p:attrNameLst>
                                          <p:attrName>style.visibility</p:attrName>
                                        </p:attrNameLst>
                                      </p:cBhvr>
                                      <p:to>
                                        <p:strVal val="visible"/>
                                      </p:to>
                                    </p:set>
                                    <p:animEffect transition="in" filter="fade">
                                      <p:cBhvr>
                                        <p:cTn id="61" dur="1000"/>
                                        <p:tgtEl>
                                          <p:spTgt spid="14"/>
                                        </p:tgtEl>
                                      </p:cBhvr>
                                    </p:animEffect>
                                    <p:anim calcmode="lin" valueType="num">
                                      <p:cBhvr>
                                        <p:cTn id="62" dur="1000" fill="hold"/>
                                        <p:tgtEl>
                                          <p:spTgt spid="14"/>
                                        </p:tgtEl>
                                        <p:attrNameLst>
                                          <p:attrName>ppt_x</p:attrName>
                                        </p:attrNameLst>
                                      </p:cBhvr>
                                      <p:tavLst>
                                        <p:tav tm="0">
                                          <p:val>
                                            <p:strVal val="#ppt_x"/>
                                          </p:val>
                                        </p:tav>
                                        <p:tav tm="100000">
                                          <p:val>
                                            <p:strVal val="#ppt_x"/>
                                          </p:val>
                                        </p:tav>
                                      </p:tavLst>
                                    </p:anim>
                                    <p:anim calcmode="lin" valueType="num">
                                      <p:cBhvr>
                                        <p:cTn id="63" dur="1000" fill="hold"/>
                                        <p:tgtEl>
                                          <p:spTgt spid="14"/>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1000"/>
                                        <p:tgtEl>
                                          <p:spTgt spid="15"/>
                                        </p:tgtEl>
                                      </p:cBhvr>
                                    </p:animEffect>
                                    <p:anim calcmode="lin" valueType="num">
                                      <p:cBhvr>
                                        <p:cTn id="67" dur="1000" fill="hold"/>
                                        <p:tgtEl>
                                          <p:spTgt spid="15"/>
                                        </p:tgtEl>
                                        <p:attrNameLst>
                                          <p:attrName>ppt_x</p:attrName>
                                        </p:attrNameLst>
                                      </p:cBhvr>
                                      <p:tavLst>
                                        <p:tav tm="0">
                                          <p:val>
                                            <p:strVal val="#ppt_x"/>
                                          </p:val>
                                        </p:tav>
                                        <p:tav tm="100000">
                                          <p:val>
                                            <p:strVal val="#ppt_x"/>
                                          </p:val>
                                        </p:tav>
                                      </p:tavLst>
                                    </p:anim>
                                    <p:anim calcmode="lin" valueType="num">
                                      <p:cBhvr>
                                        <p:cTn id="68" dur="1000" fill="hold"/>
                                        <p:tgtEl>
                                          <p:spTgt spid="15"/>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16"/>
                                        </p:tgtEl>
                                        <p:attrNameLst>
                                          <p:attrName>style.visibility</p:attrName>
                                        </p:attrNameLst>
                                      </p:cBhvr>
                                      <p:to>
                                        <p:strVal val="visible"/>
                                      </p:to>
                                    </p:set>
                                    <p:animEffect transition="in" filter="fade">
                                      <p:cBhvr>
                                        <p:cTn id="71" dur="1000"/>
                                        <p:tgtEl>
                                          <p:spTgt spid="16"/>
                                        </p:tgtEl>
                                      </p:cBhvr>
                                    </p:animEffect>
                                    <p:anim calcmode="lin" valueType="num">
                                      <p:cBhvr>
                                        <p:cTn id="72" dur="1000" fill="hold"/>
                                        <p:tgtEl>
                                          <p:spTgt spid="16"/>
                                        </p:tgtEl>
                                        <p:attrNameLst>
                                          <p:attrName>ppt_x</p:attrName>
                                        </p:attrNameLst>
                                      </p:cBhvr>
                                      <p:tavLst>
                                        <p:tav tm="0">
                                          <p:val>
                                            <p:strVal val="#ppt_x"/>
                                          </p:val>
                                        </p:tav>
                                        <p:tav tm="100000">
                                          <p:val>
                                            <p:strVal val="#ppt_x"/>
                                          </p:val>
                                        </p:tav>
                                      </p:tavLst>
                                    </p:anim>
                                    <p:anim calcmode="lin" valueType="num">
                                      <p:cBhvr>
                                        <p:cTn id="73" dur="1000" fill="hold"/>
                                        <p:tgtEl>
                                          <p:spTgt spid="16"/>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7"/>
                                        </p:tgtEl>
                                        <p:attrNameLst>
                                          <p:attrName>style.visibility</p:attrName>
                                        </p:attrNameLst>
                                      </p:cBhvr>
                                      <p:to>
                                        <p:strVal val="visible"/>
                                      </p:to>
                                    </p:set>
                                    <p:animEffect transition="in" filter="fade">
                                      <p:cBhvr>
                                        <p:cTn id="76" dur="1000"/>
                                        <p:tgtEl>
                                          <p:spTgt spid="17"/>
                                        </p:tgtEl>
                                      </p:cBhvr>
                                    </p:animEffect>
                                    <p:anim calcmode="lin" valueType="num">
                                      <p:cBhvr>
                                        <p:cTn id="77" dur="1000" fill="hold"/>
                                        <p:tgtEl>
                                          <p:spTgt spid="17"/>
                                        </p:tgtEl>
                                        <p:attrNameLst>
                                          <p:attrName>ppt_x</p:attrName>
                                        </p:attrNameLst>
                                      </p:cBhvr>
                                      <p:tavLst>
                                        <p:tav tm="0">
                                          <p:val>
                                            <p:strVal val="#ppt_x"/>
                                          </p:val>
                                        </p:tav>
                                        <p:tav tm="100000">
                                          <p:val>
                                            <p:strVal val="#ppt_x"/>
                                          </p:val>
                                        </p:tav>
                                      </p:tavLst>
                                    </p:anim>
                                    <p:anim calcmode="lin" valueType="num">
                                      <p:cBhvr>
                                        <p:cTn id="78" dur="1000" fill="hold"/>
                                        <p:tgtEl>
                                          <p:spTgt spid="17"/>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8"/>
                                        </p:tgtEl>
                                        <p:attrNameLst>
                                          <p:attrName>style.visibility</p:attrName>
                                        </p:attrNameLst>
                                      </p:cBhvr>
                                      <p:to>
                                        <p:strVal val="visible"/>
                                      </p:to>
                                    </p:set>
                                    <p:animEffect transition="in" filter="fade">
                                      <p:cBhvr>
                                        <p:cTn id="81" dur="1000"/>
                                        <p:tgtEl>
                                          <p:spTgt spid="18"/>
                                        </p:tgtEl>
                                      </p:cBhvr>
                                    </p:animEffect>
                                    <p:anim calcmode="lin" valueType="num">
                                      <p:cBhvr>
                                        <p:cTn id="82" dur="1000" fill="hold"/>
                                        <p:tgtEl>
                                          <p:spTgt spid="18"/>
                                        </p:tgtEl>
                                        <p:attrNameLst>
                                          <p:attrName>ppt_x</p:attrName>
                                        </p:attrNameLst>
                                      </p:cBhvr>
                                      <p:tavLst>
                                        <p:tav tm="0">
                                          <p:val>
                                            <p:strVal val="#ppt_x"/>
                                          </p:val>
                                        </p:tav>
                                        <p:tav tm="100000">
                                          <p:val>
                                            <p:strVal val="#ppt_x"/>
                                          </p:val>
                                        </p:tav>
                                      </p:tavLst>
                                    </p:anim>
                                    <p:anim calcmode="lin" valueType="num">
                                      <p:cBhvr>
                                        <p:cTn id="83"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000"/>
                                        <p:tgtEl>
                                          <p:spTgt spid="19"/>
                                        </p:tgtEl>
                                      </p:cBhvr>
                                    </p:animEffect>
                                    <p:anim calcmode="lin" valueType="num">
                                      <p:cBhvr>
                                        <p:cTn id="89" dur="1000" fill="hold"/>
                                        <p:tgtEl>
                                          <p:spTgt spid="19"/>
                                        </p:tgtEl>
                                        <p:attrNameLst>
                                          <p:attrName>ppt_x</p:attrName>
                                        </p:attrNameLst>
                                      </p:cBhvr>
                                      <p:tavLst>
                                        <p:tav tm="0">
                                          <p:val>
                                            <p:strVal val="#ppt_x"/>
                                          </p:val>
                                        </p:tav>
                                        <p:tav tm="100000">
                                          <p:val>
                                            <p:strVal val="#ppt_x"/>
                                          </p:val>
                                        </p:tav>
                                      </p:tavLst>
                                    </p:anim>
                                    <p:anim calcmode="lin" valueType="num">
                                      <p:cBhvr>
                                        <p:cTn id="90" dur="1000" fill="hold"/>
                                        <p:tgtEl>
                                          <p:spTgt spid="19"/>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000"/>
                                        <p:tgtEl>
                                          <p:spTgt spid="20"/>
                                        </p:tgtEl>
                                      </p:cBhvr>
                                    </p:animEffect>
                                    <p:anim calcmode="lin" valueType="num">
                                      <p:cBhvr>
                                        <p:cTn id="94" dur="1000" fill="hold"/>
                                        <p:tgtEl>
                                          <p:spTgt spid="20"/>
                                        </p:tgtEl>
                                        <p:attrNameLst>
                                          <p:attrName>ppt_x</p:attrName>
                                        </p:attrNameLst>
                                      </p:cBhvr>
                                      <p:tavLst>
                                        <p:tav tm="0">
                                          <p:val>
                                            <p:strVal val="#ppt_x"/>
                                          </p:val>
                                        </p:tav>
                                        <p:tav tm="100000">
                                          <p:val>
                                            <p:strVal val="#ppt_x"/>
                                          </p:val>
                                        </p:tav>
                                      </p:tavLst>
                                    </p:anim>
                                    <p:anim calcmode="lin" valueType="num">
                                      <p:cBhvr>
                                        <p:cTn id="95" dur="1000" fill="hold"/>
                                        <p:tgtEl>
                                          <p:spTgt spid="20"/>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000"/>
                                        <p:tgtEl>
                                          <p:spTgt spid="21"/>
                                        </p:tgtEl>
                                      </p:cBhvr>
                                    </p:animEffect>
                                    <p:anim calcmode="lin" valueType="num">
                                      <p:cBhvr>
                                        <p:cTn id="99" dur="1000" fill="hold"/>
                                        <p:tgtEl>
                                          <p:spTgt spid="21"/>
                                        </p:tgtEl>
                                        <p:attrNameLst>
                                          <p:attrName>ppt_x</p:attrName>
                                        </p:attrNameLst>
                                      </p:cBhvr>
                                      <p:tavLst>
                                        <p:tav tm="0">
                                          <p:val>
                                            <p:strVal val="#ppt_x"/>
                                          </p:val>
                                        </p:tav>
                                        <p:tav tm="100000">
                                          <p:val>
                                            <p:strVal val="#ppt_x"/>
                                          </p:val>
                                        </p:tav>
                                      </p:tavLst>
                                    </p:anim>
                                    <p:anim calcmode="lin" valueType="num">
                                      <p:cBhvr>
                                        <p:cTn id="100" dur="1000" fill="hold"/>
                                        <p:tgtEl>
                                          <p:spTgt spid="21"/>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000"/>
                                        <p:tgtEl>
                                          <p:spTgt spid="22"/>
                                        </p:tgtEl>
                                      </p:cBhvr>
                                    </p:animEffect>
                                    <p:anim calcmode="lin" valueType="num">
                                      <p:cBhvr>
                                        <p:cTn id="104" dur="1000" fill="hold"/>
                                        <p:tgtEl>
                                          <p:spTgt spid="22"/>
                                        </p:tgtEl>
                                        <p:attrNameLst>
                                          <p:attrName>ppt_x</p:attrName>
                                        </p:attrNameLst>
                                      </p:cBhvr>
                                      <p:tavLst>
                                        <p:tav tm="0">
                                          <p:val>
                                            <p:strVal val="#ppt_x"/>
                                          </p:val>
                                        </p:tav>
                                        <p:tav tm="100000">
                                          <p:val>
                                            <p:strVal val="#ppt_x"/>
                                          </p:val>
                                        </p:tav>
                                      </p:tavLst>
                                    </p:anim>
                                    <p:anim calcmode="lin" valueType="num">
                                      <p:cBhvr>
                                        <p:cTn id="105" dur="1000" fill="hold"/>
                                        <p:tgtEl>
                                          <p:spTgt spid="22"/>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000"/>
                                        <p:tgtEl>
                                          <p:spTgt spid="23"/>
                                        </p:tgtEl>
                                      </p:cBhvr>
                                    </p:animEffect>
                                    <p:anim calcmode="lin" valueType="num">
                                      <p:cBhvr>
                                        <p:cTn id="109" dur="1000" fill="hold"/>
                                        <p:tgtEl>
                                          <p:spTgt spid="23"/>
                                        </p:tgtEl>
                                        <p:attrNameLst>
                                          <p:attrName>ppt_x</p:attrName>
                                        </p:attrNameLst>
                                      </p:cBhvr>
                                      <p:tavLst>
                                        <p:tav tm="0">
                                          <p:val>
                                            <p:strVal val="#ppt_x"/>
                                          </p:val>
                                        </p:tav>
                                        <p:tav tm="100000">
                                          <p:val>
                                            <p:strVal val="#ppt_x"/>
                                          </p:val>
                                        </p:tav>
                                      </p:tavLst>
                                    </p:anim>
                                    <p:anim calcmode="lin" valueType="num">
                                      <p:cBhvr>
                                        <p:cTn id="11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What is an AI Agent?</a:t>
            </a:r>
            <a:endParaRPr lang="en-US" sz="2200" dirty="0"/>
          </a:p>
        </p:txBody>
      </p:sp>
      <p:sp>
        <p:nvSpPr>
          <p:cNvPr id="4" name="Shape 2"/>
          <p:cNvSpPr/>
          <p:nvPr/>
        </p:nvSpPr>
        <p:spPr>
          <a:xfrm>
            <a:off x="731520" y="1097280"/>
            <a:ext cx="7680960" cy="12801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1005840" y="1280160"/>
            <a:ext cx="640080" cy="640080"/>
          </a:xfrm>
          <a:prstGeom prst="ellipse">
            <a:avLst/>
          </a:prstGeom>
          <a:solidFill>
            <a:srgbClr val="0891B2"/>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1146658" y="1420978"/>
            <a:ext cx="358445" cy="358445"/>
          </a:xfrm>
          <a:prstGeom prst="rect">
            <a:avLst/>
          </a:prstGeom>
        </p:spPr>
      </p:pic>
      <p:sp>
        <p:nvSpPr>
          <p:cNvPr id="7" name="Text 4"/>
          <p:cNvSpPr/>
          <p:nvPr/>
        </p:nvSpPr>
        <p:spPr>
          <a:xfrm>
            <a:off x="1828800" y="1188720"/>
            <a:ext cx="6309360" cy="1097280"/>
          </a:xfrm>
          <a:prstGeom prst="rect">
            <a:avLst/>
          </a:prstGeom>
          <a:noFill/>
          <a:ln/>
        </p:spPr>
        <p:txBody>
          <a:bodyPr wrap="square" lIns="0" tIns="0" rIns="0" bIns="0" rtlCol="0" anchor="ctr"/>
          <a:lstStyle/>
          <a:p>
            <a:pPr marL="0" indent="0">
              <a:buNone/>
            </a:pPr>
            <a:r>
              <a:rPr lang="en-US" sz="1400" dirty="0">
                <a:solidFill>
                  <a:srgbClr val="1E293B"/>
                </a:solidFill>
                <a:latin typeface="Calibri" pitchFamily="34" charset="0"/>
                <a:ea typeface="Calibri" pitchFamily="34" charset="-122"/>
                <a:cs typeface="Calibri" pitchFamily="34" charset="-120"/>
              </a:rPr>
              <a:t>An AI Agent is an autonomous software system that uses a Large Language Model (LLM) as its reasoning engine to perceive its environment, make decisions, take actions via tools, and iterate toward achieving goals — all with minimal human intervention.</a:t>
            </a:r>
            <a:endParaRPr lang="en-US" sz="1400" dirty="0"/>
          </a:p>
        </p:txBody>
      </p:sp>
      <p:sp>
        <p:nvSpPr>
          <p:cNvPr id="8" name="Text 5"/>
          <p:cNvSpPr/>
          <p:nvPr/>
        </p:nvSpPr>
        <p:spPr>
          <a:xfrm>
            <a:off x="731520" y="2651760"/>
            <a:ext cx="365760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Key Distinctions</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3347593571"/>
              </p:ext>
            </p:extLst>
          </p:nvPr>
        </p:nvGraphicFramePr>
        <p:xfrm>
          <a:off x="731520" y="3063240"/>
          <a:ext cx="7680960" cy="1463040"/>
        </p:xfrm>
        <a:graphic>
          <a:graphicData uri="http://schemas.openxmlformats.org/drawingml/2006/table">
            <a:tbl>
              <a:tblPr/>
              <a:tblGrid>
                <a:gridCol w="2011680">
                  <a:extLst>
                    <a:ext uri="{9D8B030D-6E8A-4147-A177-3AD203B41FA5}">
                      <a16:colId xmlns:a16="http://schemas.microsoft.com/office/drawing/2014/main" val="20000"/>
                    </a:ext>
                  </a:extLst>
                </a:gridCol>
                <a:gridCol w="5669280">
                  <a:extLst>
                    <a:ext uri="{9D8B030D-6E8A-4147-A177-3AD203B41FA5}">
                      <a16:colId xmlns:a16="http://schemas.microsoft.com/office/drawing/2014/main" val="20001"/>
                    </a:ext>
                  </a:extLst>
                </a:gridCol>
              </a:tblGrid>
              <a:tr h="365760">
                <a:tc>
                  <a:txBody>
                    <a:bodyP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Type</a:t>
                      </a:r>
                      <a:endParaRPr lang="en-US" sz="13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Characteristics</a:t>
                      </a:r>
                      <a:endParaRPr lang="en-US" sz="13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365760">
                <a:tc>
                  <a:txBody>
                    <a:bodyPr/>
                    <a:lstStyle/>
                    <a:p>
                      <a:pPr marL="0" indent="0">
                        <a:buNone/>
                      </a:pPr>
                      <a:r>
                        <a:rPr lang="en-US" sz="1300" b="1" dirty="0">
                          <a:solidFill>
                            <a:srgbClr val="1E293B"/>
                          </a:solidFill>
                          <a:latin typeface="Calibri" pitchFamily="34" charset="0"/>
                          <a:ea typeface="Calibri" pitchFamily="34" charset="-122"/>
                          <a:cs typeface="Calibri" pitchFamily="34" charset="-120"/>
                        </a:rPr>
                        <a:t>Chatbot</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Responds to prompts, no memory across turns, no </a:t>
                      </a:r>
                      <a:r>
                        <a:rPr lang="en-US" sz="1300">
                          <a:solidFill>
                            <a:srgbClr val="334155"/>
                          </a:solidFill>
                          <a:latin typeface="Calibri" pitchFamily="34" charset="0"/>
                          <a:ea typeface="Calibri" pitchFamily="34" charset="-122"/>
                          <a:cs typeface="Calibri" pitchFamily="34" charset="-120"/>
                        </a:rPr>
                        <a:t>tool access</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buNone/>
                      </a:pPr>
                      <a:r>
                        <a:rPr lang="en-US" sz="1300" b="1" dirty="0">
                          <a:solidFill>
                            <a:srgbClr val="1E293B"/>
                          </a:solidFill>
                          <a:latin typeface="Calibri" pitchFamily="34" charset="0"/>
                          <a:ea typeface="Calibri" pitchFamily="34" charset="-122"/>
                          <a:cs typeface="Calibri" pitchFamily="34" charset="-120"/>
                        </a:rPr>
                        <a:t>AI Assistant</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Follows instructions, limited tool use, human-in-the-loop </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buNone/>
                      </a:pPr>
                      <a:r>
                        <a:rPr lang="en-US" sz="1300" b="1" dirty="0">
                          <a:solidFill>
                            <a:srgbClr val="0891B2"/>
                          </a:solidFill>
                          <a:latin typeface="Calibri" pitchFamily="34" charset="0"/>
                          <a:ea typeface="Calibri" pitchFamily="34" charset="-122"/>
                          <a:cs typeface="Calibri" pitchFamily="34" charset="-120"/>
                        </a:rPr>
                        <a:t>AI Agent</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Plans, reasons, uses tools, maintains state, acts autonomously </a:t>
                      </a:r>
                      <a:endParaRPr lang="en-US" sz="13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 calcmode="lin" valueType="num">
                                      <p:cBhvr additive="base">
                                        <p:cTn id="11" dur="500" fill="hold"/>
                                        <p:tgtEl>
                                          <p:spTgt spid="8"/>
                                        </p:tgtEl>
                                        <p:attrNameLst>
                                          <p:attrName>ppt_x</p:attrName>
                                        </p:attrNameLst>
                                      </p:cBhvr>
                                      <p:tavLst>
                                        <p:tav tm="0">
                                          <p:val>
                                            <p:strVal val="#ppt_x"/>
                                          </p:val>
                                        </p:tav>
                                        <p:tav tm="100000">
                                          <p:val>
                                            <p:strVal val="#ppt_x"/>
                                          </p:val>
                                        </p:tav>
                                      </p:tavLst>
                                    </p:anim>
                                    <p:anim calcmode="lin" valueType="num">
                                      <p:cBhvr additive="base">
                                        <p:cTn id="1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The Agent Loop — Observe, Think, Act, Learn</a:t>
            </a:r>
            <a:endParaRPr lang="en-US" sz="2200" dirty="0"/>
          </a:p>
        </p:txBody>
      </p:sp>
      <p:sp>
        <p:nvSpPr>
          <p:cNvPr id="4" name="Shape 2"/>
          <p:cNvSpPr/>
          <p:nvPr/>
        </p:nvSpPr>
        <p:spPr>
          <a:xfrm>
            <a:off x="457200" y="1188720"/>
            <a:ext cx="1920240" cy="2286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502920" y="1234440"/>
            <a:ext cx="365760" cy="365760"/>
          </a:xfrm>
          <a:prstGeom prst="ellipse">
            <a:avLst/>
          </a:prstGeom>
          <a:solidFill>
            <a:srgbClr val="0891B2"/>
          </a:solidFill>
          <a:ln/>
        </p:spPr>
        <p:txBody>
          <a:bodyPr/>
          <a:lstStyle/>
          <a:p>
            <a:endParaRPr lang="en-US" dirty="0"/>
          </a:p>
        </p:txBody>
      </p:sp>
      <p:sp>
        <p:nvSpPr>
          <p:cNvPr id="6" name="Text 4"/>
          <p:cNvSpPr/>
          <p:nvPr/>
        </p:nvSpPr>
        <p:spPr>
          <a:xfrm>
            <a:off x="502920" y="1234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1</a:t>
            </a:r>
            <a:endParaRPr lang="en-US" sz="1400" dirty="0"/>
          </a:p>
        </p:txBody>
      </p:sp>
      <p:sp>
        <p:nvSpPr>
          <p:cNvPr id="7" name="Shape 5"/>
          <p:cNvSpPr/>
          <p:nvPr/>
        </p:nvSpPr>
        <p:spPr>
          <a:xfrm>
            <a:off x="1051560" y="1417320"/>
            <a:ext cx="640080" cy="640080"/>
          </a:xfrm>
          <a:prstGeom prst="ellipse">
            <a:avLst/>
          </a:prstGeom>
          <a:solidFill>
            <a:srgbClr val="0891B2"/>
          </a:solidFill>
          <a:ln/>
        </p:spPr>
        <p:txBody>
          <a:bodyPr/>
          <a:lstStyle/>
          <a:p>
            <a:endParaRPr lang="en-US" dirty="0"/>
          </a:p>
        </p:txBody>
      </p:sp>
      <p:pic>
        <p:nvPicPr>
          <p:cNvPr id="8" name="Image 0" descr="preencoded.png"/>
          <p:cNvPicPr>
            <a:picLocks noChangeAspect="1"/>
          </p:cNvPicPr>
          <p:nvPr/>
        </p:nvPicPr>
        <p:blipFill>
          <a:blip r:embed="rId3"/>
          <a:stretch>
            <a:fillRect/>
          </a:stretch>
        </p:blipFill>
        <p:spPr>
          <a:xfrm>
            <a:off x="1192378" y="1558138"/>
            <a:ext cx="358445" cy="358445"/>
          </a:xfrm>
          <a:prstGeom prst="rect">
            <a:avLst/>
          </a:prstGeom>
        </p:spPr>
      </p:pic>
      <p:sp>
        <p:nvSpPr>
          <p:cNvPr id="9" name="Text 6"/>
          <p:cNvSpPr/>
          <p:nvPr/>
        </p:nvSpPr>
        <p:spPr>
          <a:xfrm>
            <a:off x="457200" y="2240280"/>
            <a:ext cx="1920240" cy="320040"/>
          </a:xfrm>
          <a:prstGeom prst="rect">
            <a:avLst/>
          </a:prstGeom>
          <a:noFill/>
          <a:ln/>
        </p:spPr>
        <p:txBody>
          <a:bodyPr wrap="square" lIns="0" tIns="0" rIns="0" bIns="0" rtlCol="0" anchor="ctr"/>
          <a:lstStyle/>
          <a:p>
            <a:pPr marL="0" indent="0" algn="ctr">
              <a:buNone/>
            </a:pPr>
            <a:r>
              <a:rPr lang="en-US" sz="1500" b="1" dirty="0">
                <a:solidFill>
                  <a:srgbClr val="1E293B"/>
                </a:solidFill>
                <a:latin typeface="Trebuchet MS" pitchFamily="34" charset="0"/>
                <a:ea typeface="Trebuchet MS" pitchFamily="34" charset="-122"/>
                <a:cs typeface="Trebuchet MS" pitchFamily="34" charset="-120"/>
              </a:rPr>
              <a:t>Perceive</a:t>
            </a:r>
            <a:endParaRPr lang="en-US" sz="1500" dirty="0"/>
          </a:p>
        </p:txBody>
      </p:sp>
      <p:sp>
        <p:nvSpPr>
          <p:cNvPr id="10" name="Text 7"/>
          <p:cNvSpPr/>
          <p:nvPr/>
        </p:nvSpPr>
        <p:spPr>
          <a:xfrm>
            <a:off x="457200" y="2560320"/>
            <a:ext cx="1920240" cy="640080"/>
          </a:xfrm>
          <a:prstGeom prst="rect">
            <a:avLst/>
          </a:prstGeom>
          <a:noFill/>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Receive input from</a:t>
            </a:r>
            <a:endParaRPr lang="en-US" sz="1100" dirty="0"/>
          </a:p>
          <a:p>
            <a:pPr marL="0" indent="0" algn="ctr">
              <a:buNone/>
            </a:pPr>
            <a:r>
              <a:rPr lang="en-US" sz="1100" dirty="0">
                <a:solidFill>
                  <a:srgbClr val="334155"/>
                </a:solidFill>
                <a:latin typeface="Calibri" pitchFamily="34" charset="0"/>
                <a:ea typeface="Calibri" pitchFamily="34" charset="-122"/>
                <a:cs typeface="Calibri" pitchFamily="34" charset="-120"/>
              </a:rPr>
              <a:t>user or environment</a:t>
            </a:r>
            <a:endParaRPr lang="en-US" sz="1100" dirty="0"/>
          </a:p>
        </p:txBody>
      </p:sp>
      <p:pic>
        <p:nvPicPr>
          <p:cNvPr id="11" name="Image 1" descr="preencoded.png"/>
          <p:cNvPicPr>
            <a:picLocks noChangeAspect="1"/>
          </p:cNvPicPr>
          <p:nvPr/>
        </p:nvPicPr>
        <p:blipFill>
          <a:blip r:embed="rId4"/>
          <a:stretch>
            <a:fillRect/>
          </a:stretch>
        </p:blipFill>
        <p:spPr>
          <a:xfrm>
            <a:off x="2377440" y="2103120"/>
            <a:ext cx="274320" cy="274320"/>
          </a:xfrm>
          <a:prstGeom prst="rect">
            <a:avLst/>
          </a:prstGeom>
        </p:spPr>
      </p:pic>
      <p:sp>
        <p:nvSpPr>
          <p:cNvPr id="12" name="Shape 8"/>
          <p:cNvSpPr/>
          <p:nvPr/>
        </p:nvSpPr>
        <p:spPr>
          <a:xfrm>
            <a:off x="2651760" y="1188720"/>
            <a:ext cx="1920240" cy="2286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3" name="Shape 9"/>
          <p:cNvSpPr/>
          <p:nvPr/>
        </p:nvSpPr>
        <p:spPr>
          <a:xfrm>
            <a:off x="2697480" y="1234440"/>
            <a:ext cx="365760" cy="365760"/>
          </a:xfrm>
          <a:prstGeom prst="ellipse">
            <a:avLst/>
          </a:prstGeom>
          <a:solidFill>
            <a:srgbClr val="F59E0B"/>
          </a:solidFill>
          <a:ln/>
        </p:spPr>
        <p:txBody>
          <a:bodyPr/>
          <a:lstStyle/>
          <a:p>
            <a:endParaRPr lang="en-US" dirty="0"/>
          </a:p>
        </p:txBody>
      </p:sp>
      <p:sp>
        <p:nvSpPr>
          <p:cNvPr id="14" name="Text 10"/>
          <p:cNvSpPr/>
          <p:nvPr/>
        </p:nvSpPr>
        <p:spPr>
          <a:xfrm>
            <a:off x="2697480" y="1234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2</a:t>
            </a:r>
            <a:endParaRPr lang="en-US" sz="1400" dirty="0"/>
          </a:p>
        </p:txBody>
      </p:sp>
      <p:sp>
        <p:nvSpPr>
          <p:cNvPr id="15" name="Shape 11"/>
          <p:cNvSpPr/>
          <p:nvPr/>
        </p:nvSpPr>
        <p:spPr>
          <a:xfrm>
            <a:off x="3246120" y="1417320"/>
            <a:ext cx="640080" cy="640080"/>
          </a:xfrm>
          <a:prstGeom prst="ellipse">
            <a:avLst/>
          </a:prstGeom>
          <a:solidFill>
            <a:srgbClr val="F59E0B"/>
          </a:solidFill>
          <a:ln/>
        </p:spPr>
        <p:txBody>
          <a:bodyPr/>
          <a:lstStyle/>
          <a:p>
            <a:endParaRPr lang="en-US" dirty="0"/>
          </a:p>
        </p:txBody>
      </p:sp>
      <p:pic>
        <p:nvPicPr>
          <p:cNvPr id="16" name="Image 2" descr="preencoded.png"/>
          <p:cNvPicPr>
            <a:picLocks noChangeAspect="1"/>
          </p:cNvPicPr>
          <p:nvPr/>
        </p:nvPicPr>
        <p:blipFill>
          <a:blip r:embed="rId5"/>
          <a:stretch>
            <a:fillRect/>
          </a:stretch>
        </p:blipFill>
        <p:spPr>
          <a:xfrm>
            <a:off x="3386938" y="1558138"/>
            <a:ext cx="358445" cy="358445"/>
          </a:xfrm>
          <a:prstGeom prst="rect">
            <a:avLst/>
          </a:prstGeom>
        </p:spPr>
      </p:pic>
      <p:sp>
        <p:nvSpPr>
          <p:cNvPr id="17" name="Text 12"/>
          <p:cNvSpPr/>
          <p:nvPr/>
        </p:nvSpPr>
        <p:spPr>
          <a:xfrm>
            <a:off x="2651760" y="2240280"/>
            <a:ext cx="1920240" cy="320040"/>
          </a:xfrm>
          <a:prstGeom prst="rect">
            <a:avLst/>
          </a:prstGeom>
          <a:noFill/>
          <a:ln/>
        </p:spPr>
        <p:txBody>
          <a:bodyPr wrap="square" lIns="0" tIns="0" rIns="0" bIns="0" rtlCol="0" anchor="ctr"/>
          <a:lstStyle/>
          <a:p>
            <a:pPr marL="0" indent="0" algn="ctr">
              <a:buNone/>
            </a:pPr>
            <a:r>
              <a:rPr lang="en-US" sz="1500" b="1" dirty="0">
                <a:solidFill>
                  <a:srgbClr val="1E293B"/>
                </a:solidFill>
                <a:latin typeface="Trebuchet MS" pitchFamily="34" charset="0"/>
                <a:ea typeface="Trebuchet MS" pitchFamily="34" charset="-122"/>
                <a:cs typeface="Trebuchet MS" pitchFamily="34" charset="-120"/>
              </a:rPr>
              <a:t>Reason</a:t>
            </a:r>
            <a:endParaRPr lang="en-US" sz="1500" dirty="0"/>
          </a:p>
        </p:txBody>
      </p:sp>
      <p:sp>
        <p:nvSpPr>
          <p:cNvPr id="18" name="Text 13"/>
          <p:cNvSpPr/>
          <p:nvPr/>
        </p:nvSpPr>
        <p:spPr>
          <a:xfrm>
            <a:off x="2651760" y="2560320"/>
            <a:ext cx="1920240" cy="640080"/>
          </a:xfrm>
          <a:prstGeom prst="rect">
            <a:avLst/>
          </a:prstGeom>
          <a:noFill/>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LLM analyzes context</a:t>
            </a:r>
            <a:endParaRPr lang="en-US" sz="1100" dirty="0"/>
          </a:p>
          <a:p>
            <a:pPr marL="0" indent="0" algn="ctr">
              <a:buNone/>
            </a:pPr>
            <a:r>
              <a:rPr lang="en-US" sz="1100" dirty="0">
                <a:solidFill>
                  <a:srgbClr val="334155"/>
                </a:solidFill>
                <a:latin typeface="Calibri" pitchFamily="34" charset="0"/>
                <a:ea typeface="Calibri" pitchFamily="34" charset="-122"/>
                <a:cs typeface="Calibri" pitchFamily="34" charset="-120"/>
              </a:rPr>
              <a:t>and plans next step</a:t>
            </a:r>
            <a:endParaRPr lang="en-US" sz="1100" dirty="0"/>
          </a:p>
        </p:txBody>
      </p:sp>
      <p:pic>
        <p:nvPicPr>
          <p:cNvPr id="19" name="Image 3" descr="preencoded.png"/>
          <p:cNvPicPr>
            <a:picLocks noChangeAspect="1"/>
          </p:cNvPicPr>
          <p:nvPr/>
        </p:nvPicPr>
        <p:blipFill>
          <a:blip r:embed="rId4"/>
          <a:stretch>
            <a:fillRect/>
          </a:stretch>
        </p:blipFill>
        <p:spPr>
          <a:xfrm>
            <a:off x="4572000" y="2103120"/>
            <a:ext cx="274320" cy="274320"/>
          </a:xfrm>
          <a:prstGeom prst="rect">
            <a:avLst/>
          </a:prstGeom>
        </p:spPr>
      </p:pic>
      <p:sp>
        <p:nvSpPr>
          <p:cNvPr id="20" name="Shape 14"/>
          <p:cNvSpPr/>
          <p:nvPr/>
        </p:nvSpPr>
        <p:spPr>
          <a:xfrm>
            <a:off x="4846320" y="1188720"/>
            <a:ext cx="1920240" cy="2286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1" name="Shape 15"/>
          <p:cNvSpPr/>
          <p:nvPr/>
        </p:nvSpPr>
        <p:spPr>
          <a:xfrm>
            <a:off x="4892040" y="1234440"/>
            <a:ext cx="365760" cy="365760"/>
          </a:xfrm>
          <a:prstGeom prst="ellipse">
            <a:avLst/>
          </a:prstGeom>
          <a:solidFill>
            <a:srgbClr val="10B981"/>
          </a:solidFill>
          <a:ln/>
        </p:spPr>
        <p:txBody>
          <a:bodyPr/>
          <a:lstStyle/>
          <a:p>
            <a:endParaRPr lang="en-US" dirty="0"/>
          </a:p>
        </p:txBody>
      </p:sp>
      <p:sp>
        <p:nvSpPr>
          <p:cNvPr id="22" name="Text 16"/>
          <p:cNvSpPr/>
          <p:nvPr/>
        </p:nvSpPr>
        <p:spPr>
          <a:xfrm>
            <a:off x="4892040" y="1234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3</a:t>
            </a:r>
            <a:endParaRPr lang="en-US" sz="1400" dirty="0"/>
          </a:p>
        </p:txBody>
      </p:sp>
      <p:sp>
        <p:nvSpPr>
          <p:cNvPr id="23" name="Shape 17"/>
          <p:cNvSpPr/>
          <p:nvPr/>
        </p:nvSpPr>
        <p:spPr>
          <a:xfrm>
            <a:off x="5440680" y="1417320"/>
            <a:ext cx="640080" cy="640080"/>
          </a:xfrm>
          <a:prstGeom prst="ellipse">
            <a:avLst/>
          </a:prstGeom>
          <a:solidFill>
            <a:srgbClr val="10B981"/>
          </a:solidFill>
          <a:ln/>
        </p:spPr>
        <p:txBody>
          <a:bodyPr/>
          <a:lstStyle/>
          <a:p>
            <a:endParaRPr lang="en-US" dirty="0"/>
          </a:p>
        </p:txBody>
      </p:sp>
      <p:pic>
        <p:nvPicPr>
          <p:cNvPr id="24" name="Image 4" descr="preencoded.png"/>
          <p:cNvPicPr>
            <a:picLocks noChangeAspect="1"/>
          </p:cNvPicPr>
          <p:nvPr/>
        </p:nvPicPr>
        <p:blipFill>
          <a:blip r:embed="rId6"/>
          <a:stretch>
            <a:fillRect/>
          </a:stretch>
        </p:blipFill>
        <p:spPr>
          <a:xfrm>
            <a:off x="5581498" y="1558138"/>
            <a:ext cx="358445" cy="358445"/>
          </a:xfrm>
          <a:prstGeom prst="rect">
            <a:avLst/>
          </a:prstGeom>
        </p:spPr>
      </p:pic>
      <p:sp>
        <p:nvSpPr>
          <p:cNvPr id="25" name="Text 18"/>
          <p:cNvSpPr/>
          <p:nvPr/>
        </p:nvSpPr>
        <p:spPr>
          <a:xfrm>
            <a:off x="4846320" y="2240280"/>
            <a:ext cx="1920240" cy="320040"/>
          </a:xfrm>
          <a:prstGeom prst="rect">
            <a:avLst/>
          </a:prstGeom>
          <a:noFill/>
          <a:ln/>
        </p:spPr>
        <p:txBody>
          <a:bodyPr wrap="square" lIns="0" tIns="0" rIns="0" bIns="0" rtlCol="0" anchor="ctr"/>
          <a:lstStyle/>
          <a:p>
            <a:pPr marL="0" indent="0" algn="ctr">
              <a:buNone/>
            </a:pPr>
            <a:r>
              <a:rPr lang="en-US" sz="1500" b="1" dirty="0">
                <a:solidFill>
                  <a:srgbClr val="1E293B"/>
                </a:solidFill>
                <a:latin typeface="Trebuchet MS" pitchFamily="34" charset="0"/>
                <a:ea typeface="Trebuchet MS" pitchFamily="34" charset="-122"/>
                <a:cs typeface="Trebuchet MS" pitchFamily="34" charset="-120"/>
              </a:rPr>
              <a:t>Act</a:t>
            </a:r>
            <a:endParaRPr lang="en-US" sz="1500" dirty="0"/>
          </a:p>
        </p:txBody>
      </p:sp>
      <p:sp>
        <p:nvSpPr>
          <p:cNvPr id="26" name="Text 19"/>
          <p:cNvSpPr/>
          <p:nvPr/>
        </p:nvSpPr>
        <p:spPr>
          <a:xfrm>
            <a:off x="4846320" y="2560320"/>
            <a:ext cx="1920240" cy="640080"/>
          </a:xfrm>
          <a:prstGeom prst="rect">
            <a:avLst/>
          </a:prstGeom>
          <a:noFill/>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Execute tool calls,</a:t>
            </a:r>
            <a:endParaRPr lang="en-US" sz="1100" dirty="0"/>
          </a:p>
          <a:p>
            <a:pPr marL="0" indent="0" algn="ctr">
              <a:buNone/>
            </a:pPr>
            <a:r>
              <a:rPr lang="en-US" sz="1100" dirty="0">
                <a:solidFill>
                  <a:srgbClr val="334155"/>
                </a:solidFill>
                <a:latin typeface="Calibri" pitchFamily="34" charset="0"/>
                <a:ea typeface="Calibri" pitchFamily="34" charset="-122"/>
                <a:cs typeface="Calibri" pitchFamily="34" charset="-120"/>
              </a:rPr>
              <a:t>API requests, code</a:t>
            </a:r>
            <a:endParaRPr lang="en-US" sz="1100" dirty="0"/>
          </a:p>
        </p:txBody>
      </p:sp>
      <p:pic>
        <p:nvPicPr>
          <p:cNvPr id="27" name="Image 5" descr="preencoded.png"/>
          <p:cNvPicPr>
            <a:picLocks noChangeAspect="1"/>
          </p:cNvPicPr>
          <p:nvPr/>
        </p:nvPicPr>
        <p:blipFill>
          <a:blip r:embed="rId4"/>
          <a:stretch>
            <a:fillRect/>
          </a:stretch>
        </p:blipFill>
        <p:spPr>
          <a:xfrm>
            <a:off x="6766560" y="2103120"/>
            <a:ext cx="274320" cy="274320"/>
          </a:xfrm>
          <a:prstGeom prst="rect">
            <a:avLst/>
          </a:prstGeom>
        </p:spPr>
      </p:pic>
      <p:sp>
        <p:nvSpPr>
          <p:cNvPr id="28" name="Shape 20"/>
          <p:cNvSpPr/>
          <p:nvPr/>
        </p:nvSpPr>
        <p:spPr>
          <a:xfrm>
            <a:off x="7040880" y="1188720"/>
            <a:ext cx="1920240" cy="2286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9" name="Shape 21"/>
          <p:cNvSpPr/>
          <p:nvPr/>
        </p:nvSpPr>
        <p:spPr>
          <a:xfrm>
            <a:off x="7086600" y="1234440"/>
            <a:ext cx="365760" cy="365760"/>
          </a:xfrm>
          <a:prstGeom prst="ellipse">
            <a:avLst/>
          </a:prstGeom>
          <a:solidFill>
            <a:srgbClr val="8B5CF6"/>
          </a:solidFill>
          <a:ln/>
        </p:spPr>
        <p:txBody>
          <a:bodyPr/>
          <a:lstStyle/>
          <a:p>
            <a:endParaRPr lang="en-US" dirty="0"/>
          </a:p>
        </p:txBody>
      </p:sp>
      <p:sp>
        <p:nvSpPr>
          <p:cNvPr id="30" name="Text 22"/>
          <p:cNvSpPr/>
          <p:nvPr/>
        </p:nvSpPr>
        <p:spPr>
          <a:xfrm>
            <a:off x="7086600" y="123444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Trebuchet MS" pitchFamily="34" charset="0"/>
                <a:ea typeface="Trebuchet MS" pitchFamily="34" charset="-122"/>
                <a:cs typeface="Trebuchet MS" pitchFamily="34" charset="-120"/>
              </a:rPr>
              <a:t>4</a:t>
            </a:r>
            <a:endParaRPr lang="en-US" sz="1400" dirty="0"/>
          </a:p>
        </p:txBody>
      </p:sp>
      <p:sp>
        <p:nvSpPr>
          <p:cNvPr id="31" name="Shape 23"/>
          <p:cNvSpPr/>
          <p:nvPr/>
        </p:nvSpPr>
        <p:spPr>
          <a:xfrm>
            <a:off x="7635240" y="1417320"/>
            <a:ext cx="640080" cy="640080"/>
          </a:xfrm>
          <a:prstGeom prst="ellipse">
            <a:avLst/>
          </a:prstGeom>
          <a:solidFill>
            <a:srgbClr val="8B5CF6"/>
          </a:solidFill>
          <a:ln/>
        </p:spPr>
        <p:txBody>
          <a:bodyPr/>
          <a:lstStyle/>
          <a:p>
            <a:endParaRPr lang="en-US" dirty="0"/>
          </a:p>
        </p:txBody>
      </p:sp>
      <p:pic>
        <p:nvPicPr>
          <p:cNvPr id="32" name="Image 6" descr="preencoded.png"/>
          <p:cNvPicPr>
            <a:picLocks noChangeAspect="1"/>
          </p:cNvPicPr>
          <p:nvPr/>
        </p:nvPicPr>
        <p:blipFill>
          <a:blip r:embed="rId7"/>
          <a:stretch>
            <a:fillRect/>
          </a:stretch>
        </p:blipFill>
        <p:spPr>
          <a:xfrm>
            <a:off x="7776058" y="1558138"/>
            <a:ext cx="358445" cy="358445"/>
          </a:xfrm>
          <a:prstGeom prst="rect">
            <a:avLst/>
          </a:prstGeom>
        </p:spPr>
      </p:pic>
      <p:sp>
        <p:nvSpPr>
          <p:cNvPr id="33" name="Text 24"/>
          <p:cNvSpPr/>
          <p:nvPr/>
        </p:nvSpPr>
        <p:spPr>
          <a:xfrm>
            <a:off x="7040880" y="2240280"/>
            <a:ext cx="1920240" cy="320040"/>
          </a:xfrm>
          <a:prstGeom prst="rect">
            <a:avLst/>
          </a:prstGeom>
          <a:noFill/>
          <a:ln/>
        </p:spPr>
        <p:txBody>
          <a:bodyPr wrap="square" lIns="0" tIns="0" rIns="0" bIns="0" rtlCol="0" anchor="ctr"/>
          <a:lstStyle/>
          <a:p>
            <a:pPr marL="0" indent="0" algn="ctr">
              <a:buNone/>
            </a:pPr>
            <a:r>
              <a:rPr lang="en-US" sz="1500" b="1" dirty="0">
                <a:solidFill>
                  <a:srgbClr val="1E293B"/>
                </a:solidFill>
                <a:latin typeface="Trebuchet MS" pitchFamily="34" charset="0"/>
                <a:ea typeface="Trebuchet MS" pitchFamily="34" charset="-122"/>
                <a:cs typeface="Trebuchet MS" pitchFamily="34" charset="-120"/>
              </a:rPr>
              <a:t>Observe</a:t>
            </a:r>
            <a:endParaRPr lang="en-US" sz="1500" dirty="0"/>
          </a:p>
        </p:txBody>
      </p:sp>
      <p:sp>
        <p:nvSpPr>
          <p:cNvPr id="34" name="Text 25"/>
          <p:cNvSpPr/>
          <p:nvPr/>
        </p:nvSpPr>
        <p:spPr>
          <a:xfrm>
            <a:off x="7040880" y="2560320"/>
            <a:ext cx="1920240" cy="640080"/>
          </a:xfrm>
          <a:prstGeom prst="rect">
            <a:avLst/>
          </a:prstGeom>
          <a:noFill/>
          <a:ln/>
        </p:spPr>
        <p:txBody>
          <a:bodyPr wrap="square" lIns="0" tIns="0" rIns="0" bIns="0" rtlCol="0" anchor="ctr"/>
          <a:lstStyle/>
          <a:p>
            <a:pPr marL="0" indent="0" algn="ctr">
              <a:buNone/>
            </a:pPr>
            <a:r>
              <a:rPr lang="en-US" sz="1100" dirty="0">
                <a:solidFill>
                  <a:srgbClr val="334155"/>
                </a:solidFill>
                <a:latin typeface="Calibri" pitchFamily="34" charset="0"/>
                <a:ea typeface="Calibri" pitchFamily="34" charset="-122"/>
                <a:cs typeface="Calibri" pitchFamily="34" charset="-120"/>
              </a:rPr>
              <a:t>Evaluate results</a:t>
            </a:r>
            <a:endParaRPr lang="en-US" sz="1100" dirty="0"/>
          </a:p>
          <a:p>
            <a:pPr marL="0" indent="0" algn="ctr">
              <a:buNone/>
            </a:pPr>
            <a:r>
              <a:rPr lang="en-US" sz="1100" dirty="0">
                <a:solidFill>
                  <a:srgbClr val="334155"/>
                </a:solidFill>
                <a:latin typeface="Calibri" pitchFamily="34" charset="0"/>
                <a:ea typeface="Calibri" pitchFamily="34" charset="-122"/>
                <a:cs typeface="Calibri" pitchFamily="34" charset="-120"/>
              </a:rPr>
              <a:t>and update state</a:t>
            </a:r>
            <a:endParaRPr lang="en-US" sz="1100" dirty="0"/>
          </a:p>
        </p:txBody>
      </p:sp>
      <p:sp>
        <p:nvSpPr>
          <p:cNvPr id="35" name="Shape 26"/>
          <p:cNvSpPr/>
          <p:nvPr/>
        </p:nvSpPr>
        <p:spPr>
          <a:xfrm>
            <a:off x="731520" y="3749040"/>
            <a:ext cx="7680960" cy="640080"/>
          </a:xfrm>
          <a:prstGeom prst="rect">
            <a:avLst/>
          </a:prstGeom>
          <a:solidFill>
            <a:srgbClr val="0F172A"/>
          </a:solidFill>
          <a:ln/>
        </p:spPr>
        <p:txBody>
          <a:bodyPr/>
          <a:lstStyle/>
          <a:p>
            <a:endParaRPr lang="en-US" dirty="0"/>
          </a:p>
        </p:txBody>
      </p:sp>
      <p:sp>
        <p:nvSpPr>
          <p:cNvPr id="36" name="Text 27"/>
          <p:cNvSpPr/>
          <p:nvPr/>
        </p:nvSpPr>
        <p:spPr>
          <a:xfrm>
            <a:off x="731520" y="3749040"/>
            <a:ext cx="7680960" cy="640080"/>
          </a:xfrm>
          <a:prstGeom prst="rect">
            <a:avLst/>
          </a:prstGeom>
          <a:noFill/>
          <a:ln/>
        </p:spPr>
        <p:txBody>
          <a:bodyPr wrap="square" lIns="0" tIns="0" rIns="0" bIns="0"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This loop repeats until the goal is achieved or a stopping condition is met — this is what makes agents autonomous.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Agentic AI vs Generative AI — Key Differences</a:t>
            </a:r>
            <a:endParaRPr lang="en-US" sz="2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3584448"/>
        </p:xfrm>
        <a:graphic>
          <a:graphicData uri="http://schemas.openxmlformats.org/drawingml/2006/table">
            <a:tbl>
              <a:tblPr/>
              <a:tblGrid>
                <a:gridCol w="15544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47472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Dimension</a:t>
                      </a:r>
                      <a:endParaRPr lang="en-US" sz="13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Generative AI</a:t>
                      </a:r>
                      <a:endParaRPr lang="en-US" sz="13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5CF6"/>
                    </a:solidFill>
                  </a:tcPr>
                </a:tc>
                <a:tc>
                  <a:txBody>
                    <a:bodyP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Agentic AI</a:t>
                      </a:r>
                      <a:endParaRPr lang="en-US" sz="13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891B2"/>
                    </a:solidFill>
                  </a:tcPr>
                </a:tc>
                <a:extLst>
                  <a:ext uri="{0D108BD9-81ED-4DB2-BD59-A6C34878D82A}">
                    <a16:rowId xmlns:a16="http://schemas.microsoft.com/office/drawing/2014/main" val="10000"/>
                  </a:ext>
                </a:extLst>
              </a:tr>
              <a:tr h="45720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Primary Goal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Generate content (text, images, code, audio)</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Achieve goals through autonomous actions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Interaction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Single prompt → single response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Multi-step loops with reasoning &amp; tool use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Autonomy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Passive — waits for input each time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Proactive — plans, decides, and acts on its own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Memory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Stateless (no memory between calls)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Stateful — retains context across steps &amp; sessions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Tool Use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None — generates output only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Calls APIs, databases, search, code execution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Adaptability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Fixed response to fixed input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Adapts strategy based on observations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457200">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ChatGPT answering a question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Agent researching, comparing &amp; booking flights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Text 2"/>
          <p:cNvSpPr/>
          <p:nvPr/>
        </p:nvSpPr>
        <p:spPr>
          <a:xfrm>
            <a:off x="731520" y="4434840"/>
            <a:ext cx="7680960" cy="411480"/>
          </a:xfrm>
          <a:prstGeom prst="rect">
            <a:avLst/>
          </a:prstGeom>
          <a:noFill/>
          <a:ln/>
        </p:spPr>
        <p:txBody>
          <a:bodyPr wrap="square" lIns="0" tIns="0" rIns="0" bIns="0" rtlCol="0" anchor="ctr"/>
          <a:lstStyle/>
          <a:p>
            <a:pPr marL="0" indent="0" algn="ctr">
              <a:buNone/>
            </a:pPr>
            <a:r>
              <a:rPr lang="en-US" sz="1200" i="1" dirty="0">
                <a:solidFill>
                  <a:srgbClr val="0891B2"/>
                </a:solidFill>
                <a:latin typeface="Calibri" pitchFamily="34" charset="0"/>
                <a:ea typeface="Calibri" pitchFamily="34" charset="-122"/>
                <a:cs typeface="Calibri" pitchFamily="34" charset="-120"/>
              </a:rPr>
              <a:t>Agentic AI builds ON TOP of Generative AI — it uses LLMs as the brain but adds tools, memory, and planning to take autonomous action.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Shape 1"/>
          <p:cNvSpPr/>
          <p:nvPr/>
        </p:nvSpPr>
        <p:spPr>
          <a:xfrm>
            <a:off x="0" y="5070348"/>
            <a:ext cx="9144000" cy="73152"/>
          </a:xfrm>
          <a:prstGeom prst="rect">
            <a:avLst/>
          </a:prstGeom>
          <a:solidFill>
            <a:srgbClr val="0891B2"/>
          </a:solidFill>
          <a:ln/>
        </p:spPr>
      </p:sp>
      <p:sp>
        <p:nvSpPr>
          <p:cNvPr id="4" name="Shape 2"/>
          <p:cNvSpPr/>
          <p:nvPr/>
        </p:nvSpPr>
        <p:spPr>
          <a:xfrm>
            <a:off x="3886200" y="457200"/>
            <a:ext cx="1371600" cy="1371600"/>
          </a:xfrm>
          <a:prstGeom prst="ellipse">
            <a:avLst/>
          </a:prstGeom>
          <a:solidFill>
            <a:srgbClr val="0891B2"/>
          </a:solidFill>
          <a:ln/>
        </p:spPr>
      </p:sp>
      <p:pic>
        <p:nvPicPr>
          <p:cNvPr id="5" name="Image 0" descr="preencoded.png"/>
          <p:cNvPicPr>
            <a:picLocks noChangeAspect="1"/>
          </p:cNvPicPr>
          <p:nvPr/>
        </p:nvPicPr>
        <p:blipFill>
          <a:blip r:embed="rId3"/>
          <a:stretch>
            <a:fillRect/>
          </a:stretch>
        </p:blipFill>
        <p:spPr>
          <a:xfrm>
            <a:off x="4187952" y="758952"/>
            <a:ext cx="768096" cy="768096"/>
          </a:xfrm>
          <a:prstGeom prst="rect">
            <a:avLst/>
          </a:prstGeom>
        </p:spPr>
      </p:pic>
      <p:sp>
        <p:nvSpPr>
          <p:cNvPr id="6" name="Text 3"/>
          <p:cNvSpPr/>
          <p:nvPr/>
        </p:nvSpPr>
        <p:spPr>
          <a:xfrm>
            <a:off x="731520" y="2011680"/>
            <a:ext cx="7680960"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Workflow in Action</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731520" y="2743200"/>
            <a:ext cx="768096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0" i="0" u="none" strike="noStrike" kern="1200" cap="none" spc="0" normalizeH="0" baseline="0" noProof="0" dirty="0">
                <a:ln>
                  <a:noFill/>
                </a:ln>
                <a:solidFill>
                  <a:srgbClr val="22D3EE"/>
                </a:solidFill>
                <a:effectLst/>
                <a:uLnTx/>
                <a:uFillTx/>
                <a:latin typeface="Trebuchet MS" pitchFamily="34" charset="0"/>
                <a:ea typeface="Trebuchet MS" pitchFamily="34" charset="-122"/>
                <a:cs typeface="Trebuchet MS" pitchFamily="34" charset="-120"/>
              </a:rPr>
              <a:t>Generative AI vs Agentic AI</a:t>
            </a:r>
            <a:endPar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731520" y="3474720"/>
            <a:ext cx="76809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A Real-World Employee Onboarding Example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731520" y="4114800"/>
            <a:ext cx="76809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How AI Agents transform complex, multi-step workflows that Generative AI alone can't handle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731520" y="91440"/>
            <a:ext cx="76809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The Scenario: Onboarding a New Employee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731520" y="1051560"/>
            <a:ext cx="7680960" cy="1463040"/>
          </a:xfrm>
          <a:prstGeom prst="rect">
            <a:avLst/>
          </a:prstGeom>
          <a:solidFill>
            <a:srgbClr val="FFFFFF"/>
          </a:solidFill>
          <a:ln/>
          <a:effectLst>
            <a:outerShdw blurRad="50800" dist="25400" dir="8100000" algn="bl" rotWithShape="0">
              <a:srgbClr val="000000">
                <a:alpha val="8000"/>
              </a:srgbClr>
            </a:outerShdw>
          </a:effectLst>
        </p:spPr>
      </p:sp>
      <p:sp>
        <p:nvSpPr>
          <p:cNvPr id="5" name="Shape 3"/>
          <p:cNvSpPr/>
          <p:nvPr/>
        </p:nvSpPr>
        <p:spPr>
          <a:xfrm>
            <a:off x="1005840" y="1234440"/>
            <a:ext cx="640080" cy="640080"/>
          </a:xfrm>
          <a:prstGeom prst="ellipse">
            <a:avLst/>
          </a:prstGeom>
          <a:solidFill>
            <a:srgbClr val="0891B2"/>
          </a:solidFill>
          <a:ln/>
        </p:spPr>
      </p:sp>
      <p:pic>
        <p:nvPicPr>
          <p:cNvPr id="6" name="Image 0" descr="preencoded.png"/>
          <p:cNvPicPr>
            <a:picLocks noChangeAspect="1"/>
          </p:cNvPicPr>
          <p:nvPr/>
        </p:nvPicPr>
        <p:blipFill>
          <a:blip r:embed="rId3"/>
          <a:stretch>
            <a:fillRect/>
          </a:stretch>
        </p:blipFill>
        <p:spPr>
          <a:xfrm>
            <a:off x="1146658" y="1375258"/>
            <a:ext cx="358445" cy="358445"/>
          </a:xfrm>
          <a:prstGeom prst="rect">
            <a:avLst/>
          </a:prstGeom>
        </p:spPr>
      </p:pic>
      <p:sp>
        <p:nvSpPr>
          <p:cNvPr id="7" name="Text 4"/>
          <p:cNvSpPr/>
          <p:nvPr/>
        </p:nvSpPr>
        <p:spPr>
          <a:xfrm>
            <a:off x="1874520" y="1097280"/>
            <a:ext cx="621792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The Request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1874520" y="1508760"/>
            <a:ext cx="630936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"Onboard Sarah Chen as a Software Engineer starting next Monday. Set up everything she needs — accounts, equipment, meetings, and documentation."</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731520" y="2788920"/>
            <a:ext cx="76809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What This Actually Requires: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4" name="Group 33">
            <a:extLst>
              <a:ext uri="{FF2B5EF4-FFF2-40B4-BE49-F238E27FC236}">
                <a16:creationId xmlns:a16="http://schemas.microsoft.com/office/drawing/2014/main" id="{17FC44AD-3C70-CB6C-9375-CCC9E79F5D22}"/>
              </a:ext>
            </a:extLst>
          </p:cNvPr>
          <p:cNvGrpSpPr/>
          <p:nvPr/>
        </p:nvGrpSpPr>
        <p:grpSpPr>
          <a:xfrm>
            <a:off x="731520" y="3246120"/>
            <a:ext cx="1828800" cy="731520"/>
            <a:chOff x="731520" y="3246120"/>
            <a:chExt cx="1828800" cy="731520"/>
          </a:xfrm>
        </p:grpSpPr>
        <p:sp>
          <p:nvSpPr>
            <p:cNvPr id="10" name="Shape 7"/>
            <p:cNvSpPr/>
            <p:nvPr/>
          </p:nvSpPr>
          <p:spPr>
            <a:xfrm>
              <a:off x="731520" y="3246120"/>
              <a:ext cx="1828800" cy="731520"/>
            </a:xfrm>
            <a:prstGeom prst="rect">
              <a:avLst/>
            </a:prstGeom>
            <a:solidFill>
              <a:srgbClr val="FFFFFF"/>
            </a:solidFill>
            <a:ln/>
            <a:effectLst>
              <a:outerShdw blurRad="50800" dist="25400" dir="8100000" algn="bl" rotWithShape="0">
                <a:srgbClr val="000000">
                  <a:alpha val="8000"/>
                </a:srgbClr>
              </a:outerShdw>
            </a:effectLst>
          </p:spPr>
        </p:sp>
        <p:pic>
          <p:nvPicPr>
            <p:cNvPr id="11" name="Image 1" descr="preencoded.png"/>
            <p:cNvPicPr>
              <a:picLocks noChangeAspect="1"/>
            </p:cNvPicPr>
            <p:nvPr/>
          </p:nvPicPr>
          <p:blipFill>
            <a:blip r:embed="rId4"/>
            <a:stretch>
              <a:fillRect/>
            </a:stretch>
          </p:blipFill>
          <p:spPr>
            <a:xfrm>
              <a:off x="822960" y="3429000"/>
              <a:ext cx="320040" cy="320040"/>
            </a:xfrm>
            <a:prstGeom prst="rect">
              <a:avLst/>
            </a:prstGeom>
          </p:spPr>
        </p:pic>
        <p:sp>
          <p:nvSpPr>
            <p:cNvPr id="12" name="Text 8"/>
            <p:cNvSpPr/>
            <p:nvPr/>
          </p:nvSpPr>
          <p:spPr>
            <a:xfrm>
              <a:off x="1188720" y="3337560"/>
              <a:ext cx="12801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Create email &amp; Slack accounts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 name="Group 34">
            <a:extLst>
              <a:ext uri="{FF2B5EF4-FFF2-40B4-BE49-F238E27FC236}">
                <a16:creationId xmlns:a16="http://schemas.microsoft.com/office/drawing/2014/main" id="{B8A3FB7E-5A17-D568-1347-93A9AF8B9325}"/>
              </a:ext>
            </a:extLst>
          </p:cNvPr>
          <p:cNvGrpSpPr/>
          <p:nvPr/>
        </p:nvGrpSpPr>
        <p:grpSpPr>
          <a:xfrm>
            <a:off x="2743200" y="3246120"/>
            <a:ext cx="1828800" cy="731520"/>
            <a:chOff x="2743200" y="3246120"/>
            <a:chExt cx="1828800" cy="731520"/>
          </a:xfrm>
        </p:grpSpPr>
        <p:sp>
          <p:nvSpPr>
            <p:cNvPr id="13" name="Shape 9"/>
            <p:cNvSpPr/>
            <p:nvPr/>
          </p:nvSpPr>
          <p:spPr>
            <a:xfrm>
              <a:off x="2743200" y="3246120"/>
              <a:ext cx="1828800" cy="731520"/>
            </a:xfrm>
            <a:prstGeom prst="rect">
              <a:avLst/>
            </a:prstGeom>
            <a:solidFill>
              <a:srgbClr val="FFFFFF"/>
            </a:solidFill>
            <a:ln/>
            <a:effectLst>
              <a:outerShdw blurRad="50800" dist="25400" dir="8100000" algn="bl" rotWithShape="0">
                <a:srgbClr val="000000">
                  <a:alpha val="8000"/>
                </a:srgbClr>
              </a:outerShdw>
            </a:effectLst>
          </p:spPr>
        </p:sp>
        <p:pic>
          <p:nvPicPr>
            <p:cNvPr id="14" name="Image 2" descr="preencoded.png"/>
            <p:cNvPicPr>
              <a:picLocks noChangeAspect="1"/>
            </p:cNvPicPr>
            <p:nvPr/>
          </p:nvPicPr>
          <p:blipFill>
            <a:blip r:embed="rId5"/>
            <a:stretch>
              <a:fillRect/>
            </a:stretch>
          </p:blipFill>
          <p:spPr>
            <a:xfrm>
              <a:off x="2834640" y="3429000"/>
              <a:ext cx="320040" cy="320040"/>
            </a:xfrm>
            <a:prstGeom prst="rect">
              <a:avLst/>
            </a:prstGeom>
          </p:spPr>
        </p:pic>
        <p:sp>
          <p:nvSpPr>
            <p:cNvPr id="15" name="Text 10"/>
            <p:cNvSpPr/>
            <p:nvPr/>
          </p:nvSpPr>
          <p:spPr>
            <a:xfrm>
              <a:off x="3200400" y="3337560"/>
              <a:ext cx="12801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Provision laptop &amp; dev tools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6" name="Group 35">
            <a:extLst>
              <a:ext uri="{FF2B5EF4-FFF2-40B4-BE49-F238E27FC236}">
                <a16:creationId xmlns:a16="http://schemas.microsoft.com/office/drawing/2014/main" id="{A06BB6FE-5F34-711C-766A-72B79B51E58B}"/>
              </a:ext>
            </a:extLst>
          </p:cNvPr>
          <p:cNvGrpSpPr/>
          <p:nvPr/>
        </p:nvGrpSpPr>
        <p:grpSpPr>
          <a:xfrm>
            <a:off x="4754880" y="3246120"/>
            <a:ext cx="1828800" cy="731520"/>
            <a:chOff x="4754880" y="3246120"/>
            <a:chExt cx="1828800" cy="731520"/>
          </a:xfrm>
        </p:grpSpPr>
        <p:sp>
          <p:nvSpPr>
            <p:cNvPr id="16" name="Shape 11"/>
            <p:cNvSpPr/>
            <p:nvPr/>
          </p:nvSpPr>
          <p:spPr>
            <a:xfrm>
              <a:off x="4754880" y="3246120"/>
              <a:ext cx="1828800" cy="731520"/>
            </a:xfrm>
            <a:prstGeom prst="rect">
              <a:avLst/>
            </a:prstGeom>
            <a:solidFill>
              <a:srgbClr val="FFFFFF"/>
            </a:solidFill>
            <a:ln/>
            <a:effectLst>
              <a:outerShdw blurRad="50800" dist="25400" dir="8100000" algn="bl" rotWithShape="0">
                <a:srgbClr val="000000">
                  <a:alpha val="8000"/>
                </a:srgbClr>
              </a:outerShdw>
            </a:effectLst>
          </p:spPr>
        </p:sp>
        <p:pic>
          <p:nvPicPr>
            <p:cNvPr id="17" name="Image 3" descr="preencoded.png"/>
            <p:cNvPicPr>
              <a:picLocks noChangeAspect="1"/>
            </p:cNvPicPr>
            <p:nvPr/>
          </p:nvPicPr>
          <p:blipFill>
            <a:blip r:embed="rId6"/>
            <a:stretch>
              <a:fillRect/>
            </a:stretch>
          </p:blipFill>
          <p:spPr>
            <a:xfrm>
              <a:off x="4846320" y="3429000"/>
              <a:ext cx="320040" cy="320040"/>
            </a:xfrm>
            <a:prstGeom prst="rect">
              <a:avLst/>
            </a:prstGeom>
          </p:spPr>
        </p:pic>
        <p:sp>
          <p:nvSpPr>
            <p:cNvPr id="18" name="Text 12"/>
            <p:cNvSpPr/>
            <p:nvPr/>
          </p:nvSpPr>
          <p:spPr>
            <a:xfrm>
              <a:off x="5212080" y="3337560"/>
              <a:ext cx="12801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Generate access credentials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7" name="Group 36">
            <a:extLst>
              <a:ext uri="{FF2B5EF4-FFF2-40B4-BE49-F238E27FC236}">
                <a16:creationId xmlns:a16="http://schemas.microsoft.com/office/drawing/2014/main" id="{2BACE1BB-1F31-5315-22CC-D1CD8050028D}"/>
              </a:ext>
            </a:extLst>
          </p:cNvPr>
          <p:cNvGrpSpPr/>
          <p:nvPr/>
        </p:nvGrpSpPr>
        <p:grpSpPr>
          <a:xfrm>
            <a:off x="6766560" y="3246120"/>
            <a:ext cx="1828800" cy="731520"/>
            <a:chOff x="6766560" y="3246120"/>
            <a:chExt cx="1828800" cy="731520"/>
          </a:xfrm>
        </p:grpSpPr>
        <p:sp>
          <p:nvSpPr>
            <p:cNvPr id="19" name="Shape 13"/>
            <p:cNvSpPr/>
            <p:nvPr/>
          </p:nvSpPr>
          <p:spPr>
            <a:xfrm>
              <a:off x="6766560" y="3246120"/>
              <a:ext cx="1828800" cy="731520"/>
            </a:xfrm>
            <a:prstGeom prst="rect">
              <a:avLst/>
            </a:prstGeom>
            <a:solidFill>
              <a:srgbClr val="FFFFFF"/>
            </a:solidFill>
            <a:ln/>
            <a:effectLst>
              <a:outerShdw blurRad="50800" dist="25400" dir="8100000" algn="bl" rotWithShape="0">
                <a:srgbClr val="000000">
                  <a:alpha val="8000"/>
                </a:srgbClr>
              </a:outerShdw>
            </a:effectLst>
          </p:spPr>
        </p:sp>
        <p:pic>
          <p:nvPicPr>
            <p:cNvPr id="20" name="Image 4" descr="preencoded.png"/>
            <p:cNvPicPr>
              <a:picLocks noChangeAspect="1"/>
            </p:cNvPicPr>
            <p:nvPr/>
          </p:nvPicPr>
          <p:blipFill>
            <a:blip r:embed="rId7"/>
            <a:stretch>
              <a:fillRect/>
            </a:stretch>
          </p:blipFill>
          <p:spPr>
            <a:xfrm>
              <a:off x="6858000" y="3429000"/>
              <a:ext cx="320040" cy="320040"/>
            </a:xfrm>
            <a:prstGeom prst="rect">
              <a:avLst/>
            </a:prstGeom>
          </p:spPr>
        </p:pic>
        <p:sp>
          <p:nvSpPr>
            <p:cNvPr id="21" name="Text 14"/>
            <p:cNvSpPr/>
            <p:nvPr/>
          </p:nvSpPr>
          <p:spPr>
            <a:xfrm>
              <a:off x="7223760" y="3337560"/>
              <a:ext cx="12801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Schedule orientation meetings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 name="Group 37">
            <a:extLst>
              <a:ext uri="{FF2B5EF4-FFF2-40B4-BE49-F238E27FC236}">
                <a16:creationId xmlns:a16="http://schemas.microsoft.com/office/drawing/2014/main" id="{4AA30F84-4818-AAB5-8AA3-B9FE88E513F4}"/>
              </a:ext>
            </a:extLst>
          </p:cNvPr>
          <p:cNvGrpSpPr/>
          <p:nvPr/>
        </p:nvGrpSpPr>
        <p:grpSpPr>
          <a:xfrm>
            <a:off x="731520" y="4160520"/>
            <a:ext cx="1828800" cy="731520"/>
            <a:chOff x="731520" y="4160520"/>
            <a:chExt cx="1828800" cy="731520"/>
          </a:xfrm>
        </p:grpSpPr>
        <p:sp>
          <p:nvSpPr>
            <p:cNvPr id="22" name="Shape 15"/>
            <p:cNvSpPr/>
            <p:nvPr/>
          </p:nvSpPr>
          <p:spPr>
            <a:xfrm>
              <a:off x="731520" y="4160520"/>
              <a:ext cx="1828800" cy="731520"/>
            </a:xfrm>
            <a:prstGeom prst="rect">
              <a:avLst/>
            </a:prstGeom>
            <a:solidFill>
              <a:srgbClr val="FFFFFF"/>
            </a:solidFill>
            <a:ln/>
            <a:effectLst>
              <a:outerShdw blurRad="50800" dist="25400" dir="8100000" algn="bl" rotWithShape="0">
                <a:srgbClr val="000000">
                  <a:alpha val="8000"/>
                </a:srgbClr>
              </a:outerShdw>
            </a:effectLst>
          </p:spPr>
        </p:sp>
        <p:pic>
          <p:nvPicPr>
            <p:cNvPr id="23" name="Image 5" descr="preencoded.png"/>
            <p:cNvPicPr>
              <a:picLocks noChangeAspect="1"/>
            </p:cNvPicPr>
            <p:nvPr/>
          </p:nvPicPr>
          <p:blipFill>
            <a:blip r:embed="rId8"/>
            <a:stretch>
              <a:fillRect/>
            </a:stretch>
          </p:blipFill>
          <p:spPr>
            <a:xfrm>
              <a:off x="822960" y="4343400"/>
              <a:ext cx="320040" cy="320040"/>
            </a:xfrm>
            <a:prstGeom prst="rect">
              <a:avLst/>
            </a:prstGeom>
          </p:spPr>
        </p:pic>
        <p:sp>
          <p:nvSpPr>
            <p:cNvPr id="24" name="Text 16"/>
            <p:cNvSpPr/>
            <p:nvPr/>
          </p:nvSpPr>
          <p:spPr>
            <a:xfrm>
              <a:off x="1188720" y="4251960"/>
              <a:ext cx="12801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Assign onboarding buddy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9" name="Group 38">
            <a:extLst>
              <a:ext uri="{FF2B5EF4-FFF2-40B4-BE49-F238E27FC236}">
                <a16:creationId xmlns:a16="http://schemas.microsoft.com/office/drawing/2014/main" id="{08CFD5CB-65E7-AE2D-236E-3043BF96E7B0}"/>
              </a:ext>
            </a:extLst>
          </p:cNvPr>
          <p:cNvGrpSpPr/>
          <p:nvPr/>
        </p:nvGrpSpPr>
        <p:grpSpPr>
          <a:xfrm>
            <a:off x="2743200" y="4160520"/>
            <a:ext cx="1828800" cy="731520"/>
            <a:chOff x="2743200" y="4160520"/>
            <a:chExt cx="1828800" cy="731520"/>
          </a:xfrm>
        </p:grpSpPr>
        <p:sp>
          <p:nvSpPr>
            <p:cNvPr id="25" name="Shape 17"/>
            <p:cNvSpPr/>
            <p:nvPr/>
          </p:nvSpPr>
          <p:spPr>
            <a:xfrm>
              <a:off x="2743200" y="4160520"/>
              <a:ext cx="1828800" cy="731520"/>
            </a:xfrm>
            <a:prstGeom prst="rect">
              <a:avLst/>
            </a:prstGeom>
            <a:solidFill>
              <a:srgbClr val="FFFFFF"/>
            </a:solidFill>
            <a:ln/>
            <a:effectLst>
              <a:outerShdw blurRad="50800" dist="25400" dir="8100000" algn="bl" rotWithShape="0">
                <a:srgbClr val="000000">
                  <a:alpha val="8000"/>
                </a:srgbClr>
              </a:outerShdw>
            </a:effectLst>
          </p:spPr>
        </p:sp>
        <p:pic>
          <p:nvPicPr>
            <p:cNvPr id="26" name="Image 6" descr="preencoded.png"/>
            <p:cNvPicPr>
              <a:picLocks noChangeAspect="1"/>
            </p:cNvPicPr>
            <p:nvPr/>
          </p:nvPicPr>
          <p:blipFill>
            <a:blip r:embed="rId4"/>
            <a:stretch>
              <a:fillRect/>
            </a:stretch>
          </p:blipFill>
          <p:spPr>
            <a:xfrm>
              <a:off x="2834640" y="4343400"/>
              <a:ext cx="320040" cy="320040"/>
            </a:xfrm>
            <a:prstGeom prst="rect">
              <a:avLst/>
            </a:prstGeom>
          </p:spPr>
        </p:pic>
        <p:sp>
          <p:nvSpPr>
            <p:cNvPr id="27" name="Text 18"/>
            <p:cNvSpPr/>
            <p:nvPr/>
          </p:nvSpPr>
          <p:spPr>
            <a:xfrm>
              <a:off x="3200400" y="4251960"/>
              <a:ext cx="12801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Send welcome package email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0" name="Group 39">
            <a:extLst>
              <a:ext uri="{FF2B5EF4-FFF2-40B4-BE49-F238E27FC236}">
                <a16:creationId xmlns:a16="http://schemas.microsoft.com/office/drawing/2014/main" id="{EB01B843-C903-163D-AAAE-8D7564396E09}"/>
              </a:ext>
            </a:extLst>
          </p:cNvPr>
          <p:cNvGrpSpPr/>
          <p:nvPr/>
        </p:nvGrpSpPr>
        <p:grpSpPr>
          <a:xfrm>
            <a:off x="4754880" y="4160520"/>
            <a:ext cx="1828800" cy="731520"/>
            <a:chOff x="4754880" y="4160520"/>
            <a:chExt cx="1828800" cy="731520"/>
          </a:xfrm>
        </p:grpSpPr>
        <p:sp>
          <p:nvSpPr>
            <p:cNvPr id="28" name="Shape 19"/>
            <p:cNvSpPr/>
            <p:nvPr/>
          </p:nvSpPr>
          <p:spPr>
            <a:xfrm>
              <a:off x="4754880" y="4160520"/>
              <a:ext cx="1828800" cy="731520"/>
            </a:xfrm>
            <a:prstGeom prst="rect">
              <a:avLst/>
            </a:prstGeom>
            <a:solidFill>
              <a:srgbClr val="FFFFFF"/>
            </a:solidFill>
            <a:ln/>
            <a:effectLst>
              <a:outerShdw blurRad="50800" dist="25400" dir="8100000" algn="bl" rotWithShape="0">
                <a:srgbClr val="000000">
                  <a:alpha val="8000"/>
                </a:srgbClr>
              </a:outerShdw>
            </a:effectLst>
          </p:spPr>
        </p:sp>
        <p:pic>
          <p:nvPicPr>
            <p:cNvPr id="29" name="Image 7" descr="preencoded.png"/>
            <p:cNvPicPr>
              <a:picLocks noChangeAspect="1"/>
            </p:cNvPicPr>
            <p:nvPr/>
          </p:nvPicPr>
          <p:blipFill>
            <a:blip r:embed="rId9"/>
            <a:stretch>
              <a:fillRect/>
            </a:stretch>
          </p:blipFill>
          <p:spPr>
            <a:xfrm>
              <a:off x="4846320" y="4343400"/>
              <a:ext cx="320040" cy="320040"/>
            </a:xfrm>
            <a:prstGeom prst="rect">
              <a:avLst/>
            </a:prstGeom>
          </p:spPr>
        </p:pic>
        <p:sp>
          <p:nvSpPr>
            <p:cNvPr id="30" name="Text 20"/>
            <p:cNvSpPr/>
            <p:nvPr/>
          </p:nvSpPr>
          <p:spPr>
            <a:xfrm>
              <a:off x="5212080" y="4251960"/>
              <a:ext cx="12801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Create HR records &amp; payroll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1" name="Group 40">
            <a:extLst>
              <a:ext uri="{FF2B5EF4-FFF2-40B4-BE49-F238E27FC236}">
                <a16:creationId xmlns:a16="http://schemas.microsoft.com/office/drawing/2014/main" id="{B57CF5D8-553C-2995-31D8-050FF5990136}"/>
              </a:ext>
            </a:extLst>
          </p:cNvPr>
          <p:cNvGrpSpPr/>
          <p:nvPr/>
        </p:nvGrpSpPr>
        <p:grpSpPr>
          <a:xfrm>
            <a:off x="6766560" y="4160520"/>
            <a:ext cx="1828800" cy="731520"/>
            <a:chOff x="6766560" y="4160520"/>
            <a:chExt cx="1828800" cy="731520"/>
          </a:xfrm>
        </p:grpSpPr>
        <p:sp>
          <p:nvSpPr>
            <p:cNvPr id="31" name="Shape 21"/>
            <p:cNvSpPr/>
            <p:nvPr/>
          </p:nvSpPr>
          <p:spPr>
            <a:xfrm>
              <a:off x="6766560" y="4160520"/>
              <a:ext cx="1828800" cy="731520"/>
            </a:xfrm>
            <a:prstGeom prst="rect">
              <a:avLst/>
            </a:prstGeom>
            <a:solidFill>
              <a:srgbClr val="FFFFFF"/>
            </a:solidFill>
            <a:ln/>
            <a:effectLst>
              <a:outerShdw blurRad="50800" dist="25400" dir="8100000" algn="bl" rotWithShape="0">
                <a:srgbClr val="000000">
                  <a:alpha val="8000"/>
                </a:srgbClr>
              </a:outerShdw>
            </a:effectLst>
          </p:spPr>
        </p:sp>
        <p:pic>
          <p:nvPicPr>
            <p:cNvPr id="32" name="Image 8" descr="preencoded.png"/>
            <p:cNvPicPr>
              <a:picLocks noChangeAspect="1"/>
            </p:cNvPicPr>
            <p:nvPr/>
          </p:nvPicPr>
          <p:blipFill>
            <a:blip r:embed="rId10"/>
            <a:stretch>
              <a:fillRect/>
            </a:stretch>
          </p:blipFill>
          <p:spPr>
            <a:xfrm>
              <a:off x="6858000" y="4343400"/>
              <a:ext cx="320040" cy="320040"/>
            </a:xfrm>
            <a:prstGeom prst="rect">
              <a:avLst/>
            </a:prstGeom>
          </p:spPr>
        </p:pic>
        <p:sp>
          <p:nvSpPr>
            <p:cNvPr id="33" name="Text 22"/>
            <p:cNvSpPr/>
            <p:nvPr/>
          </p:nvSpPr>
          <p:spPr>
            <a:xfrm>
              <a:off x="7223760" y="4251960"/>
              <a:ext cx="12801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Notify the team on Slack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additive="base">
                                        <p:cTn id="7" dur="500" fill="hold"/>
                                        <p:tgtEl>
                                          <p:spTgt spid="9"/>
                                        </p:tgtEl>
                                        <p:attrNameLst>
                                          <p:attrName>ppt_x</p:attrName>
                                        </p:attrNameLst>
                                      </p:cBhvr>
                                      <p:tavLst>
                                        <p:tav tm="0">
                                          <p:val>
                                            <p:strVal val="#ppt_x"/>
                                          </p:val>
                                        </p:tav>
                                        <p:tav tm="100000">
                                          <p:val>
                                            <p:strVal val="#ppt_x"/>
                                          </p:val>
                                        </p:tav>
                                      </p:tavLst>
                                    </p:anim>
                                    <p:anim calcmode="lin" valueType="num">
                                      <p:cBhvr additive="base">
                                        <p:cTn id="8"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731520" y="91440"/>
            <a:ext cx="76809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Approach 1: Using Generative AI (ChatGPT / Claude)</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41" name="Group 40">
            <a:extLst>
              <a:ext uri="{FF2B5EF4-FFF2-40B4-BE49-F238E27FC236}">
                <a16:creationId xmlns:a16="http://schemas.microsoft.com/office/drawing/2014/main" id="{BAD7F0AE-93B2-13D7-5D30-44F8F2B5D7E7}"/>
              </a:ext>
            </a:extLst>
          </p:cNvPr>
          <p:cNvGrpSpPr/>
          <p:nvPr/>
        </p:nvGrpSpPr>
        <p:grpSpPr>
          <a:xfrm>
            <a:off x="731520" y="1097280"/>
            <a:ext cx="4114800" cy="3657600"/>
            <a:chOff x="731520" y="1097280"/>
            <a:chExt cx="4114800" cy="3657600"/>
          </a:xfrm>
        </p:grpSpPr>
        <p:sp>
          <p:nvSpPr>
            <p:cNvPr id="4" name="Shape 2"/>
            <p:cNvSpPr/>
            <p:nvPr/>
          </p:nvSpPr>
          <p:spPr>
            <a:xfrm>
              <a:off x="731520" y="1097280"/>
              <a:ext cx="4114800" cy="3657600"/>
            </a:xfrm>
            <a:prstGeom prst="rect">
              <a:avLst/>
            </a:prstGeom>
            <a:solidFill>
              <a:srgbClr val="FFFFFF"/>
            </a:solidFill>
            <a:ln/>
            <a:effectLst>
              <a:outerShdw blurRad="50800" dist="25400" dir="8100000" algn="bl" rotWithShape="0">
                <a:srgbClr val="000000">
                  <a:alpha val="8000"/>
                </a:srgbClr>
              </a:outerShdw>
            </a:effectLst>
          </p:spPr>
        </p:sp>
        <p:sp>
          <p:nvSpPr>
            <p:cNvPr id="5" name="Shape 3"/>
            <p:cNvSpPr/>
            <p:nvPr/>
          </p:nvSpPr>
          <p:spPr>
            <a:xfrm>
              <a:off x="731520" y="1097280"/>
              <a:ext cx="4114800" cy="54864"/>
            </a:xfrm>
            <a:prstGeom prst="rect">
              <a:avLst/>
            </a:prstGeom>
            <a:solidFill>
              <a:srgbClr val="8B5CF6"/>
            </a:solidFill>
            <a:ln/>
          </p:spPr>
        </p:sp>
        <p:sp>
          <p:nvSpPr>
            <p:cNvPr id="6" name="Text 4"/>
            <p:cNvSpPr/>
            <p:nvPr/>
          </p:nvSpPr>
          <p:spPr>
            <a:xfrm>
              <a:off x="914400" y="1234440"/>
              <a:ext cx="37490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What You Do (Human)</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914400" y="1691640"/>
              <a:ext cx="274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Calibri" pitchFamily="34" charset="0"/>
                  <a:ea typeface="Calibri" pitchFamily="34" charset="-122"/>
                  <a:cs typeface="Calibri" pitchFamily="34" charset="-120"/>
                </a:rPr>
                <a:t>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234440" y="1691640"/>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Calibri" pitchFamily="34" charset="0"/>
                  <a:ea typeface="Calibri" pitchFamily="34" charset="-122"/>
                  <a:cs typeface="Calibri" pitchFamily="34" charset="-120"/>
                </a:rPr>
                <a:t>Prompt: "Create an onboarding checklist for a new SWE"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914400" y="2020824"/>
              <a:ext cx="274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Calibri" pitchFamily="34" charset="0"/>
                  <a:ea typeface="Calibri" pitchFamily="34" charset="-122"/>
                  <a:cs typeface="Calibri" pitchFamily="34" charset="-120"/>
                </a:rPr>
                <a:t>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234440" y="2020824"/>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Calibri" pitchFamily="34" charset="0"/>
                  <a:ea typeface="Calibri" pitchFamily="34" charset="-122"/>
                  <a:cs typeface="Calibri" pitchFamily="34" charset="-120"/>
                </a:rPr>
                <a:t>Read the generated checklist (text only)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914400" y="2350008"/>
              <a:ext cx="274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234440" y="2350008"/>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Manually create the email account in Google Admin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914400" y="2679192"/>
              <a:ext cx="274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234440" y="2679192"/>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Manually create the Slack account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914400" y="3008376"/>
              <a:ext cx="274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234440" y="3008376"/>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Manually order &amp; provision the laptop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914400" y="3337560"/>
              <a:ext cx="274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6.</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234440" y="3337560"/>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Manually schedule 5+ meetings in calendar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914400" y="3666744"/>
              <a:ext cx="274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7.</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234440" y="3666744"/>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Manually send welcome email (copy-paste from AI)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914400" y="3995928"/>
              <a:ext cx="274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8.</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234440" y="3995928"/>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Manually update HR system &amp; payroll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1"/>
            <p:cNvSpPr/>
            <p:nvPr/>
          </p:nvSpPr>
          <p:spPr>
            <a:xfrm>
              <a:off x="914400" y="4325112"/>
              <a:ext cx="27432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9.</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2"/>
            <p:cNvSpPr/>
            <p:nvPr/>
          </p:nvSpPr>
          <p:spPr>
            <a:xfrm>
              <a:off x="1234440" y="4325112"/>
              <a:ext cx="338328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Manually post team announcement on Slack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2" name="Group 41">
            <a:extLst>
              <a:ext uri="{FF2B5EF4-FFF2-40B4-BE49-F238E27FC236}">
                <a16:creationId xmlns:a16="http://schemas.microsoft.com/office/drawing/2014/main" id="{438C41C5-8073-0B52-1E24-A31931FC381F}"/>
              </a:ext>
            </a:extLst>
          </p:cNvPr>
          <p:cNvGrpSpPr/>
          <p:nvPr/>
        </p:nvGrpSpPr>
        <p:grpSpPr>
          <a:xfrm>
            <a:off x="5120640" y="1097280"/>
            <a:ext cx="3474720" cy="2194560"/>
            <a:chOff x="5120640" y="1097280"/>
            <a:chExt cx="3474720" cy="2194560"/>
          </a:xfrm>
        </p:grpSpPr>
        <p:sp>
          <p:nvSpPr>
            <p:cNvPr id="25" name="Shape 23"/>
            <p:cNvSpPr/>
            <p:nvPr/>
          </p:nvSpPr>
          <p:spPr>
            <a:xfrm>
              <a:off x="5120640" y="1097280"/>
              <a:ext cx="3474720" cy="2194560"/>
            </a:xfrm>
            <a:prstGeom prst="rect">
              <a:avLst/>
            </a:prstGeom>
            <a:solidFill>
              <a:srgbClr val="FFFFFF"/>
            </a:solidFill>
            <a:ln/>
            <a:effectLst>
              <a:outerShdw blurRad="50800" dist="25400" dir="8100000" algn="bl" rotWithShape="0">
                <a:srgbClr val="000000">
                  <a:alpha val="8000"/>
                </a:srgbClr>
              </a:outerShdw>
            </a:effectLst>
          </p:spPr>
        </p:sp>
        <p:sp>
          <p:nvSpPr>
            <p:cNvPr id="26" name="Shape 24"/>
            <p:cNvSpPr/>
            <p:nvPr/>
          </p:nvSpPr>
          <p:spPr>
            <a:xfrm>
              <a:off x="5120640" y="1097280"/>
              <a:ext cx="3474720" cy="54864"/>
            </a:xfrm>
            <a:prstGeom prst="rect">
              <a:avLst/>
            </a:prstGeom>
            <a:solidFill>
              <a:srgbClr val="EF4444"/>
            </a:solidFill>
            <a:ln/>
          </p:spPr>
        </p:sp>
        <p:sp>
          <p:nvSpPr>
            <p:cNvPr id="27" name="Text 25"/>
            <p:cNvSpPr/>
            <p:nvPr/>
          </p:nvSpPr>
          <p:spPr>
            <a:xfrm>
              <a:off x="5303520" y="1234440"/>
              <a:ext cx="310896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What GenAI Actually Does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8" name="Image 0" descr="preencoded.png"/>
            <p:cNvPicPr>
              <a:picLocks noChangeAspect="1"/>
            </p:cNvPicPr>
            <p:nvPr/>
          </p:nvPicPr>
          <p:blipFill>
            <a:blip r:embed="rId3"/>
            <a:stretch>
              <a:fillRect/>
            </a:stretch>
          </p:blipFill>
          <p:spPr>
            <a:xfrm>
              <a:off x="5349240" y="1691640"/>
              <a:ext cx="274320" cy="274320"/>
            </a:xfrm>
            <a:prstGeom prst="rect">
              <a:avLst/>
            </a:prstGeom>
          </p:spPr>
        </p:pic>
        <p:sp>
          <p:nvSpPr>
            <p:cNvPr id="29" name="Text 26"/>
            <p:cNvSpPr/>
            <p:nvPr/>
          </p:nvSpPr>
          <p:spPr>
            <a:xfrm>
              <a:off x="5715000" y="1691640"/>
              <a:ext cx="2651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Generates a checklist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0" name="Image 1" descr="preencoded.png"/>
            <p:cNvPicPr>
              <a:picLocks noChangeAspect="1"/>
            </p:cNvPicPr>
            <p:nvPr/>
          </p:nvPicPr>
          <p:blipFill>
            <a:blip r:embed="rId3"/>
            <a:stretch>
              <a:fillRect/>
            </a:stretch>
          </p:blipFill>
          <p:spPr>
            <a:xfrm>
              <a:off x="5349240" y="2057400"/>
              <a:ext cx="274320" cy="274320"/>
            </a:xfrm>
            <a:prstGeom prst="rect">
              <a:avLst/>
            </a:prstGeom>
          </p:spPr>
        </p:pic>
        <p:sp>
          <p:nvSpPr>
            <p:cNvPr id="31" name="Text 27"/>
            <p:cNvSpPr/>
            <p:nvPr/>
          </p:nvSpPr>
          <p:spPr>
            <a:xfrm>
              <a:off x="5715000" y="2057400"/>
              <a:ext cx="2651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Drafts a welcome email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2" name="Image 2" descr="preencoded.png"/>
            <p:cNvPicPr>
              <a:picLocks noChangeAspect="1"/>
            </p:cNvPicPr>
            <p:nvPr/>
          </p:nvPicPr>
          <p:blipFill>
            <a:blip r:embed="rId4"/>
            <a:stretch>
              <a:fillRect/>
            </a:stretch>
          </p:blipFill>
          <p:spPr>
            <a:xfrm>
              <a:off x="5349240" y="2423160"/>
              <a:ext cx="274320" cy="274320"/>
            </a:xfrm>
            <a:prstGeom prst="rect">
              <a:avLst/>
            </a:prstGeom>
          </p:spPr>
        </p:pic>
        <p:sp>
          <p:nvSpPr>
            <p:cNvPr id="33" name="Text 28"/>
            <p:cNvSpPr/>
            <p:nvPr/>
          </p:nvSpPr>
          <p:spPr>
            <a:xfrm>
              <a:off x="5715000" y="2423160"/>
              <a:ext cx="2651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Can't create accounts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4" name="Image 3" descr="preencoded.png"/>
            <p:cNvPicPr>
              <a:picLocks noChangeAspect="1"/>
            </p:cNvPicPr>
            <p:nvPr/>
          </p:nvPicPr>
          <p:blipFill>
            <a:blip r:embed="rId4"/>
            <a:stretch>
              <a:fillRect/>
            </a:stretch>
          </p:blipFill>
          <p:spPr>
            <a:xfrm>
              <a:off x="5349240" y="2697480"/>
              <a:ext cx="274320" cy="274320"/>
            </a:xfrm>
            <a:prstGeom prst="rect">
              <a:avLst/>
            </a:prstGeom>
          </p:spPr>
        </p:pic>
        <p:sp>
          <p:nvSpPr>
            <p:cNvPr id="35" name="Text 29"/>
            <p:cNvSpPr/>
            <p:nvPr/>
          </p:nvSpPr>
          <p:spPr>
            <a:xfrm>
              <a:off x="5715000" y="2697480"/>
              <a:ext cx="26517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Can't access any systems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43" name="Group 42">
            <a:extLst>
              <a:ext uri="{FF2B5EF4-FFF2-40B4-BE49-F238E27FC236}">
                <a16:creationId xmlns:a16="http://schemas.microsoft.com/office/drawing/2014/main" id="{F0BCA467-7B05-3373-136F-8C90E3786A09}"/>
              </a:ext>
            </a:extLst>
          </p:cNvPr>
          <p:cNvGrpSpPr/>
          <p:nvPr/>
        </p:nvGrpSpPr>
        <p:grpSpPr>
          <a:xfrm>
            <a:off x="5120640" y="3474720"/>
            <a:ext cx="3474720" cy="1280160"/>
            <a:chOff x="5120640" y="3474720"/>
            <a:chExt cx="3474720" cy="1280160"/>
          </a:xfrm>
        </p:grpSpPr>
        <p:sp>
          <p:nvSpPr>
            <p:cNvPr id="36" name="Shape 30"/>
            <p:cNvSpPr/>
            <p:nvPr/>
          </p:nvSpPr>
          <p:spPr>
            <a:xfrm>
              <a:off x="5120640" y="3474720"/>
              <a:ext cx="3474720" cy="1280160"/>
            </a:xfrm>
            <a:prstGeom prst="rect">
              <a:avLst/>
            </a:prstGeom>
            <a:solidFill>
              <a:srgbClr val="FEE2E2"/>
            </a:solidFill>
            <a:ln/>
            <a:effectLst>
              <a:outerShdw blurRad="50800" dist="25400" dir="8100000" algn="bl" rotWithShape="0">
                <a:srgbClr val="000000">
                  <a:alpha val="8000"/>
                </a:srgbClr>
              </a:outerShdw>
            </a:effectLst>
          </p:spPr>
        </p:sp>
        <p:sp>
          <p:nvSpPr>
            <p:cNvPr id="37" name="Shape 31"/>
            <p:cNvSpPr/>
            <p:nvPr/>
          </p:nvSpPr>
          <p:spPr>
            <a:xfrm>
              <a:off x="5303520" y="3611880"/>
              <a:ext cx="457200" cy="457200"/>
            </a:xfrm>
            <a:prstGeom prst="ellipse">
              <a:avLst/>
            </a:prstGeom>
            <a:solidFill>
              <a:srgbClr val="EF4444"/>
            </a:solidFill>
            <a:ln/>
          </p:spPr>
        </p:sp>
        <p:pic>
          <p:nvPicPr>
            <p:cNvPr id="38" name="Image 4" descr="preencoded.png"/>
            <p:cNvPicPr>
              <a:picLocks noChangeAspect="1"/>
            </p:cNvPicPr>
            <p:nvPr/>
          </p:nvPicPr>
          <p:blipFill>
            <a:blip r:embed="rId5"/>
            <a:stretch>
              <a:fillRect/>
            </a:stretch>
          </p:blipFill>
          <p:spPr>
            <a:xfrm>
              <a:off x="5404104" y="3712464"/>
              <a:ext cx="256032" cy="256032"/>
            </a:xfrm>
            <a:prstGeom prst="rect">
              <a:avLst/>
            </a:prstGeom>
          </p:spPr>
        </p:pic>
        <p:sp>
          <p:nvSpPr>
            <p:cNvPr id="39" name="Text 32"/>
            <p:cNvSpPr/>
            <p:nvPr/>
          </p:nvSpPr>
          <p:spPr>
            <a:xfrm>
              <a:off x="5897880" y="356616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Result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3"/>
            <p:cNvSpPr/>
            <p:nvPr/>
          </p:nvSpPr>
          <p:spPr>
            <a:xfrm>
              <a:off x="5303520" y="3977640"/>
              <a:ext cx="310896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You get TEXT output only.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You still do 90% of the work manually.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Time: 2-3 hours of clicking through systems.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down)">
                                      <p:cBhvr>
                                        <p:cTn id="7" dur="500"/>
                                        <p:tgtEl>
                                          <p:spTgt spid="41"/>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2"/>
                                        </p:tgtEl>
                                        <p:attrNameLst>
                                          <p:attrName>style.visibility</p:attrName>
                                        </p:attrNameLst>
                                      </p:cBhvr>
                                      <p:to>
                                        <p:strVal val="visible"/>
                                      </p:to>
                                    </p:set>
                                    <p:anim calcmode="lin" valueType="num">
                                      <p:cBhvr additive="base">
                                        <p:cTn id="12" dur="500" fill="hold"/>
                                        <p:tgtEl>
                                          <p:spTgt spid="42"/>
                                        </p:tgtEl>
                                        <p:attrNameLst>
                                          <p:attrName>ppt_x</p:attrName>
                                        </p:attrNameLst>
                                      </p:cBhvr>
                                      <p:tavLst>
                                        <p:tav tm="0">
                                          <p:val>
                                            <p:strVal val="#ppt_x"/>
                                          </p:val>
                                        </p:tav>
                                        <p:tav tm="100000">
                                          <p:val>
                                            <p:strVal val="#ppt_x"/>
                                          </p:val>
                                        </p:tav>
                                      </p:tavLst>
                                    </p:anim>
                                    <p:anim calcmode="lin" valueType="num">
                                      <p:cBhvr additive="base">
                                        <p:cTn id="13"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43"/>
                                        </p:tgtEl>
                                        <p:attrNameLst>
                                          <p:attrName>style.visibility</p:attrName>
                                        </p:attrNameLst>
                                      </p:cBhvr>
                                      <p:to>
                                        <p:strVal val="visible"/>
                                      </p:to>
                                    </p:set>
                                    <p:animEffect transition="in" filter="fade">
                                      <p:cBhvr>
                                        <p:cTn id="18" dur="1000"/>
                                        <p:tgtEl>
                                          <p:spTgt spid="43"/>
                                        </p:tgtEl>
                                      </p:cBhvr>
                                    </p:animEffect>
                                    <p:anim calcmode="lin" valueType="num">
                                      <p:cBhvr>
                                        <p:cTn id="19" dur="1000" fill="hold"/>
                                        <p:tgtEl>
                                          <p:spTgt spid="43"/>
                                        </p:tgtEl>
                                        <p:attrNameLst>
                                          <p:attrName>ppt_x</p:attrName>
                                        </p:attrNameLst>
                                      </p:cBhvr>
                                      <p:tavLst>
                                        <p:tav tm="0">
                                          <p:val>
                                            <p:strVal val="#ppt_x"/>
                                          </p:val>
                                        </p:tav>
                                        <p:tav tm="100000">
                                          <p:val>
                                            <p:strVal val="#ppt_x"/>
                                          </p:val>
                                        </p:tav>
                                      </p:tavLst>
                                    </p:anim>
                                    <p:anim calcmode="lin" valueType="num">
                                      <p:cBhvr>
                                        <p:cTn id="20" dur="1000" fill="hold"/>
                                        <p:tgtEl>
                                          <p:spTgt spid="4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731520" y="91440"/>
            <a:ext cx="76809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Generative AI Flow: Human Does the Heavy Lifting</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274320" y="1188720"/>
            <a:ext cx="1600200" cy="2377440"/>
          </a:xfrm>
          <a:prstGeom prst="rect">
            <a:avLst/>
          </a:prstGeom>
          <a:solidFill>
            <a:srgbClr val="EDE9FE"/>
          </a:solidFill>
          <a:ln/>
          <a:effectLst>
            <a:outerShdw blurRad="50800" dist="25400" dir="8100000" algn="bl" rotWithShape="0">
              <a:srgbClr val="000000">
                <a:alpha val="8000"/>
              </a:srgbClr>
            </a:outerShdw>
          </a:effectLst>
        </p:spPr>
      </p:sp>
      <p:sp>
        <p:nvSpPr>
          <p:cNvPr id="5" name="Shape 3"/>
          <p:cNvSpPr/>
          <p:nvPr/>
        </p:nvSpPr>
        <p:spPr>
          <a:xfrm>
            <a:off x="731520" y="1371600"/>
            <a:ext cx="594360" cy="594360"/>
          </a:xfrm>
          <a:prstGeom prst="ellipse">
            <a:avLst/>
          </a:prstGeom>
          <a:solidFill>
            <a:srgbClr val="8B5CF6"/>
          </a:solidFill>
          <a:ln/>
        </p:spPr>
      </p:sp>
      <p:pic>
        <p:nvPicPr>
          <p:cNvPr id="6" name="Image 0" descr="preencoded.png"/>
          <p:cNvPicPr>
            <a:picLocks noChangeAspect="1"/>
          </p:cNvPicPr>
          <p:nvPr/>
        </p:nvPicPr>
        <p:blipFill>
          <a:blip r:embed="rId3"/>
          <a:stretch>
            <a:fillRect/>
          </a:stretch>
        </p:blipFill>
        <p:spPr>
          <a:xfrm>
            <a:off x="862279" y="1502359"/>
            <a:ext cx="332842" cy="332842"/>
          </a:xfrm>
          <a:prstGeom prst="rect">
            <a:avLst/>
          </a:prstGeom>
        </p:spPr>
      </p:pic>
      <p:sp>
        <p:nvSpPr>
          <p:cNvPr id="7" name="Text 4"/>
          <p:cNvSpPr/>
          <p:nvPr/>
        </p:nvSpPr>
        <p:spPr>
          <a:xfrm>
            <a:off x="274320" y="214884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Human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Prompts AI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274320" y="265176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"Create checklist"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9" name="Image 1" descr="preencoded.png"/>
          <p:cNvPicPr>
            <a:picLocks noChangeAspect="1"/>
          </p:cNvPicPr>
          <p:nvPr/>
        </p:nvPicPr>
        <p:blipFill>
          <a:blip r:embed="rId4"/>
          <a:stretch>
            <a:fillRect/>
          </a:stretch>
        </p:blipFill>
        <p:spPr>
          <a:xfrm>
            <a:off x="1874520" y="2103120"/>
            <a:ext cx="182880" cy="182880"/>
          </a:xfrm>
          <a:prstGeom prst="rect">
            <a:avLst/>
          </a:prstGeom>
        </p:spPr>
      </p:pic>
      <p:sp>
        <p:nvSpPr>
          <p:cNvPr id="10" name="Shape 6"/>
          <p:cNvSpPr/>
          <p:nvPr/>
        </p:nvSpPr>
        <p:spPr>
          <a:xfrm>
            <a:off x="2057400" y="1188720"/>
            <a:ext cx="1600200" cy="2377440"/>
          </a:xfrm>
          <a:prstGeom prst="rect">
            <a:avLst/>
          </a:prstGeom>
          <a:solidFill>
            <a:srgbClr val="EDE9FE"/>
          </a:solidFill>
          <a:ln/>
          <a:effectLst>
            <a:outerShdw blurRad="50800" dist="25400" dir="8100000" algn="bl" rotWithShape="0">
              <a:srgbClr val="000000">
                <a:alpha val="8000"/>
              </a:srgbClr>
            </a:outerShdw>
          </a:effectLst>
        </p:spPr>
      </p:sp>
      <p:sp>
        <p:nvSpPr>
          <p:cNvPr id="11" name="Shape 7"/>
          <p:cNvSpPr/>
          <p:nvPr/>
        </p:nvSpPr>
        <p:spPr>
          <a:xfrm>
            <a:off x="2514600" y="1371600"/>
            <a:ext cx="594360" cy="594360"/>
          </a:xfrm>
          <a:prstGeom prst="ellipse">
            <a:avLst/>
          </a:prstGeom>
          <a:solidFill>
            <a:srgbClr val="8B5CF6"/>
          </a:solidFill>
          <a:ln/>
        </p:spPr>
      </p:sp>
      <p:pic>
        <p:nvPicPr>
          <p:cNvPr id="12" name="Image 2" descr="preencoded.png"/>
          <p:cNvPicPr>
            <a:picLocks noChangeAspect="1"/>
          </p:cNvPicPr>
          <p:nvPr/>
        </p:nvPicPr>
        <p:blipFill>
          <a:blip r:embed="rId5"/>
          <a:stretch>
            <a:fillRect/>
          </a:stretch>
        </p:blipFill>
        <p:spPr>
          <a:xfrm>
            <a:off x="2645359" y="1502359"/>
            <a:ext cx="332842" cy="332842"/>
          </a:xfrm>
          <a:prstGeom prst="rect">
            <a:avLst/>
          </a:prstGeom>
        </p:spPr>
      </p:pic>
      <p:sp>
        <p:nvSpPr>
          <p:cNvPr id="13" name="Text 8"/>
          <p:cNvSpPr/>
          <p:nvPr/>
        </p:nvSpPr>
        <p:spPr>
          <a:xfrm>
            <a:off x="2057400" y="214884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GenAI</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Generates Text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9"/>
          <p:cNvSpPr/>
          <p:nvPr/>
        </p:nvSpPr>
        <p:spPr>
          <a:xfrm>
            <a:off x="2057400" y="265176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Checklist &amp; email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draft returned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Image 3" descr="preencoded.png"/>
          <p:cNvPicPr>
            <a:picLocks noChangeAspect="1"/>
          </p:cNvPicPr>
          <p:nvPr/>
        </p:nvPicPr>
        <p:blipFill>
          <a:blip r:embed="rId4"/>
          <a:stretch>
            <a:fillRect/>
          </a:stretch>
        </p:blipFill>
        <p:spPr>
          <a:xfrm>
            <a:off x="3657600" y="2103120"/>
            <a:ext cx="182880" cy="182880"/>
          </a:xfrm>
          <a:prstGeom prst="rect">
            <a:avLst/>
          </a:prstGeom>
        </p:spPr>
      </p:pic>
      <p:sp>
        <p:nvSpPr>
          <p:cNvPr id="16" name="Shape 10"/>
          <p:cNvSpPr/>
          <p:nvPr/>
        </p:nvSpPr>
        <p:spPr>
          <a:xfrm>
            <a:off x="3840480" y="1188720"/>
            <a:ext cx="1600200" cy="2377440"/>
          </a:xfrm>
          <a:prstGeom prst="rect">
            <a:avLst/>
          </a:prstGeom>
          <a:solidFill>
            <a:srgbClr val="FEE2E2"/>
          </a:solidFill>
          <a:ln/>
          <a:effectLst>
            <a:outerShdw blurRad="50800" dist="25400" dir="8100000" algn="bl" rotWithShape="0">
              <a:srgbClr val="000000">
                <a:alpha val="8000"/>
              </a:srgbClr>
            </a:outerShdw>
          </a:effectLst>
        </p:spPr>
      </p:sp>
      <p:sp>
        <p:nvSpPr>
          <p:cNvPr id="17" name="Shape 11"/>
          <p:cNvSpPr/>
          <p:nvPr/>
        </p:nvSpPr>
        <p:spPr>
          <a:xfrm>
            <a:off x="4297680" y="1371600"/>
            <a:ext cx="594360" cy="594360"/>
          </a:xfrm>
          <a:prstGeom prst="ellipse">
            <a:avLst/>
          </a:prstGeom>
          <a:solidFill>
            <a:srgbClr val="EF4444"/>
          </a:solidFill>
          <a:ln/>
        </p:spPr>
      </p:sp>
      <p:pic>
        <p:nvPicPr>
          <p:cNvPr id="18" name="Image 4" descr="preencoded.png"/>
          <p:cNvPicPr>
            <a:picLocks noChangeAspect="1"/>
          </p:cNvPicPr>
          <p:nvPr/>
        </p:nvPicPr>
        <p:blipFill>
          <a:blip r:embed="rId6"/>
          <a:stretch>
            <a:fillRect/>
          </a:stretch>
        </p:blipFill>
        <p:spPr>
          <a:xfrm>
            <a:off x="4428439" y="1502359"/>
            <a:ext cx="332842" cy="332842"/>
          </a:xfrm>
          <a:prstGeom prst="rect">
            <a:avLst/>
          </a:prstGeom>
        </p:spPr>
      </p:pic>
      <p:sp>
        <p:nvSpPr>
          <p:cNvPr id="19" name="Text 12"/>
          <p:cNvSpPr/>
          <p:nvPr/>
        </p:nvSpPr>
        <p:spPr>
          <a:xfrm>
            <a:off x="3840480" y="214884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Human Reads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&amp; Copy-Pastes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3"/>
          <p:cNvSpPr/>
          <p:nvPr/>
        </p:nvSpPr>
        <p:spPr>
          <a:xfrm>
            <a:off x="3840480" y="265176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Manual work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begins here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1" name="Image 5" descr="preencoded.png"/>
          <p:cNvPicPr>
            <a:picLocks noChangeAspect="1"/>
          </p:cNvPicPr>
          <p:nvPr/>
        </p:nvPicPr>
        <p:blipFill>
          <a:blip r:embed="rId4"/>
          <a:stretch>
            <a:fillRect/>
          </a:stretch>
        </p:blipFill>
        <p:spPr>
          <a:xfrm>
            <a:off x="5440680" y="2103120"/>
            <a:ext cx="182880" cy="182880"/>
          </a:xfrm>
          <a:prstGeom prst="rect">
            <a:avLst/>
          </a:prstGeom>
        </p:spPr>
      </p:pic>
      <p:sp>
        <p:nvSpPr>
          <p:cNvPr id="22" name="Shape 14"/>
          <p:cNvSpPr/>
          <p:nvPr/>
        </p:nvSpPr>
        <p:spPr>
          <a:xfrm>
            <a:off x="5623560" y="1188720"/>
            <a:ext cx="1600200" cy="2377440"/>
          </a:xfrm>
          <a:prstGeom prst="rect">
            <a:avLst/>
          </a:prstGeom>
          <a:solidFill>
            <a:srgbClr val="FEE2E2"/>
          </a:solidFill>
          <a:ln/>
          <a:effectLst>
            <a:outerShdw blurRad="50800" dist="25400" dir="8100000" algn="bl" rotWithShape="0">
              <a:srgbClr val="000000">
                <a:alpha val="8000"/>
              </a:srgbClr>
            </a:outerShdw>
          </a:effectLst>
        </p:spPr>
      </p:sp>
      <p:sp>
        <p:nvSpPr>
          <p:cNvPr id="23" name="Shape 15"/>
          <p:cNvSpPr/>
          <p:nvPr/>
        </p:nvSpPr>
        <p:spPr>
          <a:xfrm>
            <a:off x="6080760" y="1371600"/>
            <a:ext cx="594360" cy="594360"/>
          </a:xfrm>
          <a:prstGeom prst="ellipse">
            <a:avLst/>
          </a:prstGeom>
          <a:solidFill>
            <a:srgbClr val="EF4444"/>
          </a:solidFill>
          <a:ln/>
        </p:spPr>
      </p:sp>
      <p:pic>
        <p:nvPicPr>
          <p:cNvPr id="24" name="Image 6" descr="preencoded.png"/>
          <p:cNvPicPr>
            <a:picLocks noChangeAspect="1"/>
          </p:cNvPicPr>
          <p:nvPr/>
        </p:nvPicPr>
        <p:blipFill>
          <a:blip r:embed="rId7"/>
          <a:stretch>
            <a:fillRect/>
          </a:stretch>
        </p:blipFill>
        <p:spPr>
          <a:xfrm>
            <a:off x="6211519" y="1502359"/>
            <a:ext cx="332842" cy="332842"/>
          </a:xfrm>
          <a:prstGeom prst="rect">
            <a:avLst/>
          </a:prstGeom>
        </p:spPr>
      </p:pic>
      <p:sp>
        <p:nvSpPr>
          <p:cNvPr id="25" name="Text 16"/>
          <p:cNvSpPr/>
          <p:nvPr/>
        </p:nvSpPr>
        <p:spPr>
          <a:xfrm>
            <a:off x="5623560" y="214884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Human Executes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8+ Tasks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17"/>
          <p:cNvSpPr/>
          <p:nvPr/>
        </p:nvSpPr>
        <p:spPr>
          <a:xfrm>
            <a:off x="5623560" y="265176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Accounts, laptop,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meetings, HR...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Image 7" descr="preencoded.png"/>
          <p:cNvPicPr>
            <a:picLocks noChangeAspect="1"/>
          </p:cNvPicPr>
          <p:nvPr/>
        </p:nvPicPr>
        <p:blipFill>
          <a:blip r:embed="rId4"/>
          <a:stretch>
            <a:fillRect/>
          </a:stretch>
        </p:blipFill>
        <p:spPr>
          <a:xfrm>
            <a:off x="7223760" y="2103120"/>
            <a:ext cx="182880" cy="182880"/>
          </a:xfrm>
          <a:prstGeom prst="rect">
            <a:avLst/>
          </a:prstGeom>
        </p:spPr>
      </p:pic>
      <p:sp>
        <p:nvSpPr>
          <p:cNvPr id="28" name="Shape 18"/>
          <p:cNvSpPr/>
          <p:nvPr/>
        </p:nvSpPr>
        <p:spPr>
          <a:xfrm>
            <a:off x="7406640" y="1188720"/>
            <a:ext cx="1600200" cy="2377440"/>
          </a:xfrm>
          <a:prstGeom prst="rect">
            <a:avLst/>
          </a:prstGeom>
          <a:solidFill>
            <a:srgbClr val="FEE2E2"/>
          </a:solidFill>
          <a:ln/>
          <a:effectLst>
            <a:outerShdw blurRad="50800" dist="25400" dir="8100000" algn="bl" rotWithShape="0">
              <a:srgbClr val="000000">
                <a:alpha val="8000"/>
              </a:srgbClr>
            </a:outerShdw>
          </a:effectLst>
        </p:spPr>
      </p:sp>
      <p:sp>
        <p:nvSpPr>
          <p:cNvPr id="29" name="Shape 19"/>
          <p:cNvSpPr/>
          <p:nvPr/>
        </p:nvSpPr>
        <p:spPr>
          <a:xfrm>
            <a:off x="7863840" y="1371600"/>
            <a:ext cx="594360" cy="594360"/>
          </a:xfrm>
          <a:prstGeom prst="ellipse">
            <a:avLst/>
          </a:prstGeom>
          <a:solidFill>
            <a:srgbClr val="EF4444"/>
          </a:solidFill>
          <a:ln/>
        </p:spPr>
      </p:sp>
      <p:pic>
        <p:nvPicPr>
          <p:cNvPr id="30" name="Image 8" descr="preencoded.png"/>
          <p:cNvPicPr>
            <a:picLocks noChangeAspect="1"/>
          </p:cNvPicPr>
          <p:nvPr/>
        </p:nvPicPr>
        <p:blipFill>
          <a:blip r:embed="rId8"/>
          <a:stretch>
            <a:fillRect/>
          </a:stretch>
        </p:blipFill>
        <p:spPr>
          <a:xfrm>
            <a:off x="7994599" y="1502359"/>
            <a:ext cx="332842" cy="332842"/>
          </a:xfrm>
          <a:prstGeom prst="rect">
            <a:avLst/>
          </a:prstGeom>
        </p:spPr>
      </p:pic>
      <p:sp>
        <p:nvSpPr>
          <p:cNvPr id="31" name="Text 20"/>
          <p:cNvSpPr/>
          <p:nvPr/>
        </p:nvSpPr>
        <p:spPr>
          <a:xfrm>
            <a:off x="7406640" y="214884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Done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(Finally!)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1"/>
          <p:cNvSpPr/>
          <p:nvPr/>
        </p:nvSpPr>
        <p:spPr>
          <a:xfrm>
            <a:off x="7406640" y="265176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~2-3 hours later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38" name="Group 37">
            <a:extLst>
              <a:ext uri="{FF2B5EF4-FFF2-40B4-BE49-F238E27FC236}">
                <a16:creationId xmlns:a16="http://schemas.microsoft.com/office/drawing/2014/main" id="{99586B23-F43E-6ABD-FED6-4CE8DAABCAA6}"/>
              </a:ext>
            </a:extLst>
          </p:cNvPr>
          <p:cNvGrpSpPr/>
          <p:nvPr/>
        </p:nvGrpSpPr>
        <p:grpSpPr>
          <a:xfrm>
            <a:off x="457200" y="3840480"/>
            <a:ext cx="8229600" cy="1005840"/>
            <a:chOff x="457200" y="3840480"/>
            <a:chExt cx="8229600" cy="1005840"/>
          </a:xfrm>
        </p:grpSpPr>
        <p:sp>
          <p:nvSpPr>
            <p:cNvPr id="33" name="Shape 22"/>
            <p:cNvSpPr/>
            <p:nvPr/>
          </p:nvSpPr>
          <p:spPr>
            <a:xfrm>
              <a:off x="457200" y="3840480"/>
              <a:ext cx="8229600" cy="1005840"/>
            </a:xfrm>
            <a:prstGeom prst="rect">
              <a:avLst/>
            </a:prstGeom>
            <a:solidFill>
              <a:srgbClr val="0F172A"/>
            </a:solidFill>
            <a:ln/>
          </p:spPr>
        </p:sp>
        <p:sp>
          <p:nvSpPr>
            <p:cNvPr id="34" name="Shape 23"/>
            <p:cNvSpPr/>
            <p:nvPr/>
          </p:nvSpPr>
          <p:spPr>
            <a:xfrm>
              <a:off x="640080" y="3977640"/>
              <a:ext cx="502920" cy="502920"/>
            </a:xfrm>
            <a:prstGeom prst="ellipse">
              <a:avLst/>
            </a:prstGeom>
            <a:solidFill>
              <a:srgbClr val="EF4444"/>
            </a:solidFill>
            <a:ln/>
          </p:spPr>
        </p:sp>
        <p:pic>
          <p:nvPicPr>
            <p:cNvPr id="35" name="Image 9" descr="preencoded.png"/>
            <p:cNvPicPr>
              <a:picLocks noChangeAspect="1"/>
            </p:cNvPicPr>
            <p:nvPr/>
          </p:nvPicPr>
          <p:blipFill>
            <a:blip r:embed="rId9"/>
            <a:stretch>
              <a:fillRect/>
            </a:stretch>
          </p:blipFill>
          <p:spPr>
            <a:xfrm>
              <a:off x="750722" y="4088282"/>
              <a:ext cx="281635" cy="281635"/>
            </a:xfrm>
            <a:prstGeom prst="rect">
              <a:avLst/>
            </a:prstGeom>
          </p:spPr>
        </p:pic>
        <p:sp>
          <p:nvSpPr>
            <p:cNvPr id="36" name="Text 24"/>
            <p:cNvSpPr/>
            <p:nvPr/>
          </p:nvSpPr>
          <p:spPr>
            <a:xfrm>
              <a:off x="1280160" y="3931920"/>
              <a:ext cx="13716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The Problem:</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5"/>
            <p:cNvSpPr/>
            <p:nvPr/>
          </p:nvSpPr>
          <p:spPr>
            <a:xfrm>
              <a:off x="1280160" y="4251960"/>
              <a:ext cx="7132320" cy="502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Generative AI only helps with Steps 1-2 (text generation). Steps 3-5 are 100% manual.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Calibri" pitchFamily="34" charset="0"/>
                  <a:ea typeface="Calibri" pitchFamily="34" charset="-122"/>
                  <a:cs typeface="Calibri" pitchFamily="34" charset="-120"/>
                </a:rPr>
                <a:t>The AI is a smart notepad — it can tell you what to do, but it can't actually do anything.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1000"/>
                                        <p:tgtEl>
                                          <p:spTgt spid="38"/>
                                        </p:tgtEl>
                                      </p:cBhvr>
                                    </p:animEffect>
                                    <p:anim calcmode="lin" valueType="num">
                                      <p:cBhvr>
                                        <p:cTn id="8" dur="1000" fill="hold"/>
                                        <p:tgtEl>
                                          <p:spTgt spid="38"/>
                                        </p:tgtEl>
                                        <p:attrNameLst>
                                          <p:attrName>ppt_x</p:attrName>
                                        </p:attrNameLst>
                                      </p:cBhvr>
                                      <p:tavLst>
                                        <p:tav tm="0">
                                          <p:val>
                                            <p:strVal val="#ppt_x"/>
                                          </p:val>
                                        </p:tav>
                                        <p:tav tm="100000">
                                          <p:val>
                                            <p:strVal val="#ppt_x"/>
                                          </p:val>
                                        </p:tav>
                                      </p:tavLst>
                                    </p:anim>
                                    <p:anim calcmode="lin" valueType="num">
                                      <p:cBhvr>
                                        <p:cTn id="9" dur="1000" fill="hold"/>
                                        <p:tgtEl>
                                          <p:spTgt spid="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731520" y="91440"/>
            <a:ext cx="76809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Approach 2: Using an AI Agent (LangChain + Tools)</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61" name="Group 60">
            <a:extLst>
              <a:ext uri="{FF2B5EF4-FFF2-40B4-BE49-F238E27FC236}">
                <a16:creationId xmlns:a16="http://schemas.microsoft.com/office/drawing/2014/main" id="{3FBCEAE4-357B-7B64-D59C-472957154990}"/>
              </a:ext>
            </a:extLst>
          </p:cNvPr>
          <p:cNvGrpSpPr/>
          <p:nvPr/>
        </p:nvGrpSpPr>
        <p:grpSpPr>
          <a:xfrm>
            <a:off x="731520" y="1097280"/>
            <a:ext cx="5029200" cy="3657600"/>
            <a:chOff x="731520" y="1097280"/>
            <a:chExt cx="5029200" cy="3657600"/>
          </a:xfrm>
        </p:grpSpPr>
        <p:sp>
          <p:nvSpPr>
            <p:cNvPr id="4" name="Shape 2"/>
            <p:cNvSpPr/>
            <p:nvPr/>
          </p:nvSpPr>
          <p:spPr>
            <a:xfrm>
              <a:off x="731520" y="1097280"/>
              <a:ext cx="5029200" cy="3657600"/>
            </a:xfrm>
            <a:prstGeom prst="rect">
              <a:avLst/>
            </a:prstGeom>
            <a:solidFill>
              <a:srgbClr val="FFFFFF"/>
            </a:solidFill>
            <a:ln/>
            <a:effectLst>
              <a:outerShdw blurRad="50800" dist="25400" dir="8100000" algn="bl" rotWithShape="0">
                <a:srgbClr val="000000">
                  <a:alpha val="8000"/>
                </a:srgbClr>
              </a:outerShdw>
            </a:effectLst>
          </p:spPr>
        </p:sp>
        <p:sp>
          <p:nvSpPr>
            <p:cNvPr id="5" name="Shape 3"/>
            <p:cNvSpPr/>
            <p:nvPr/>
          </p:nvSpPr>
          <p:spPr>
            <a:xfrm>
              <a:off x="731520" y="1097280"/>
              <a:ext cx="5029200" cy="54864"/>
            </a:xfrm>
            <a:prstGeom prst="rect">
              <a:avLst/>
            </a:prstGeom>
            <a:solidFill>
              <a:srgbClr val="10B981"/>
            </a:solidFill>
            <a:ln/>
          </p:spPr>
        </p:sp>
        <p:sp>
          <p:nvSpPr>
            <p:cNvPr id="6" name="Text 4"/>
            <p:cNvSpPr/>
            <p:nvPr/>
          </p:nvSpPr>
          <p:spPr>
            <a:xfrm>
              <a:off x="914400" y="1234440"/>
              <a:ext cx="466344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What the AI Agent Does (Autonomously)</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Image 0" descr="preencoded.png"/>
            <p:cNvPicPr>
              <a:picLocks noChangeAspect="1"/>
            </p:cNvPicPr>
            <p:nvPr/>
          </p:nvPicPr>
          <p:blipFill>
            <a:blip r:embed="rId3"/>
            <a:stretch>
              <a:fillRect/>
            </a:stretch>
          </p:blipFill>
          <p:spPr>
            <a:xfrm>
              <a:off x="960120" y="1709928"/>
              <a:ext cx="182880" cy="182880"/>
            </a:xfrm>
            <a:prstGeom prst="rect">
              <a:avLst/>
            </a:prstGeom>
          </p:spPr>
        </p:pic>
        <p:sp>
          <p:nvSpPr>
            <p:cNvPr id="8" name="Text 5"/>
            <p:cNvSpPr/>
            <p:nvPr/>
          </p:nvSpPr>
          <p:spPr>
            <a:xfrm>
              <a:off x="1234440" y="1691640"/>
              <a:ext cx="2880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Receives request → Plans 8 sub-tasks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4160520" y="1709928"/>
              <a:ext cx="1417320" cy="201168"/>
            </a:xfrm>
            <a:prstGeom prst="rect">
              <a:avLst/>
            </a:prstGeom>
            <a:solidFill>
              <a:srgbClr val="0F172A"/>
            </a:solidFill>
            <a:ln/>
          </p:spPr>
        </p:sp>
        <p:sp>
          <p:nvSpPr>
            <p:cNvPr id="10" name="Text 7"/>
            <p:cNvSpPr/>
            <p:nvPr/>
          </p:nvSpPr>
          <p:spPr>
            <a:xfrm>
              <a:off x="4160520" y="1709928"/>
              <a:ext cx="14173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Planning (LLM)</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Image 1" descr="preencoded.png"/>
            <p:cNvPicPr>
              <a:picLocks noChangeAspect="1"/>
            </p:cNvPicPr>
            <p:nvPr/>
          </p:nvPicPr>
          <p:blipFill>
            <a:blip r:embed="rId4"/>
            <a:stretch>
              <a:fillRect/>
            </a:stretch>
          </p:blipFill>
          <p:spPr>
            <a:xfrm>
              <a:off x="960120" y="2011680"/>
              <a:ext cx="182880" cy="182880"/>
            </a:xfrm>
            <a:prstGeom prst="rect">
              <a:avLst/>
            </a:prstGeom>
          </p:spPr>
        </p:pic>
        <p:sp>
          <p:nvSpPr>
            <p:cNvPr id="12" name="Text 8"/>
            <p:cNvSpPr/>
            <p:nvPr/>
          </p:nvSpPr>
          <p:spPr>
            <a:xfrm>
              <a:off x="1234440" y="1993392"/>
              <a:ext cx="2880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Creates sarah.chen@company.com via Google API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9"/>
            <p:cNvSpPr/>
            <p:nvPr/>
          </p:nvSpPr>
          <p:spPr>
            <a:xfrm>
              <a:off x="4160520" y="2011680"/>
              <a:ext cx="1417320" cy="201168"/>
            </a:xfrm>
            <a:prstGeom prst="rect">
              <a:avLst/>
            </a:prstGeom>
            <a:solidFill>
              <a:srgbClr val="0F172A"/>
            </a:solidFill>
            <a:ln/>
          </p:spPr>
        </p:sp>
        <p:sp>
          <p:nvSpPr>
            <p:cNvPr id="14" name="Text 10"/>
            <p:cNvSpPr/>
            <p:nvPr/>
          </p:nvSpPr>
          <p:spPr>
            <a:xfrm>
              <a:off x="4160520" y="2011680"/>
              <a:ext cx="14173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google_admin_tool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Image 2" descr="preencoded.png"/>
            <p:cNvPicPr>
              <a:picLocks noChangeAspect="1"/>
            </p:cNvPicPr>
            <p:nvPr/>
          </p:nvPicPr>
          <p:blipFill>
            <a:blip r:embed="rId4"/>
            <a:stretch>
              <a:fillRect/>
            </a:stretch>
          </p:blipFill>
          <p:spPr>
            <a:xfrm>
              <a:off x="960120" y="2313432"/>
              <a:ext cx="182880" cy="182880"/>
            </a:xfrm>
            <a:prstGeom prst="rect">
              <a:avLst/>
            </a:prstGeom>
          </p:spPr>
        </p:pic>
        <p:sp>
          <p:nvSpPr>
            <p:cNvPr id="16" name="Text 11"/>
            <p:cNvSpPr/>
            <p:nvPr/>
          </p:nvSpPr>
          <p:spPr>
            <a:xfrm>
              <a:off x="1234440" y="2295144"/>
              <a:ext cx="2880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Creates #sarah-chen Slack channel + account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2"/>
            <p:cNvSpPr/>
            <p:nvPr/>
          </p:nvSpPr>
          <p:spPr>
            <a:xfrm>
              <a:off x="4160520" y="2313432"/>
              <a:ext cx="1417320" cy="201168"/>
            </a:xfrm>
            <a:prstGeom prst="rect">
              <a:avLst/>
            </a:prstGeom>
            <a:solidFill>
              <a:srgbClr val="0F172A"/>
            </a:solidFill>
            <a:ln/>
          </p:spPr>
        </p:sp>
        <p:sp>
          <p:nvSpPr>
            <p:cNvPr id="18" name="Text 13"/>
            <p:cNvSpPr/>
            <p:nvPr/>
          </p:nvSpPr>
          <p:spPr>
            <a:xfrm>
              <a:off x="4160520" y="2313432"/>
              <a:ext cx="14173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slack_api_tool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Image 3" descr="preencoded.png"/>
            <p:cNvPicPr>
              <a:picLocks noChangeAspect="1"/>
            </p:cNvPicPr>
            <p:nvPr/>
          </p:nvPicPr>
          <p:blipFill>
            <a:blip r:embed="rId4"/>
            <a:stretch>
              <a:fillRect/>
            </a:stretch>
          </p:blipFill>
          <p:spPr>
            <a:xfrm>
              <a:off x="960120" y="2615184"/>
              <a:ext cx="182880" cy="182880"/>
            </a:xfrm>
            <a:prstGeom prst="rect">
              <a:avLst/>
            </a:prstGeom>
          </p:spPr>
        </p:pic>
        <p:sp>
          <p:nvSpPr>
            <p:cNvPr id="20" name="Text 14"/>
            <p:cNvSpPr/>
            <p:nvPr/>
          </p:nvSpPr>
          <p:spPr>
            <a:xfrm>
              <a:off x="1234440" y="2596896"/>
              <a:ext cx="2880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Submits laptop order in IT portal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5"/>
            <p:cNvSpPr/>
            <p:nvPr/>
          </p:nvSpPr>
          <p:spPr>
            <a:xfrm>
              <a:off x="4160520" y="2615184"/>
              <a:ext cx="1417320" cy="201168"/>
            </a:xfrm>
            <a:prstGeom prst="rect">
              <a:avLst/>
            </a:prstGeom>
            <a:solidFill>
              <a:srgbClr val="0F172A"/>
            </a:solidFill>
            <a:ln/>
          </p:spPr>
        </p:sp>
        <p:sp>
          <p:nvSpPr>
            <p:cNvPr id="22" name="Text 16"/>
            <p:cNvSpPr/>
            <p:nvPr/>
          </p:nvSpPr>
          <p:spPr>
            <a:xfrm>
              <a:off x="4160520" y="2615184"/>
              <a:ext cx="14173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it_provisioning_tool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Image 4" descr="preencoded.png"/>
            <p:cNvPicPr>
              <a:picLocks noChangeAspect="1"/>
            </p:cNvPicPr>
            <p:nvPr/>
          </p:nvPicPr>
          <p:blipFill>
            <a:blip r:embed="rId4"/>
            <a:stretch>
              <a:fillRect/>
            </a:stretch>
          </p:blipFill>
          <p:spPr>
            <a:xfrm>
              <a:off x="960120" y="2916936"/>
              <a:ext cx="182880" cy="182880"/>
            </a:xfrm>
            <a:prstGeom prst="rect">
              <a:avLst/>
            </a:prstGeom>
          </p:spPr>
        </p:pic>
        <p:sp>
          <p:nvSpPr>
            <p:cNvPr id="24" name="Text 17"/>
            <p:cNvSpPr/>
            <p:nvPr/>
          </p:nvSpPr>
          <p:spPr>
            <a:xfrm>
              <a:off x="1234440" y="2898648"/>
              <a:ext cx="2880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Generates SSH keys + GitHub access tokens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18"/>
            <p:cNvSpPr/>
            <p:nvPr/>
          </p:nvSpPr>
          <p:spPr>
            <a:xfrm>
              <a:off x="4160520" y="2916936"/>
              <a:ext cx="1417320" cy="201168"/>
            </a:xfrm>
            <a:prstGeom prst="rect">
              <a:avLst/>
            </a:prstGeom>
            <a:solidFill>
              <a:srgbClr val="0F172A"/>
            </a:solidFill>
            <a:ln/>
          </p:spPr>
        </p:sp>
        <p:sp>
          <p:nvSpPr>
            <p:cNvPr id="26" name="Text 19"/>
            <p:cNvSpPr/>
            <p:nvPr/>
          </p:nvSpPr>
          <p:spPr>
            <a:xfrm>
              <a:off x="4160520" y="2916936"/>
              <a:ext cx="14173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devops_tool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Image 5" descr="preencoded.png"/>
            <p:cNvPicPr>
              <a:picLocks noChangeAspect="1"/>
            </p:cNvPicPr>
            <p:nvPr/>
          </p:nvPicPr>
          <p:blipFill>
            <a:blip r:embed="rId4"/>
            <a:stretch>
              <a:fillRect/>
            </a:stretch>
          </p:blipFill>
          <p:spPr>
            <a:xfrm>
              <a:off x="960120" y="3218688"/>
              <a:ext cx="182880" cy="182880"/>
            </a:xfrm>
            <a:prstGeom prst="rect">
              <a:avLst/>
            </a:prstGeom>
          </p:spPr>
        </p:pic>
        <p:sp>
          <p:nvSpPr>
            <p:cNvPr id="28" name="Text 20"/>
            <p:cNvSpPr/>
            <p:nvPr/>
          </p:nvSpPr>
          <p:spPr>
            <a:xfrm>
              <a:off x="1234440" y="3200400"/>
              <a:ext cx="2880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Schedules 5 orientation meetings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1"/>
            <p:cNvSpPr/>
            <p:nvPr/>
          </p:nvSpPr>
          <p:spPr>
            <a:xfrm>
              <a:off x="4160520" y="3218688"/>
              <a:ext cx="1417320" cy="201168"/>
            </a:xfrm>
            <a:prstGeom prst="rect">
              <a:avLst/>
            </a:prstGeom>
            <a:solidFill>
              <a:srgbClr val="0F172A"/>
            </a:solidFill>
            <a:ln/>
          </p:spPr>
        </p:sp>
        <p:sp>
          <p:nvSpPr>
            <p:cNvPr id="30" name="Text 22"/>
            <p:cNvSpPr/>
            <p:nvPr/>
          </p:nvSpPr>
          <p:spPr>
            <a:xfrm>
              <a:off x="4160520" y="3218688"/>
              <a:ext cx="14173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calendar_tool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1" name="Image 6" descr="preencoded.png"/>
            <p:cNvPicPr>
              <a:picLocks noChangeAspect="1"/>
            </p:cNvPicPr>
            <p:nvPr/>
          </p:nvPicPr>
          <p:blipFill>
            <a:blip r:embed="rId4"/>
            <a:stretch>
              <a:fillRect/>
            </a:stretch>
          </p:blipFill>
          <p:spPr>
            <a:xfrm>
              <a:off x="960120" y="3520440"/>
              <a:ext cx="182880" cy="182880"/>
            </a:xfrm>
            <a:prstGeom prst="rect">
              <a:avLst/>
            </a:prstGeom>
          </p:spPr>
        </p:pic>
        <p:sp>
          <p:nvSpPr>
            <p:cNvPr id="32" name="Text 23"/>
            <p:cNvSpPr/>
            <p:nvPr/>
          </p:nvSpPr>
          <p:spPr>
            <a:xfrm>
              <a:off x="1234440" y="3502152"/>
              <a:ext cx="2880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Assigns onboarding buddy from team roster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24"/>
            <p:cNvSpPr/>
            <p:nvPr/>
          </p:nvSpPr>
          <p:spPr>
            <a:xfrm>
              <a:off x="4160520" y="3520440"/>
              <a:ext cx="1417320" cy="201168"/>
            </a:xfrm>
            <a:prstGeom prst="rect">
              <a:avLst/>
            </a:prstGeom>
            <a:solidFill>
              <a:srgbClr val="0F172A"/>
            </a:solidFill>
            <a:ln/>
          </p:spPr>
        </p:sp>
        <p:sp>
          <p:nvSpPr>
            <p:cNvPr id="34" name="Text 25"/>
            <p:cNvSpPr/>
            <p:nvPr/>
          </p:nvSpPr>
          <p:spPr>
            <a:xfrm>
              <a:off x="4160520" y="3520440"/>
              <a:ext cx="14173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hr_database_tool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5" name="Image 7" descr="preencoded.png"/>
            <p:cNvPicPr>
              <a:picLocks noChangeAspect="1"/>
            </p:cNvPicPr>
            <p:nvPr/>
          </p:nvPicPr>
          <p:blipFill>
            <a:blip r:embed="rId4"/>
            <a:stretch>
              <a:fillRect/>
            </a:stretch>
          </p:blipFill>
          <p:spPr>
            <a:xfrm>
              <a:off x="960120" y="3822192"/>
              <a:ext cx="182880" cy="182880"/>
            </a:xfrm>
            <a:prstGeom prst="rect">
              <a:avLst/>
            </a:prstGeom>
          </p:spPr>
        </p:pic>
        <p:sp>
          <p:nvSpPr>
            <p:cNvPr id="36" name="Text 26"/>
            <p:cNvSpPr/>
            <p:nvPr/>
          </p:nvSpPr>
          <p:spPr>
            <a:xfrm>
              <a:off x="1234440" y="3803904"/>
              <a:ext cx="2880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Sends personalized welcome email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27"/>
            <p:cNvSpPr/>
            <p:nvPr/>
          </p:nvSpPr>
          <p:spPr>
            <a:xfrm>
              <a:off x="4160520" y="3822192"/>
              <a:ext cx="1417320" cy="201168"/>
            </a:xfrm>
            <a:prstGeom prst="rect">
              <a:avLst/>
            </a:prstGeom>
            <a:solidFill>
              <a:srgbClr val="0F172A"/>
            </a:solidFill>
            <a:ln/>
          </p:spPr>
        </p:sp>
        <p:sp>
          <p:nvSpPr>
            <p:cNvPr id="38" name="Text 28"/>
            <p:cNvSpPr/>
            <p:nvPr/>
          </p:nvSpPr>
          <p:spPr>
            <a:xfrm>
              <a:off x="4160520" y="3822192"/>
              <a:ext cx="14173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email_tool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 name="Image 8" descr="preencoded.png"/>
            <p:cNvPicPr>
              <a:picLocks noChangeAspect="1"/>
            </p:cNvPicPr>
            <p:nvPr/>
          </p:nvPicPr>
          <p:blipFill>
            <a:blip r:embed="rId4"/>
            <a:stretch>
              <a:fillRect/>
            </a:stretch>
          </p:blipFill>
          <p:spPr>
            <a:xfrm>
              <a:off x="960120" y="4123944"/>
              <a:ext cx="182880" cy="182880"/>
            </a:xfrm>
            <a:prstGeom prst="rect">
              <a:avLst/>
            </a:prstGeom>
          </p:spPr>
        </p:pic>
        <p:sp>
          <p:nvSpPr>
            <p:cNvPr id="40" name="Text 29"/>
            <p:cNvSpPr/>
            <p:nvPr/>
          </p:nvSpPr>
          <p:spPr>
            <a:xfrm>
              <a:off x="1234440" y="4105656"/>
              <a:ext cx="2880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Posts team announcement on Slack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0"/>
            <p:cNvSpPr/>
            <p:nvPr/>
          </p:nvSpPr>
          <p:spPr>
            <a:xfrm>
              <a:off x="4160520" y="4123944"/>
              <a:ext cx="1417320" cy="201168"/>
            </a:xfrm>
            <a:prstGeom prst="rect">
              <a:avLst/>
            </a:prstGeom>
            <a:solidFill>
              <a:srgbClr val="0F172A"/>
            </a:solidFill>
            <a:ln/>
          </p:spPr>
        </p:sp>
        <p:sp>
          <p:nvSpPr>
            <p:cNvPr id="42" name="Text 31"/>
            <p:cNvSpPr/>
            <p:nvPr/>
          </p:nvSpPr>
          <p:spPr>
            <a:xfrm>
              <a:off x="4160520" y="4123944"/>
              <a:ext cx="14173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slack_api_tool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3" name="Image 9" descr="preencoded.png"/>
            <p:cNvPicPr>
              <a:picLocks noChangeAspect="1"/>
            </p:cNvPicPr>
            <p:nvPr/>
          </p:nvPicPr>
          <p:blipFill>
            <a:blip r:embed="rId4"/>
            <a:stretch>
              <a:fillRect/>
            </a:stretch>
          </p:blipFill>
          <p:spPr>
            <a:xfrm>
              <a:off x="960120" y="4425696"/>
              <a:ext cx="182880" cy="182880"/>
            </a:xfrm>
            <a:prstGeom prst="rect">
              <a:avLst/>
            </a:prstGeom>
          </p:spPr>
        </p:pic>
        <p:sp>
          <p:nvSpPr>
            <p:cNvPr id="44" name="Text 32"/>
            <p:cNvSpPr/>
            <p:nvPr/>
          </p:nvSpPr>
          <p:spPr>
            <a:xfrm>
              <a:off x="1234440" y="4407408"/>
              <a:ext cx="288036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Creates HR record + payroll setup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33"/>
            <p:cNvSpPr/>
            <p:nvPr/>
          </p:nvSpPr>
          <p:spPr>
            <a:xfrm>
              <a:off x="4160520" y="4425696"/>
              <a:ext cx="1417320" cy="201168"/>
            </a:xfrm>
            <a:prstGeom prst="rect">
              <a:avLst/>
            </a:prstGeom>
            <a:solidFill>
              <a:srgbClr val="0F172A"/>
            </a:solidFill>
            <a:ln/>
          </p:spPr>
        </p:sp>
        <p:sp>
          <p:nvSpPr>
            <p:cNvPr id="46" name="Text 34"/>
            <p:cNvSpPr/>
            <p:nvPr/>
          </p:nvSpPr>
          <p:spPr>
            <a:xfrm>
              <a:off x="4160520" y="4425696"/>
              <a:ext cx="141732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hr_system_tool</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2" name="Group 61">
            <a:extLst>
              <a:ext uri="{FF2B5EF4-FFF2-40B4-BE49-F238E27FC236}">
                <a16:creationId xmlns:a16="http://schemas.microsoft.com/office/drawing/2014/main" id="{6698493A-1569-CA83-731E-B6163F72FD76}"/>
              </a:ext>
            </a:extLst>
          </p:cNvPr>
          <p:cNvGrpSpPr/>
          <p:nvPr/>
        </p:nvGrpSpPr>
        <p:grpSpPr>
          <a:xfrm>
            <a:off x="6035040" y="1097280"/>
            <a:ext cx="2560320" cy="2011680"/>
            <a:chOff x="6035040" y="1097280"/>
            <a:chExt cx="2560320" cy="2011680"/>
          </a:xfrm>
        </p:grpSpPr>
        <p:sp>
          <p:nvSpPr>
            <p:cNvPr id="47" name="Shape 35"/>
            <p:cNvSpPr/>
            <p:nvPr/>
          </p:nvSpPr>
          <p:spPr>
            <a:xfrm>
              <a:off x="6035040" y="1097280"/>
              <a:ext cx="2560320" cy="2011680"/>
            </a:xfrm>
            <a:prstGeom prst="rect">
              <a:avLst/>
            </a:prstGeom>
            <a:solidFill>
              <a:srgbClr val="D1FAE5"/>
            </a:solidFill>
            <a:ln/>
            <a:effectLst>
              <a:outerShdw blurRad="50800" dist="25400" dir="8100000" algn="bl" rotWithShape="0">
                <a:srgbClr val="000000">
                  <a:alpha val="8000"/>
                </a:srgbClr>
              </a:outerShdw>
            </a:effectLst>
          </p:spPr>
        </p:sp>
        <p:sp>
          <p:nvSpPr>
            <p:cNvPr id="48" name="Shape 36"/>
            <p:cNvSpPr/>
            <p:nvPr/>
          </p:nvSpPr>
          <p:spPr>
            <a:xfrm>
              <a:off x="6217920" y="1234440"/>
              <a:ext cx="457200" cy="457200"/>
            </a:xfrm>
            <a:prstGeom prst="ellipse">
              <a:avLst/>
            </a:prstGeom>
            <a:solidFill>
              <a:srgbClr val="10B981"/>
            </a:solidFill>
            <a:ln/>
          </p:spPr>
        </p:sp>
        <p:pic>
          <p:nvPicPr>
            <p:cNvPr id="49" name="Image 10" descr="preencoded.png"/>
            <p:cNvPicPr>
              <a:picLocks noChangeAspect="1"/>
            </p:cNvPicPr>
            <p:nvPr/>
          </p:nvPicPr>
          <p:blipFill>
            <a:blip r:embed="rId5"/>
            <a:stretch>
              <a:fillRect/>
            </a:stretch>
          </p:blipFill>
          <p:spPr>
            <a:xfrm>
              <a:off x="6318504" y="1335024"/>
              <a:ext cx="256032" cy="256032"/>
            </a:xfrm>
            <a:prstGeom prst="rect">
              <a:avLst/>
            </a:prstGeom>
          </p:spPr>
        </p:pic>
        <p:sp>
          <p:nvSpPr>
            <p:cNvPr id="50" name="Text 37"/>
            <p:cNvSpPr/>
            <p:nvPr/>
          </p:nvSpPr>
          <p:spPr>
            <a:xfrm>
              <a:off x="6812280" y="1234440"/>
              <a:ext cx="15544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Result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38"/>
            <p:cNvSpPr/>
            <p:nvPr/>
          </p:nvSpPr>
          <p:spPr>
            <a:xfrm>
              <a:off x="6217920" y="1645920"/>
              <a:ext cx="2194560" cy="1371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All 8 tasks completed autonomously.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Human effort: one sentence request.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Time: ~3 minutes.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Everything verified and logged.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63" name="Group 62">
            <a:extLst>
              <a:ext uri="{FF2B5EF4-FFF2-40B4-BE49-F238E27FC236}">
                <a16:creationId xmlns:a16="http://schemas.microsoft.com/office/drawing/2014/main" id="{04234BB2-75D7-EAA8-8D18-438FB80D83E9}"/>
              </a:ext>
            </a:extLst>
          </p:cNvPr>
          <p:cNvGrpSpPr/>
          <p:nvPr/>
        </p:nvGrpSpPr>
        <p:grpSpPr>
          <a:xfrm>
            <a:off x="6035040" y="3291840"/>
            <a:ext cx="2560320" cy="1463040"/>
            <a:chOff x="6035040" y="3291840"/>
            <a:chExt cx="2560320" cy="1463040"/>
          </a:xfrm>
        </p:grpSpPr>
        <p:sp>
          <p:nvSpPr>
            <p:cNvPr id="52" name="Shape 39"/>
            <p:cNvSpPr/>
            <p:nvPr/>
          </p:nvSpPr>
          <p:spPr>
            <a:xfrm>
              <a:off x="6035040" y="3291840"/>
              <a:ext cx="2560320" cy="1463040"/>
            </a:xfrm>
            <a:prstGeom prst="rect">
              <a:avLst/>
            </a:prstGeom>
            <a:solidFill>
              <a:srgbClr val="FFFFFF"/>
            </a:solidFill>
            <a:ln/>
            <a:effectLst>
              <a:outerShdw blurRad="50800" dist="25400" dir="8100000" algn="bl" rotWithShape="0">
                <a:srgbClr val="000000">
                  <a:alpha val="8000"/>
                </a:srgbClr>
              </a:outerShdw>
            </a:effectLst>
          </p:spPr>
        </p:sp>
        <p:sp>
          <p:nvSpPr>
            <p:cNvPr id="53" name="Shape 40"/>
            <p:cNvSpPr/>
            <p:nvPr/>
          </p:nvSpPr>
          <p:spPr>
            <a:xfrm>
              <a:off x="6035040" y="3291840"/>
              <a:ext cx="2560320" cy="54864"/>
            </a:xfrm>
            <a:prstGeom prst="rect">
              <a:avLst/>
            </a:prstGeom>
            <a:solidFill>
              <a:srgbClr val="0891B2"/>
            </a:solidFill>
            <a:ln/>
          </p:spPr>
        </p:sp>
        <p:sp>
          <p:nvSpPr>
            <p:cNvPr id="54" name="Text 41"/>
            <p:cNvSpPr/>
            <p:nvPr/>
          </p:nvSpPr>
          <p:spPr>
            <a:xfrm>
              <a:off x="6217920" y="3429000"/>
              <a:ext cx="21945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What the Human Does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5" name="Image 11" descr="preencoded.png"/>
            <p:cNvPicPr>
              <a:picLocks noChangeAspect="1"/>
            </p:cNvPicPr>
            <p:nvPr/>
          </p:nvPicPr>
          <p:blipFill>
            <a:blip r:embed="rId6"/>
            <a:stretch>
              <a:fillRect/>
            </a:stretch>
          </p:blipFill>
          <p:spPr>
            <a:xfrm>
              <a:off x="6263640" y="3794760"/>
              <a:ext cx="182880" cy="182880"/>
            </a:xfrm>
            <a:prstGeom prst="rect">
              <a:avLst/>
            </a:prstGeom>
          </p:spPr>
        </p:pic>
        <p:sp>
          <p:nvSpPr>
            <p:cNvPr id="56" name="Text 42"/>
            <p:cNvSpPr/>
            <p:nvPr/>
          </p:nvSpPr>
          <p:spPr>
            <a:xfrm>
              <a:off x="6537960" y="3794760"/>
              <a:ext cx="1828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Types one request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7" name="Image 12" descr="preencoded.png"/>
            <p:cNvPicPr>
              <a:picLocks noChangeAspect="1"/>
            </p:cNvPicPr>
            <p:nvPr/>
          </p:nvPicPr>
          <p:blipFill>
            <a:blip r:embed="rId6"/>
            <a:stretch>
              <a:fillRect/>
            </a:stretch>
          </p:blipFill>
          <p:spPr>
            <a:xfrm>
              <a:off x="6263640" y="4069080"/>
              <a:ext cx="182880" cy="182880"/>
            </a:xfrm>
            <a:prstGeom prst="rect">
              <a:avLst/>
            </a:prstGeom>
          </p:spPr>
        </p:pic>
        <p:sp>
          <p:nvSpPr>
            <p:cNvPr id="58" name="Text 43"/>
            <p:cNvSpPr/>
            <p:nvPr/>
          </p:nvSpPr>
          <p:spPr>
            <a:xfrm>
              <a:off x="6537960" y="4069080"/>
              <a:ext cx="1828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Reviews summary report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9" name="Image 13" descr="preencoded.png"/>
            <p:cNvPicPr>
              <a:picLocks noChangeAspect="1"/>
            </p:cNvPicPr>
            <p:nvPr/>
          </p:nvPicPr>
          <p:blipFill>
            <a:blip r:embed="rId6"/>
            <a:stretch>
              <a:fillRect/>
            </a:stretch>
          </p:blipFill>
          <p:spPr>
            <a:xfrm>
              <a:off x="6263640" y="4343400"/>
              <a:ext cx="182880" cy="182880"/>
            </a:xfrm>
            <a:prstGeom prst="rect">
              <a:avLst/>
            </a:prstGeom>
          </p:spPr>
        </p:pic>
        <p:sp>
          <p:nvSpPr>
            <p:cNvPr id="60" name="Text 44"/>
            <p:cNvSpPr/>
            <p:nvPr/>
          </p:nvSpPr>
          <p:spPr>
            <a:xfrm>
              <a:off x="6537960" y="4343400"/>
              <a:ext cx="18288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Approves (if needed)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nodeType="clickEffect">
                                  <p:stCondLst>
                                    <p:cond delay="0"/>
                                  </p:stCondLst>
                                  <p:childTnLst>
                                    <p:set>
                                      <p:cBhvr>
                                        <p:cTn id="10" dur="1" fill="hold">
                                          <p:stCondLst>
                                            <p:cond delay="0"/>
                                          </p:stCondLst>
                                        </p:cTn>
                                        <p:tgtEl>
                                          <p:spTgt spid="62"/>
                                        </p:tgtEl>
                                        <p:attrNameLst>
                                          <p:attrName>style.visibility</p:attrName>
                                        </p:attrNameLst>
                                      </p:cBhvr>
                                      <p:to>
                                        <p:strVal val="visible"/>
                                      </p:to>
                                    </p:set>
                                    <p:animEffect transition="in" filter="fade">
                                      <p:cBhvr>
                                        <p:cTn id="11" dur="1000"/>
                                        <p:tgtEl>
                                          <p:spTgt spid="62"/>
                                        </p:tgtEl>
                                      </p:cBhvr>
                                    </p:animEffect>
                                    <p:anim calcmode="lin" valueType="num">
                                      <p:cBhvr>
                                        <p:cTn id="12" dur="1000" fill="hold"/>
                                        <p:tgtEl>
                                          <p:spTgt spid="62"/>
                                        </p:tgtEl>
                                        <p:attrNameLst>
                                          <p:attrName>ppt_x</p:attrName>
                                        </p:attrNameLst>
                                      </p:cBhvr>
                                      <p:tavLst>
                                        <p:tav tm="0">
                                          <p:val>
                                            <p:strVal val="#ppt_x"/>
                                          </p:val>
                                        </p:tav>
                                        <p:tav tm="100000">
                                          <p:val>
                                            <p:strVal val="#ppt_x"/>
                                          </p:val>
                                        </p:tav>
                                      </p:tavLst>
                                    </p:anim>
                                    <p:anim calcmode="lin" valueType="num">
                                      <p:cBhvr>
                                        <p:cTn id="13" dur="1000" fill="hold"/>
                                        <p:tgtEl>
                                          <p:spTgt spid="62"/>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63"/>
                                        </p:tgtEl>
                                        <p:attrNameLst>
                                          <p:attrName>style.visibility</p:attrName>
                                        </p:attrNameLst>
                                      </p:cBhvr>
                                      <p:to>
                                        <p:strVal val="visible"/>
                                      </p:to>
                                    </p:set>
                                    <p:animEffect transition="in" filter="fade">
                                      <p:cBhvr>
                                        <p:cTn id="18" dur="1000"/>
                                        <p:tgtEl>
                                          <p:spTgt spid="63"/>
                                        </p:tgtEl>
                                      </p:cBhvr>
                                    </p:animEffect>
                                    <p:anim calcmode="lin" valueType="num">
                                      <p:cBhvr>
                                        <p:cTn id="19" dur="1000" fill="hold"/>
                                        <p:tgtEl>
                                          <p:spTgt spid="63"/>
                                        </p:tgtEl>
                                        <p:attrNameLst>
                                          <p:attrName>ppt_x</p:attrName>
                                        </p:attrNameLst>
                                      </p:cBhvr>
                                      <p:tavLst>
                                        <p:tav tm="0">
                                          <p:val>
                                            <p:strVal val="#ppt_x"/>
                                          </p:val>
                                        </p:tav>
                                        <p:tav tm="100000">
                                          <p:val>
                                            <p:strVal val="#ppt_x"/>
                                          </p:val>
                                        </p:tav>
                                      </p:tavLst>
                                    </p:anim>
                                    <p:anim calcmode="lin" valueType="num">
                                      <p:cBhvr>
                                        <p:cTn id="20" dur="1000" fill="hold"/>
                                        <p:tgtEl>
                                          <p:spTgt spid="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731520" y="91440"/>
            <a:ext cx="76809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Agentic AI Flow: The Agent Does the Heavy Lifting</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274320" y="1051560"/>
            <a:ext cx="1417320" cy="777240"/>
          </a:xfrm>
          <a:prstGeom prst="rect">
            <a:avLst/>
          </a:prstGeom>
          <a:solidFill>
            <a:srgbClr val="EDE9FE"/>
          </a:solidFill>
          <a:ln/>
          <a:effectLst>
            <a:outerShdw blurRad="50800" dist="25400" dir="8100000" algn="bl" rotWithShape="0">
              <a:srgbClr val="000000">
                <a:alpha val="8000"/>
              </a:srgbClr>
            </a:outerShdw>
          </a:effectLst>
        </p:spPr>
      </p:sp>
      <p:sp>
        <p:nvSpPr>
          <p:cNvPr id="5" name="Shape 3"/>
          <p:cNvSpPr/>
          <p:nvPr/>
        </p:nvSpPr>
        <p:spPr>
          <a:xfrm>
            <a:off x="365760" y="1143000"/>
            <a:ext cx="411480" cy="411480"/>
          </a:xfrm>
          <a:prstGeom prst="ellipse">
            <a:avLst/>
          </a:prstGeom>
          <a:solidFill>
            <a:srgbClr val="8B5CF6"/>
          </a:solidFill>
          <a:ln/>
        </p:spPr>
      </p:sp>
      <p:pic>
        <p:nvPicPr>
          <p:cNvPr id="6" name="Image 0" descr="preencoded.png"/>
          <p:cNvPicPr>
            <a:picLocks noChangeAspect="1"/>
          </p:cNvPicPr>
          <p:nvPr/>
        </p:nvPicPr>
        <p:blipFill>
          <a:blip r:embed="rId3"/>
          <a:stretch>
            <a:fillRect/>
          </a:stretch>
        </p:blipFill>
        <p:spPr>
          <a:xfrm>
            <a:off x="456286" y="1233526"/>
            <a:ext cx="230429" cy="230429"/>
          </a:xfrm>
          <a:prstGeom prst="rect">
            <a:avLst/>
          </a:prstGeom>
        </p:spPr>
      </p:pic>
      <p:sp>
        <p:nvSpPr>
          <p:cNvPr id="7" name="Text 4"/>
          <p:cNvSpPr/>
          <p:nvPr/>
        </p:nvSpPr>
        <p:spPr>
          <a:xfrm>
            <a:off x="822960" y="1097280"/>
            <a:ext cx="7772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Human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Request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Image 1" descr="preencoded.png"/>
          <p:cNvPicPr>
            <a:picLocks noChangeAspect="1"/>
          </p:cNvPicPr>
          <p:nvPr/>
        </p:nvPicPr>
        <p:blipFill>
          <a:blip r:embed="rId4"/>
          <a:stretch>
            <a:fillRect/>
          </a:stretch>
        </p:blipFill>
        <p:spPr>
          <a:xfrm>
            <a:off x="1737360" y="1280160"/>
            <a:ext cx="182880" cy="182880"/>
          </a:xfrm>
          <a:prstGeom prst="rect">
            <a:avLst/>
          </a:prstGeom>
        </p:spPr>
      </p:pic>
      <p:sp>
        <p:nvSpPr>
          <p:cNvPr id="9" name="Shape 5"/>
          <p:cNvSpPr/>
          <p:nvPr/>
        </p:nvSpPr>
        <p:spPr>
          <a:xfrm>
            <a:off x="1965960" y="1051560"/>
            <a:ext cx="1737360" cy="777240"/>
          </a:xfrm>
          <a:prstGeom prst="rect">
            <a:avLst/>
          </a:prstGeom>
          <a:solidFill>
            <a:srgbClr val="DBEAFE"/>
          </a:solidFill>
          <a:ln/>
          <a:effectLst>
            <a:outerShdw blurRad="50800" dist="25400" dir="8100000" algn="bl" rotWithShape="0">
              <a:srgbClr val="000000">
                <a:alpha val="8000"/>
              </a:srgbClr>
            </a:outerShdw>
          </a:effectLst>
        </p:spPr>
      </p:sp>
      <p:sp>
        <p:nvSpPr>
          <p:cNvPr id="10" name="Shape 6"/>
          <p:cNvSpPr/>
          <p:nvPr/>
        </p:nvSpPr>
        <p:spPr>
          <a:xfrm>
            <a:off x="2057400" y="1143000"/>
            <a:ext cx="411480" cy="411480"/>
          </a:xfrm>
          <a:prstGeom prst="ellipse">
            <a:avLst/>
          </a:prstGeom>
          <a:solidFill>
            <a:srgbClr val="0891B2"/>
          </a:solidFill>
          <a:ln/>
        </p:spPr>
      </p:sp>
      <p:pic>
        <p:nvPicPr>
          <p:cNvPr id="11" name="Image 2" descr="preencoded.png"/>
          <p:cNvPicPr>
            <a:picLocks noChangeAspect="1"/>
          </p:cNvPicPr>
          <p:nvPr/>
        </p:nvPicPr>
        <p:blipFill>
          <a:blip r:embed="rId5"/>
          <a:stretch>
            <a:fillRect/>
          </a:stretch>
        </p:blipFill>
        <p:spPr>
          <a:xfrm>
            <a:off x="2147926" y="1233526"/>
            <a:ext cx="230429" cy="230429"/>
          </a:xfrm>
          <a:prstGeom prst="rect">
            <a:avLst/>
          </a:prstGeom>
        </p:spPr>
      </p:pic>
      <p:sp>
        <p:nvSpPr>
          <p:cNvPr id="12" name="Text 7"/>
          <p:cNvSpPr/>
          <p:nvPr/>
        </p:nvSpPr>
        <p:spPr>
          <a:xfrm>
            <a:off x="2560320" y="1097280"/>
            <a:ext cx="105156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Agent Plans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8 Sub-tasks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 3" descr="preencoded.png"/>
          <p:cNvPicPr>
            <a:picLocks noChangeAspect="1"/>
          </p:cNvPicPr>
          <p:nvPr/>
        </p:nvPicPr>
        <p:blipFill>
          <a:blip r:embed="rId6"/>
          <a:stretch>
            <a:fillRect/>
          </a:stretch>
        </p:blipFill>
        <p:spPr>
          <a:xfrm>
            <a:off x="2743200" y="1874520"/>
            <a:ext cx="182880" cy="182880"/>
          </a:xfrm>
          <a:prstGeom prst="rect">
            <a:avLst/>
          </a:prstGeom>
        </p:spPr>
      </p:pic>
      <p:sp>
        <p:nvSpPr>
          <p:cNvPr id="14" name="Text 8"/>
          <p:cNvSpPr/>
          <p:nvPr/>
        </p:nvSpPr>
        <p:spPr>
          <a:xfrm>
            <a:off x="274320" y="2103120"/>
            <a:ext cx="457200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Agent Executes Tools Autonomously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9"/>
          <p:cNvSpPr/>
          <p:nvPr/>
        </p:nvSpPr>
        <p:spPr>
          <a:xfrm>
            <a:off x="274320" y="2468880"/>
            <a:ext cx="1280160" cy="777240"/>
          </a:xfrm>
          <a:prstGeom prst="rect">
            <a:avLst/>
          </a:prstGeom>
          <a:solidFill>
            <a:srgbClr val="D1FAE5"/>
          </a:solidFill>
          <a:ln/>
          <a:effectLst>
            <a:outerShdw blurRad="50800" dist="25400" dir="8100000" algn="bl" rotWithShape="0">
              <a:srgbClr val="000000">
                <a:alpha val="8000"/>
              </a:srgbClr>
            </a:outerShdw>
          </a:effectLst>
        </p:spPr>
      </p:sp>
      <p:sp>
        <p:nvSpPr>
          <p:cNvPr id="16" name="Shape 10"/>
          <p:cNvSpPr/>
          <p:nvPr/>
        </p:nvSpPr>
        <p:spPr>
          <a:xfrm>
            <a:off x="320040" y="2606040"/>
            <a:ext cx="365760" cy="365760"/>
          </a:xfrm>
          <a:prstGeom prst="ellipse">
            <a:avLst/>
          </a:prstGeom>
          <a:solidFill>
            <a:srgbClr val="10B981"/>
          </a:solidFill>
          <a:ln/>
        </p:spPr>
      </p:sp>
      <p:pic>
        <p:nvPicPr>
          <p:cNvPr id="17" name="Image 4" descr="preencoded.png"/>
          <p:cNvPicPr>
            <a:picLocks noChangeAspect="1"/>
          </p:cNvPicPr>
          <p:nvPr/>
        </p:nvPicPr>
        <p:blipFill>
          <a:blip r:embed="rId7"/>
          <a:stretch>
            <a:fillRect/>
          </a:stretch>
        </p:blipFill>
        <p:spPr>
          <a:xfrm>
            <a:off x="400507" y="2686507"/>
            <a:ext cx="204826" cy="204826"/>
          </a:xfrm>
          <a:prstGeom prst="rect">
            <a:avLst/>
          </a:prstGeom>
        </p:spPr>
      </p:pic>
      <p:sp>
        <p:nvSpPr>
          <p:cNvPr id="18" name="Text 11"/>
          <p:cNvSpPr/>
          <p:nvPr/>
        </p:nvSpPr>
        <p:spPr>
          <a:xfrm>
            <a:off x="731520" y="2542032"/>
            <a:ext cx="7772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Google Admin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Create Email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2"/>
          <p:cNvSpPr/>
          <p:nvPr/>
        </p:nvSpPr>
        <p:spPr>
          <a:xfrm>
            <a:off x="1691640" y="2468880"/>
            <a:ext cx="1280160" cy="777240"/>
          </a:xfrm>
          <a:prstGeom prst="rect">
            <a:avLst/>
          </a:prstGeom>
          <a:solidFill>
            <a:srgbClr val="D1FAE5"/>
          </a:solidFill>
          <a:ln/>
          <a:effectLst>
            <a:outerShdw blurRad="50800" dist="25400" dir="8100000" algn="bl" rotWithShape="0">
              <a:srgbClr val="000000">
                <a:alpha val="8000"/>
              </a:srgbClr>
            </a:outerShdw>
          </a:effectLst>
        </p:spPr>
      </p:sp>
      <p:sp>
        <p:nvSpPr>
          <p:cNvPr id="20" name="Shape 13"/>
          <p:cNvSpPr/>
          <p:nvPr/>
        </p:nvSpPr>
        <p:spPr>
          <a:xfrm>
            <a:off x="1737360" y="2606040"/>
            <a:ext cx="365760" cy="365760"/>
          </a:xfrm>
          <a:prstGeom prst="ellipse">
            <a:avLst/>
          </a:prstGeom>
          <a:solidFill>
            <a:srgbClr val="10B981"/>
          </a:solidFill>
          <a:ln/>
        </p:spPr>
      </p:sp>
      <p:pic>
        <p:nvPicPr>
          <p:cNvPr id="21" name="Image 5" descr="preencoded.png"/>
          <p:cNvPicPr>
            <a:picLocks noChangeAspect="1"/>
          </p:cNvPicPr>
          <p:nvPr/>
        </p:nvPicPr>
        <p:blipFill>
          <a:blip r:embed="rId8"/>
          <a:stretch>
            <a:fillRect/>
          </a:stretch>
        </p:blipFill>
        <p:spPr>
          <a:xfrm>
            <a:off x="1817827" y="2686507"/>
            <a:ext cx="204826" cy="204826"/>
          </a:xfrm>
          <a:prstGeom prst="rect">
            <a:avLst/>
          </a:prstGeom>
        </p:spPr>
      </p:pic>
      <p:sp>
        <p:nvSpPr>
          <p:cNvPr id="22" name="Text 14"/>
          <p:cNvSpPr/>
          <p:nvPr/>
        </p:nvSpPr>
        <p:spPr>
          <a:xfrm>
            <a:off x="2148840" y="2542032"/>
            <a:ext cx="7772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Slack API</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Create Account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15"/>
          <p:cNvSpPr/>
          <p:nvPr/>
        </p:nvSpPr>
        <p:spPr>
          <a:xfrm>
            <a:off x="3108960" y="2468880"/>
            <a:ext cx="1280160" cy="777240"/>
          </a:xfrm>
          <a:prstGeom prst="rect">
            <a:avLst/>
          </a:prstGeom>
          <a:solidFill>
            <a:srgbClr val="D1FAE5"/>
          </a:solidFill>
          <a:ln/>
          <a:effectLst>
            <a:outerShdw blurRad="50800" dist="25400" dir="8100000" algn="bl" rotWithShape="0">
              <a:srgbClr val="000000">
                <a:alpha val="8000"/>
              </a:srgbClr>
            </a:outerShdw>
          </a:effectLst>
        </p:spPr>
      </p:sp>
      <p:sp>
        <p:nvSpPr>
          <p:cNvPr id="24" name="Shape 16"/>
          <p:cNvSpPr/>
          <p:nvPr/>
        </p:nvSpPr>
        <p:spPr>
          <a:xfrm>
            <a:off x="3154680" y="2606040"/>
            <a:ext cx="365760" cy="365760"/>
          </a:xfrm>
          <a:prstGeom prst="ellipse">
            <a:avLst/>
          </a:prstGeom>
          <a:solidFill>
            <a:srgbClr val="10B981"/>
          </a:solidFill>
          <a:ln/>
        </p:spPr>
      </p:sp>
      <p:pic>
        <p:nvPicPr>
          <p:cNvPr id="25" name="Image 6" descr="preencoded.png"/>
          <p:cNvPicPr>
            <a:picLocks noChangeAspect="1"/>
          </p:cNvPicPr>
          <p:nvPr/>
        </p:nvPicPr>
        <p:blipFill>
          <a:blip r:embed="rId9"/>
          <a:stretch>
            <a:fillRect/>
          </a:stretch>
        </p:blipFill>
        <p:spPr>
          <a:xfrm>
            <a:off x="3235147" y="2686507"/>
            <a:ext cx="204826" cy="204826"/>
          </a:xfrm>
          <a:prstGeom prst="rect">
            <a:avLst/>
          </a:prstGeom>
        </p:spPr>
      </p:pic>
      <p:sp>
        <p:nvSpPr>
          <p:cNvPr id="26" name="Text 17"/>
          <p:cNvSpPr/>
          <p:nvPr/>
        </p:nvSpPr>
        <p:spPr>
          <a:xfrm>
            <a:off x="3566160" y="2542032"/>
            <a:ext cx="7772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IT Portal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Order Laptop</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18"/>
          <p:cNvSpPr/>
          <p:nvPr/>
        </p:nvSpPr>
        <p:spPr>
          <a:xfrm>
            <a:off x="4526280" y="2468880"/>
            <a:ext cx="1280160" cy="777240"/>
          </a:xfrm>
          <a:prstGeom prst="rect">
            <a:avLst/>
          </a:prstGeom>
          <a:solidFill>
            <a:srgbClr val="D1FAE5"/>
          </a:solidFill>
          <a:ln/>
          <a:effectLst>
            <a:outerShdw blurRad="50800" dist="25400" dir="8100000" algn="bl" rotWithShape="0">
              <a:srgbClr val="000000">
                <a:alpha val="8000"/>
              </a:srgbClr>
            </a:outerShdw>
          </a:effectLst>
        </p:spPr>
      </p:sp>
      <p:sp>
        <p:nvSpPr>
          <p:cNvPr id="28" name="Shape 19"/>
          <p:cNvSpPr/>
          <p:nvPr/>
        </p:nvSpPr>
        <p:spPr>
          <a:xfrm>
            <a:off x="4572000" y="2606040"/>
            <a:ext cx="365760" cy="365760"/>
          </a:xfrm>
          <a:prstGeom prst="ellipse">
            <a:avLst/>
          </a:prstGeom>
          <a:solidFill>
            <a:srgbClr val="10B981"/>
          </a:solidFill>
          <a:ln/>
        </p:spPr>
      </p:sp>
      <p:pic>
        <p:nvPicPr>
          <p:cNvPr id="29" name="Image 7" descr="preencoded.png"/>
          <p:cNvPicPr>
            <a:picLocks noChangeAspect="1"/>
          </p:cNvPicPr>
          <p:nvPr/>
        </p:nvPicPr>
        <p:blipFill>
          <a:blip r:embed="rId10"/>
          <a:stretch>
            <a:fillRect/>
          </a:stretch>
        </p:blipFill>
        <p:spPr>
          <a:xfrm>
            <a:off x="4652467" y="2686507"/>
            <a:ext cx="204826" cy="204826"/>
          </a:xfrm>
          <a:prstGeom prst="rect">
            <a:avLst/>
          </a:prstGeom>
        </p:spPr>
      </p:pic>
      <p:sp>
        <p:nvSpPr>
          <p:cNvPr id="30" name="Text 20"/>
          <p:cNvSpPr/>
          <p:nvPr/>
        </p:nvSpPr>
        <p:spPr>
          <a:xfrm>
            <a:off x="4983480" y="2542032"/>
            <a:ext cx="7772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DevOps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SSH + GitHub</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1"/>
          <p:cNvSpPr/>
          <p:nvPr/>
        </p:nvSpPr>
        <p:spPr>
          <a:xfrm>
            <a:off x="274320" y="3429000"/>
            <a:ext cx="1280160" cy="777240"/>
          </a:xfrm>
          <a:prstGeom prst="rect">
            <a:avLst/>
          </a:prstGeom>
          <a:solidFill>
            <a:srgbClr val="D1FAE5"/>
          </a:solidFill>
          <a:ln/>
          <a:effectLst>
            <a:outerShdw blurRad="50800" dist="25400" dir="8100000" algn="bl" rotWithShape="0">
              <a:srgbClr val="000000">
                <a:alpha val="8000"/>
              </a:srgbClr>
            </a:outerShdw>
          </a:effectLst>
        </p:spPr>
      </p:sp>
      <p:sp>
        <p:nvSpPr>
          <p:cNvPr id="32" name="Shape 22"/>
          <p:cNvSpPr/>
          <p:nvPr/>
        </p:nvSpPr>
        <p:spPr>
          <a:xfrm>
            <a:off x="320040" y="3566160"/>
            <a:ext cx="365760" cy="365760"/>
          </a:xfrm>
          <a:prstGeom prst="ellipse">
            <a:avLst/>
          </a:prstGeom>
          <a:solidFill>
            <a:srgbClr val="10B981"/>
          </a:solidFill>
          <a:ln/>
        </p:spPr>
      </p:sp>
      <p:pic>
        <p:nvPicPr>
          <p:cNvPr id="33" name="Image 8" descr="preencoded.png"/>
          <p:cNvPicPr>
            <a:picLocks noChangeAspect="1"/>
          </p:cNvPicPr>
          <p:nvPr/>
        </p:nvPicPr>
        <p:blipFill>
          <a:blip r:embed="rId11"/>
          <a:stretch>
            <a:fillRect/>
          </a:stretch>
        </p:blipFill>
        <p:spPr>
          <a:xfrm>
            <a:off x="400507" y="3646627"/>
            <a:ext cx="204826" cy="204826"/>
          </a:xfrm>
          <a:prstGeom prst="rect">
            <a:avLst/>
          </a:prstGeom>
        </p:spPr>
      </p:pic>
      <p:sp>
        <p:nvSpPr>
          <p:cNvPr id="34" name="Text 23"/>
          <p:cNvSpPr/>
          <p:nvPr/>
        </p:nvSpPr>
        <p:spPr>
          <a:xfrm>
            <a:off x="731520" y="3502152"/>
            <a:ext cx="7772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Calendar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5 Meetings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Shape 24"/>
          <p:cNvSpPr/>
          <p:nvPr/>
        </p:nvSpPr>
        <p:spPr>
          <a:xfrm>
            <a:off x="1691640" y="3429000"/>
            <a:ext cx="1280160" cy="777240"/>
          </a:xfrm>
          <a:prstGeom prst="rect">
            <a:avLst/>
          </a:prstGeom>
          <a:solidFill>
            <a:srgbClr val="D1FAE5"/>
          </a:solidFill>
          <a:ln/>
          <a:effectLst>
            <a:outerShdw blurRad="50800" dist="25400" dir="8100000" algn="bl" rotWithShape="0">
              <a:srgbClr val="000000">
                <a:alpha val="8000"/>
              </a:srgbClr>
            </a:outerShdw>
          </a:effectLst>
        </p:spPr>
      </p:sp>
      <p:sp>
        <p:nvSpPr>
          <p:cNvPr id="36" name="Shape 25"/>
          <p:cNvSpPr/>
          <p:nvPr/>
        </p:nvSpPr>
        <p:spPr>
          <a:xfrm>
            <a:off x="1737360" y="3566160"/>
            <a:ext cx="365760" cy="365760"/>
          </a:xfrm>
          <a:prstGeom prst="ellipse">
            <a:avLst/>
          </a:prstGeom>
          <a:solidFill>
            <a:srgbClr val="10B981"/>
          </a:solidFill>
          <a:ln/>
        </p:spPr>
      </p:sp>
      <p:pic>
        <p:nvPicPr>
          <p:cNvPr id="37" name="Image 9" descr="preencoded.png"/>
          <p:cNvPicPr>
            <a:picLocks noChangeAspect="1"/>
          </p:cNvPicPr>
          <p:nvPr/>
        </p:nvPicPr>
        <p:blipFill>
          <a:blip r:embed="rId12"/>
          <a:stretch>
            <a:fillRect/>
          </a:stretch>
        </p:blipFill>
        <p:spPr>
          <a:xfrm>
            <a:off x="1817827" y="3646627"/>
            <a:ext cx="204826" cy="204826"/>
          </a:xfrm>
          <a:prstGeom prst="rect">
            <a:avLst/>
          </a:prstGeom>
        </p:spPr>
      </p:pic>
      <p:sp>
        <p:nvSpPr>
          <p:cNvPr id="38" name="Text 26"/>
          <p:cNvSpPr/>
          <p:nvPr/>
        </p:nvSpPr>
        <p:spPr>
          <a:xfrm>
            <a:off x="2148840" y="3502152"/>
            <a:ext cx="7772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HR Database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Assign Buddy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27"/>
          <p:cNvSpPr/>
          <p:nvPr/>
        </p:nvSpPr>
        <p:spPr>
          <a:xfrm>
            <a:off x="3108960" y="3429000"/>
            <a:ext cx="1280160" cy="777240"/>
          </a:xfrm>
          <a:prstGeom prst="rect">
            <a:avLst/>
          </a:prstGeom>
          <a:solidFill>
            <a:srgbClr val="D1FAE5"/>
          </a:solidFill>
          <a:ln/>
          <a:effectLst>
            <a:outerShdw blurRad="50800" dist="25400" dir="8100000" algn="bl" rotWithShape="0">
              <a:srgbClr val="000000">
                <a:alpha val="8000"/>
              </a:srgbClr>
            </a:outerShdw>
          </a:effectLst>
        </p:spPr>
      </p:sp>
      <p:sp>
        <p:nvSpPr>
          <p:cNvPr id="40" name="Shape 28"/>
          <p:cNvSpPr/>
          <p:nvPr/>
        </p:nvSpPr>
        <p:spPr>
          <a:xfrm>
            <a:off x="3154680" y="3566160"/>
            <a:ext cx="365760" cy="365760"/>
          </a:xfrm>
          <a:prstGeom prst="ellipse">
            <a:avLst/>
          </a:prstGeom>
          <a:solidFill>
            <a:srgbClr val="10B981"/>
          </a:solidFill>
          <a:ln/>
        </p:spPr>
      </p:sp>
      <p:pic>
        <p:nvPicPr>
          <p:cNvPr id="41" name="Image 10" descr="preencoded.png"/>
          <p:cNvPicPr>
            <a:picLocks noChangeAspect="1"/>
          </p:cNvPicPr>
          <p:nvPr/>
        </p:nvPicPr>
        <p:blipFill>
          <a:blip r:embed="rId7"/>
          <a:stretch>
            <a:fillRect/>
          </a:stretch>
        </p:blipFill>
        <p:spPr>
          <a:xfrm>
            <a:off x="3235147" y="3646627"/>
            <a:ext cx="204826" cy="204826"/>
          </a:xfrm>
          <a:prstGeom prst="rect">
            <a:avLst/>
          </a:prstGeom>
        </p:spPr>
      </p:pic>
      <p:sp>
        <p:nvSpPr>
          <p:cNvPr id="42" name="Text 29"/>
          <p:cNvSpPr/>
          <p:nvPr/>
        </p:nvSpPr>
        <p:spPr>
          <a:xfrm>
            <a:off x="3566160" y="3502152"/>
            <a:ext cx="7772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Email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Welcome Msg</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Shape 30"/>
          <p:cNvSpPr/>
          <p:nvPr/>
        </p:nvSpPr>
        <p:spPr>
          <a:xfrm>
            <a:off x="4526280" y="3429000"/>
            <a:ext cx="1280160" cy="777240"/>
          </a:xfrm>
          <a:prstGeom prst="rect">
            <a:avLst/>
          </a:prstGeom>
          <a:solidFill>
            <a:srgbClr val="D1FAE5"/>
          </a:solidFill>
          <a:ln/>
          <a:effectLst>
            <a:outerShdw blurRad="50800" dist="25400" dir="8100000" algn="bl" rotWithShape="0">
              <a:srgbClr val="000000">
                <a:alpha val="8000"/>
              </a:srgbClr>
            </a:outerShdw>
          </a:effectLst>
        </p:spPr>
      </p:sp>
      <p:sp>
        <p:nvSpPr>
          <p:cNvPr id="44" name="Shape 31"/>
          <p:cNvSpPr/>
          <p:nvPr/>
        </p:nvSpPr>
        <p:spPr>
          <a:xfrm>
            <a:off x="4572000" y="3566160"/>
            <a:ext cx="365760" cy="365760"/>
          </a:xfrm>
          <a:prstGeom prst="ellipse">
            <a:avLst/>
          </a:prstGeom>
          <a:solidFill>
            <a:srgbClr val="10B981"/>
          </a:solidFill>
          <a:ln/>
        </p:spPr>
      </p:sp>
      <p:pic>
        <p:nvPicPr>
          <p:cNvPr id="45" name="Image 11" descr="preencoded.png"/>
          <p:cNvPicPr>
            <a:picLocks noChangeAspect="1"/>
          </p:cNvPicPr>
          <p:nvPr/>
        </p:nvPicPr>
        <p:blipFill>
          <a:blip r:embed="rId8"/>
          <a:stretch>
            <a:fillRect/>
          </a:stretch>
        </p:blipFill>
        <p:spPr>
          <a:xfrm>
            <a:off x="4652467" y="3646627"/>
            <a:ext cx="204826" cy="204826"/>
          </a:xfrm>
          <a:prstGeom prst="rect">
            <a:avLst/>
          </a:prstGeom>
        </p:spPr>
      </p:pic>
      <p:sp>
        <p:nvSpPr>
          <p:cNvPr id="46" name="Text 32"/>
          <p:cNvSpPr/>
          <p:nvPr/>
        </p:nvSpPr>
        <p:spPr>
          <a:xfrm>
            <a:off x="4983480" y="3502152"/>
            <a:ext cx="7772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Slack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E293B"/>
                </a:solidFill>
                <a:effectLst/>
                <a:uLnTx/>
                <a:uFillTx/>
                <a:latin typeface="Calibri" pitchFamily="34" charset="0"/>
                <a:ea typeface="Calibri" pitchFamily="34" charset="-122"/>
                <a:cs typeface="Calibri" pitchFamily="34" charset="-120"/>
              </a:rPr>
              <a:t>Team Notice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7" name="Image 12" descr="preencoded.png"/>
          <p:cNvPicPr>
            <a:picLocks noChangeAspect="1"/>
          </p:cNvPicPr>
          <p:nvPr/>
        </p:nvPicPr>
        <p:blipFill>
          <a:blip r:embed="rId6"/>
          <a:stretch>
            <a:fillRect/>
          </a:stretch>
        </p:blipFill>
        <p:spPr>
          <a:xfrm>
            <a:off x="2743200" y="4389120"/>
            <a:ext cx="182880" cy="182880"/>
          </a:xfrm>
          <a:prstGeom prst="rect">
            <a:avLst/>
          </a:prstGeom>
        </p:spPr>
      </p:pic>
      <p:sp>
        <p:nvSpPr>
          <p:cNvPr id="48" name="Shape 33"/>
          <p:cNvSpPr/>
          <p:nvPr/>
        </p:nvSpPr>
        <p:spPr>
          <a:xfrm>
            <a:off x="5943600" y="1051560"/>
            <a:ext cx="2743200" cy="1371600"/>
          </a:xfrm>
          <a:prstGeom prst="rect">
            <a:avLst/>
          </a:prstGeom>
          <a:solidFill>
            <a:srgbClr val="FFFFFF"/>
          </a:solidFill>
          <a:ln/>
          <a:effectLst>
            <a:outerShdw blurRad="50800" dist="25400" dir="8100000" algn="bl" rotWithShape="0">
              <a:srgbClr val="000000">
                <a:alpha val="8000"/>
              </a:srgbClr>
            </a:outerShdw>
          </a:effectLst>
        </p:spPr>
      </p:sp>
      <p:sp>
        <p:nvSpPr>
          <p:cNvPr id="49" name="Shape 34"/>
          <p:cNvSpPr/>
          <p:nvPr/>
        </p:nvSpPr>
        <p:spPr>
          <a:xfrm>
            <a:off x="5943600" y="1051560"/>
            <a:ext cx="2743200" cy="54864"/>
          </a:xfrm>
          <a:prstGeom prst="rect">
            <a:avLst/>
          </a:prstGeom>
          <a:solidFill>
            <a:srgbClr val="0891B2"/>
          </a:solidFill>
          <a:ln/>
        </p:spPr>
      </p:sp>
      <p:sp>
        <p:nvSpPr>
          <p:cNvPr id="50" name="Text 35"/>
          <p:cNvSpPr/>
          <p:nvPr/>
        </p:nvSpPr>
        <p:spPr>
          <a:xfrm>
            <a:off x="6126480" y="1188720"/>
            <a:ext cx="2377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Agent Loop Per Task</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Shape 36"/>
          <p:cNvSpPr/>
          <p:nvPr/>
        </p:nvSpPr>
        <p:spPr>
          <a:xfrm>
            <a:off x="6080760" y="1554480"/>
            <a:ext cx="502920" cy="502920"/>
          </a:xfrm>
          <a:prstGeom prst="ellipse">
            <a:avLst/>
          </a:prstGeom>
          <a:solidFill>
            <a:srgbClr val="0891B2"/>
          </a:solidFill>
          <a:ln/>
        </p:spPr>
      </p:sp>
      <p:sp>
        <p:nvSpPr>
          <p:cNvPr id="52" name="Text 37"/>
          <p:cNvSpPr/>
          <p:nvPr/>
        </p:nvSpPr>
        <p:spPr>
          <a:xfrm>
            <a:off x="6080760" y="15544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Reason</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38"/>
          <p:cNvSpPr/>
          <p:nvPr/>
        </p:nvSpPr>
        <p:spPr>
          <a:xfrm>
            <a:off x="5943600" y="2084832"/>
            <a:ext cx="77724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Which tool next?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39"/>
          <p:cNvSpPr/>
          <p:nvPr/>
        </p:nvSpPr>
        <p:spPr>
          <a:xfrm>
            <a:off x="6720840" y="1554480"/>
            <a:ext cx="502920" cy="502920"/>
          </a:xfrm>
          <a:prstGeom prst="ellipse">
            <a:avLst/>
          </a:prstGeom>
          <a:solidFill>
            <a:srgbClr val="F59E0B"/>
          </a:solidFill>
          <a:ln/>
        </p:spPr>
      </p:sp>
      <p:sp>
        <p:nvSpPr>
          <p:cNvPr id="55" name="Text 40"/>
          <p:cNvSpPr/>
          <p:nvPr/>
        </p:nvSpPr>
        <p:spPr>
          <a:xfrm>
            <a:off x="6720840" y="15544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Act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41"/>
          <p:cNvSpPr/>
          <p:nvPr/>
        </p:nvSpPr>
        <p:spPr>
          <a:xfrm>
            <a:off x="6583680" y="2084832"/>
            <a:ext cx="77724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Call the API</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42"/>
          <p:cNvSpPr/>
          <p:nvPr/>
        </p:nvSpPr>
        <p:spPr>
          <a:xfrm>
            <a:off x="7360920" y="1554480"/>
            <a:ext cx="502920" cy="502920"/>
          </a:xfrm>
          <a:prstGeom prst="ellipse">
            <a:avLst/>
          </a:prstGeom>
          <a:solidFill>
            <a:srgbClr val="10B981"/>
          </a:solidFill>
          <a:ln/>
        </p:spPr>
      </p:sp>
      <p:sp>
        <p:nvSpPr>
          <p:cNvPr id="58" name="Text 43"/>
          <p:cNvSpPr/>
          <p:nvPr/>
        </p:nvSpPr>
        <p:spPr>
          <a:xfrm>
            <a:off x="7360920" y="15544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Observe</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44"/>
          <p:cNvSpPr/>
          <p:nvPr/>
        </p:nvSpPr>
        <p:spPr>
          <a:xfrm>
            <a:off x="7223760" y="2084832"/>
            <a:ext cx="77724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Check result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Shape 45"/>
          <p:cNvSpPr/>
          <p:nvPr/>
        </p:nvSpPr>
        <p:spPr>
          <a:xfrm>
            <a:off x="8001000" y="1554480"/>
            <a:ext cx="502920" cy="502920"/>
          </a:xfrm>
          <a:prstGeom prst="ellipse">
            <a:avLst/>
          </a:prstGeom>
          <a:solidFill>
            <a:srgbClr val="8B5CF6"/>
          </a:solidFill>
          <a:ln/>
        </p:spPr>
      </p:sp>
      <p:sp>
        <p:nvSpPr>
          <p:cNvPr id="61" name="Text 46"/>
          <p:cNvSpPr/>
          <p:nvPr/>
        </p:nvSpPr>
        <p:spPr>
          <a:xfrm>
            <a:off x="8001000" y="1554480"/>
            <a:ext cx="50292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Adapt</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47"/>
          <p:cNvSpPr/>
          <p:nvPr/>
        </p:nvSpPr>
        <p:spPr>
          <a:xfrm>
            <a:off x="7863840" y="2084832"/>
            <a:ext cx="777240" cy="2286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Retry if error</a:t>
            </a:r>
            <a:endParaRPr kumimoji="0" lang="en-US" sz="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hape 48"/>
          <p:cNvSpPr/>
          <p:nvPr/>
        </p:nvSpPr>
        <p:spPr>
          <a:xfrm>
            <a:off x="5943600" y="2606040"/>
            <a:ext cx="2743200" cy="2103120"/>
          </a:xfrm>
          <a:prstGeom prst="rect">
            <a:avLst/>
          </a:prstGeom>
          <a:solidFill>
            <a:srgbClr val="FFFFFF"/>
          </a:solidFill>
          <a:ln/>
          <a:effectLst>
            <a:outerShdw blurRad="50800" dist="25400" dir="8100000" algn="bl" rotWithShape="0">
              <a:srgbClr val="000000">
                <a:alpha val="8000"/>
              </a:srgbClr>
            </a:outerShdw>
          </a:effectLst>
        </p:spPr>
      </p:sp>
      <p:sp>
        <p:nvSpPr>
          <p:cNvPr id="64" name="Shape 49"/>
          <p:cNvSpPr/>
          <p:nvPr/>
        </p:nvSpPr>
        <p:spPr>
          <a:xfrm>
            <a:off x="5943600" y="2606040"/>
            <a:ext cx="2743200" cy="54864"/>
          </a:xfrm>
          <a:prstGeom prst="rect">
            <a:avLst/>
          </a:prstGeom>
          <a:solidFill>
            <a:srgbClr val="10B981"/>
          </a:solidFill>
          <a:ln/>
        </p:spPr>
      </p:sp>
      <p:sp>
        <p:nvSpPr>
          <p:cNvPr id="65" name="Text 50"/>
          <p:cNvSpPr/>
          <p:nvPr/>
        </p:nvSpPr>
        <p:spPr>
          <a:xfrm>
            <a:off x="6126480" y="2697480"/>
            <a:ext cx="23774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Final Report to Human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51"/>
          <p:cNvSpPr/>
          <p:nvPr/>
        </p:nvSpPr>
        <p:spPr>
          <a:xfrm>
            <a:off x="6126480" y="3063240"/>
            <a:ext cx="23774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 Email: sarah.chen@company.com</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52"/>
          <p:cNvSpPr/>
          <p:nvPr/>
        </p:nvSpPr>
        <p:spPr>
          <a:xfrm>
            <a:off x="6126480" y="3264408"/>
            <a:ext cx="23774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 Slack: @sarah.chen + #welcome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53"/>
          <p:cNvSpPr/>
          <p:nvPr/>
        </p:nvSpPr>
        <p:spPr>
          <a:xfrm>
            <a:off x="6126480" y="3465576"/>
            <a:ext cx="23774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 Laptop: MacBook Pro (order #4521)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Text 54"/>
          <p:cNvSpPr/>
          <p:nvPr/>
        </p:nvSpPr>
        <p:spPr>
          <a:xfrm>
            <a:off x="6126480" y="3666744"/>
            <a:ext cx="23774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 GitHub: ssh key configured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0" name="Text 55"/>
          <p:cNvSpPr/>
          <p:nvPr/>
        </p:nvSpPr>
        <p:spPr>
          <a:xfrm>
            <a:off x="6126480" y="3867912"/>
            <a:ext cx="23774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 Meetings: 5 scheduled (Mon-Fri)</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Text 56"/>
          <p:cNvSpPr/>
          <p:nvPr/>
        </p:nvSpPr>
        <p:spPr>
          <a:xfrm>
            <a:off x="6126480" y="4069080"/>
            <a:ext cx="23774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 Buddy: assigned Alex Rivera</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Text 57"/>
          <p:cNvSpPr/>
          <p:nvPr/>
        </p:nvSpPr>
        <p:spPr>
          <a:xfrm>
            <a:off x="6126480" y="4270248"/>
            <a:ext cx="23774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 Welcome email: sent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Text 58"/>
          <p:cNvSpPr/>
          <p:nvPr/>
        </p:nvSpPr>
        <p:spPr>
          <a:xfrm>
            <a:off x="6126480" y="4471416"/>
            <a:ext cx="23774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 HR + Payroll: records created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731520" y="91440"/>
            <a:ext cx="76809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Head-to-Head: Generative AI vs Agentic AI on This Workflow</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Table 0"/>
          <p:cNvGraphicFramePr>
            <a:graphicFrameLocks noGrp="1"/>
          </p:cNvGraphicFramePr>
          <p:nvPr/>
        </p:nvGraphicFramePr>
        <p:xfrm>
          <a:off x="457200" y="1051560"/>
          <a:ext cx="8229600" cy="3456432"/>
        </p:xfrm>
        <a:graphic>
          <a:graphicData uri="http://schemas.openxmlformats.org/drawingml/2006/table">
            <a:tbl>
              <a:tblPr/>
              <a:tblGrid>
                <a:gridCol w="1645920">
                  <a:extLst>
                    <a:ext uri="{9D8B030D-6E8A-4147-A177-3AD203B41FA5}">
                      <a16:colId xmlns:a16="http://schemas.microsoft.com/office/drawing/2014/main" val="20000"/>
                    </a:ext>
                  </a:extLst>
                </a:gridCol>
                <a:gridCol w="301752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384048">
                <a:tc>
                  <a:txBody>
                    <a:bodyP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Dimension</a:t>
                      </a:r>
                      <a:endParaRPr lang="en-US" sz="13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Generative AI</a:t>
                      </a:r>
                      <a:endParaRPr lang="en-US" sz="13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8B5CF6"/>
                    </a:solidFill>
                  </a:tcPr>
                </a:tc>
                <a:tc>
                  <a:txBody>
                    <a:bodyP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Agentic AI</a:t>
                      </a:r>
                      <a:endParaRPr lang="en-US" sz="13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10B981"/>
                    </a:solidFill>
                  </a:tcPr>
                </a:tc>
                <a:extLst>
                  <a:ext uri="{0D108BD9-81ED-4DB2-BD59-A6C34878D82A}">
                    <a16:rowId xmlns:a16="http://schemas.microsoft.com/office/drawing/2014/main" val="10000"/>
                  </a:ext>
                </a:extLst>
              </a:tr>
              <a:tr h="438912">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Human Effort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Types prompt + does 8 manual tasks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0B981"/>
                          </a:solidFill>
                          <a:latin typeface="Calibri" pitchFamily="34" charset="0"/>
                          <a:ea typeface="Calibri" pitchFamily="34" charset="-122"/>
                          <a:cs typeface="Calibri" pitchFamily="34" charset="-120"/>
                        </a:rPr>
                        <a:t>Types one request, reviews report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Time to Complete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2-3 hours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0B981"/>
                          </a:solidFill>
                          <a:latin typeface="Calibri" pitchFamily="34" charset="0"/>
                          <a:ea typeface="Calibri" pitchFamily="34" charset="-122"/>
                          <a:cs typeface="Calibri" pitchFamily="34" charset="-120"/>
                        </a:rPr>
                        <a:t>~3 minutes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Systems Accessed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0 (text output only)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0B981"/>
                          </a:solidFill>
                          <a:latin typeface="Calibri" pitchFamily="34" charset="0"/>
                          <a:ea typeface="Calibri" pitchFamily="34" charset="-122"/>
                          <a:cs typeface="Calibri" pitchFamily="34" charset="-120"/>
                        </a:rPr>
                        <a:t>8+ (APIs, databases, email, Slack)</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Error Handling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Human catches own mistakes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0B981"/>
                          </a:solidFill>
                          <a:latin typeface="Calibri" pitchFamily="34" charset="0"/>
                          <a:ea typeface="Calibri" pitchFamily="34" charset="-122"/>
                          <a:cs typeface="Calibri" pitchFamily="34" charset="-120"/>
                        </a:rPr>
                        <a:t>Agent retries failed steps automatically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Consistency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Varies by who does it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0B981"/>
                          </a:solidFill>
                          <a:latin typeface="Calibri" pitchFamily="34" charset="0"/>
                          <a:ea typeface="Calibri" pitchFamily="34" charset="-122"/>
                          <a:cs typeface="Calibri" pitchFamily="34" charset="-120"/>
                        </a:rPr>
                        <a:t>Same quality every time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438912">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Scalability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1 onboarding = 2-3 hrs each</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0B981"/>
                          </a:solidFill>
                          <a:latin typeface="Calibri" pitchFamily="34" charset="0"/>
                          <a:ea typeface="Calibri" pitchFamily="34" charset="-122"/>
                          <a:cs typeface="Calibri" pitchFamily="34" charset="-120"/>
                        </a:rPr>
                        <a:t>10 onboardings = same 3 minutes each</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r h="438912">
                <a:tc>
                  <a:txBody>
                    <a:bodyPr/>
                    <a:lstStyle/>
                    <a:p>
                      <a:pPr marL="0" indent="0">
                        <a:buNone/>
                      </a:pPr>
                      <a:r>
                        <a:rPr lang="en-US" sz="1100" b="1" dirty="0">
                          <a:solidFill>
                            <a:srgbClr val="1E293B"/>
                          </a:solidFill>
                          <a:latin typeface="Calibri" pitchFamily="34" charset="0"/>
                          <a:ea typeface="Calibri" pitchFamily="34" charset="-122"/>
                          <a:cs typeface="Calibri" pitchFamily="34" charset="-120"/>
                        </a:rPr>
                        <a:t>Audit Trail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None (manual steps)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b="1" dirty="0">
                          <a:solidFill>
                            <a:srgbClr val="10B981"/>
                          </a:solidFill>
                          <a:latin typeface="Calibri" pitchFamily="34" charset="0"/>
                          <a:ea typeface="Calibri" pitchFamily="34" charset="-122"/>
                          <a:cs typeface="Calibri" pitchFamily="34" charset="-120"/>
                        </a:rPr>
                        <a:t>Full log of every action taken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5" name="Shape 2"/>
          <p:cNvSpPr/>
          <p:nvPr/>
        </p:nvSpPr>
        <p:spPr>
          <a:xfrm>
            <a:off x="457200" y="4526280"/>
            <a:ext cx="8229600" cy="502920"/>
          </a:xfrm>
          <a:prstGeom prst="rect">
            <a:avLst/>
          </a:prstGeom>
          <a:solidFill>
            <a:srgbClr val="0F172A"/>
          </a:solidFill>
          <a:ln/>
        </p:spPr>
      </p:sp>
      <p:sp>
        <p:nvSpPr>
          <p:cNvPr id="6" name="Text 3"/>
          <p:cNvSpPr/>
          <p:nvPr/>
        </p:nvSpPr>
        <p:spPr>
          <a:xfrm>
            <a:off x="731520" y="4544568"/>
            <a:ext cx="76809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22D3EE"/>
                </a:solidFill>
                <a:effectLst/>
                <a:uLnTx/>
                <a:uFillTx/>
                <a:latin typeface="Calibri" pitchFamily="34" charset="0"/>
                <a:ea typeface="Calibri" pitchFamily="34" charset="-122"/>
                <a:cs typeface="Calibri" pitchFamily="34" charset="-120"/>
              </a:rPr>
              <a:t>The difference isn't incremental — it's transformational. Agentic AI doesn't just help you work; it works FOR you.</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731520" y="91440"/>
            <a:ext cx="76809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What the Agent Code Looks Like (Simplified)</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731520"/>
            <a:ext cx="5303520" cy="4411980"/>
          </a:xfrm>
          <a:prstGeom prst="rect">
            <a:avLst/>
          </a:prstGeom>
          <a:solidFill>
            <a:srgbClr val="0F172A"/>
          </a:solidFill>
          <a:ln/>
        </p:spPr>
      </p:sp>
      <p:sp>
        <p:nvSpPr>
          <p:cNvPr id="5" name="Text 3"/>
          <p:cNvSpPr/>
          <p:nvPr/>
        </p:nvSpPr>
        <p:spPr>
          <a:xfrm>
            <a:off x="640080" y="1097280"/>
            <a:ext cx="4937760" cy="3657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Define onboarding tools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@tool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def create_email(name: str, dept: str) -&gt; str: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"""Create company email via Google Admin API."""</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return google_admin.create_user(name, dept)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@tool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def create_slack_account(email: str) -&gt; str: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"""Create Slack account and welcome channel."""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return slack_api.invite_user(email)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@tool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def schedule_meetings(email: str, dates: list):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"""Schedule orientation meetings."""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return calendar_api.bulk_create(email, dates)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@tool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def send_welcome_email(email: str, name: str):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"""Send personalized welcome package."""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return email_api.send_template("welcome", email)</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 more tools (laptop, HR, DevOps)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Create the Agent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tools = [create_email, create_slack_account,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schedule_meetings, send_welcome_email, ...]</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agent = create_react_agent(llm, tools, prompt)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executor = AgentExecutor(</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agent=agent, tools=tools,</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memory=memory, verbose=True, max_iterations=20</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One request → full onboarding</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executor.invoke({</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  "input": "Onboard Sarah Chen as SWE, Monday"</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a:t>
            </a:r>
            <a:endParaRPr kumimoji="0" lang="en-US" sz="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6035040" y="1005840"/>
            <a:ext cx="2743200" cy="1188720"/>
          </a:xfrm>
          <a:prstGeom prst="rect">
            <a:avLst/>
          </a:prstGeom>
          <a:solidFill>
            <a:srgbClr val="DBEAFE"/>
          </a:solidFill>
          <a:ln/>
          <a:effectLst>
            <a:outerShdw blurRad="50800" dist="25400" dir="8100000" algn="bl" rotWithShape="0">
              <a:srgbClr val="000000">
                <a:alpha val="8000"/>
              </a:srgbClr>
            </a:outerShdw>
          </a:effectLst>
        </p:spPr>
      </p:sp>
      <p:sp>
        <p:nvSpPr>
          <p:cNvPr id="7" name="Shape 5"/>
          <p:cNvSpPr/>
          <p:nvPr/>
        </p:nvSpPr>
        <p:spPr>
          <a:xfrm>
            <a:off x="6172200" y="1097280"/>
            <a:ext cx="365760" cy="365760"/>
          </a:xfrm>
          <a:prstGeom prst="ellipse">
            <a:avLst/>
          </a:prstGeom>
          <a:solidFill>
            <a:srgbClr val="0891B2"/>
          </a:solidFill>
          <a:ln/>
        </p:spPr>
      </p:sp>
      <p:pic>
        <p:nvPicPr>
          <p:cNvPr id="8" name="Image 0" descr="preencoded.png"/>
          <p:cNvPicPr>
            <a:picLocks noChangeAspect="1"/>
          </p:cNvPicPr>
          <p:nvPr/>
        </p:nvPicPr>
        <p:blipFill>
          <a:blip r:embed="rId3"/>
          <a:stretch>
            <a:fillRect/>
          </a:stretch>
        </p:blipFill>
        <p:spPr>
          <a:xfrm>
            <a:off x="6252667" y="1177747"/>
            <a:ext cx="204826" cy="204826"/>
          </a:xfrm>
          <a:prstGeom prst="rect">
            <a:avLst/>
          </a:prstGeom>
        </p:spPr>
      </p:pic>
      <p:sp>
        <p:nvSpPr>
          <p:cNvPr id="9" name="Text 6"/>
          <p:cNvSpPr/>
          <p:nvPr/>
        </p:nvSpPr>
        <p:spPr>
          <a:xfrm>
            <a:off x="6629400" y="1097280"/>
            <a:ext cx="2011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Tools = Agent's Hands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217920" y="1463040"/>
            <a:ext cx="237744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Each @tool wraps a real API call. The agent reads the docstring to know WHEN and HOW to use each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6035040" y="2377440"/>
            <a:ext cx="2743200" cy="1097280"/>
          </a:xfrm>
          <a:prstGeom prst="rect">
            <a:avLst/>
          </a:prstGeom>
          <a:solidFill>
            <a:srgbClr val="D1FAE5"/>
          </a:solidFill>
          <a:ln/>
          <a:effectLst>
            <a:outerShdw blurRad="50800" dist="25400" dir="8100000" algn="bl" rotWithShape="0">
              <a:srgbClr val="000000">
                <a:alpha val="8000"/>
              </a:srgbClr>
            </a:outerShdw>
          </a:effectLst>
        </p:spPr>
      </p:sp>
      <p:sp>
        <p:nvSpPr>
          <p:cNvPr id="12" name="Shape 9"/>
          <p:cNvSpPr/>
          <p:nvPr/>
        </p:nvSpPr>
        <p:spPr>
          <a:xfrm>
            <a:off x="6172200" y="2468880"/>
            <a:ext cx="365760" cy="365760"/>
          </a:xfrm>
          <a:prstGeom prst="ellipse">
            <a:avLst/>
          </a:prstGeom>
          <a:solidFill>
            <a:srgbClr val="10B981"/>
          </a:solidFill>
          <a:ln/>
        </p:spPr>
      </p:sp>
      <p:pic>
        <p:nvPicPr>
          <p:cNvPr id="13" name="Image 1" descr="preencoded.png"/>
          <p:cNvPicPr>
            <a:picLocks noChangeAspect="1"/>
          </p:cNvPicPr>
          <p:nvPr/>
        </p:nvPicPr>
        <p:blipFill>
          <a:blip r:embed="rId4"/>
          <a:stretch>
            <a:fillRect/>
          </a:stretch>
        </p:blipFill>
        <p:spPr>
          <a:xfrm>
            <a:off x="6252667" y="2549347"/>
            <a:ext cx="204826" cy="204826"/>
          </a:xfrm>
          <a:prstGeom prst="rect">
            <a:avLst/>
          </a:prstGeom>
        </p:spPr>
      </p:pic>
      <p:sp>
        <p:nvSpPr>
          <p:cNvPr id="14" name="Text 10"/>
          <p:cNvSpPr/>
          <p:nvPr/>
        </p:nvSpPr>
        <p:spPr>
          <a:xfrm>
            <a:off x="6629400" y="2468880"/>
            <a:ext cx="2011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LLM = Agent's Brain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6217920" y="2788920"/>
            <a:ext cx="2377440" cy="5943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The LLM plans which tools to call, in what order, and with what parameters. Zero hardcoded logic.</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6035040" y="3657600"/>
            <a:ext cx="2743200" cy="1188720"/>
          </a:xfrm>
          <a:prstGeom prst="rect">
            <a:avLst/>
          </a:prstGeom>
          <a:solidFill>
            <a:srgbClr val="FEF3C7"/>
          </a:solidFill>
          <a:ln/>
          <a:effectLst>
            <a:outerShdw blurRad="50800" dist="25400" dir="8100000" algn="bl" rotWithShape="0">
              <a:srgbClr val="000000">
                <a:alpha val="8000"/>
              </a:srgbClr>
            </a:outerShdw>
          </a:effectLst>
        </p:spPr>
      </p:sp>
      <p:sp>
        <p:nvSpPr>
          <p:cNvPr id="17" name="Shape 13"/>
          <p:cNvSpPr/>
          <p:nvPr/>
        </p:nvSpPr>
        <p:spPr>
          <a:xfrm>
            <a:off x="6172200" y="3749040"/>
            <a:ext cx="365760" cy="365760"/>
          </a:xfrm>
          <a:prstGeom prst="ellipse">
            <a:avLst/>
          </a:prstGeom>
          <a:solidFill>
            <a:srgbClr val="F59E0B"/>
          </a:solidFill>
          <a:ln/>
        </p:spPr>
      </p:sp>
      <p:pic>
        <p:nvPicPr>
          <p:cNvPr id="18" name="Image 2" descr="preencoded.png"/>
          <p:cNvPicPr>
            <a:picLocks noChangeAspect="1"/>
          </p:cNvPicPr>
          <p:nvPr/>
        </p:nvPicPr>
        <p:blipFill>
          <a:blip r:embed="rId5"/>
          <a:stretch>
            <a:fillRect/>
          </a:stretch>
        </p:blipFill>
        <p:spPr>
          <a:xfrm>
            <a:off x="6252667" y="3829507"/>
            <a:ext cx="204826" cy="204826"/>
          </a:xfrm>
          <a:prstGeom prst="rect">
            <a:avLst/>
          </a:prstGeom>
        </p:spPr>
      </p:pic>
      <p:sp>
        <p:nvSpPr>
          <p:cNvPr id="19" name="Text 14"/>
          <p:cNvSpPr/>
          <p:nvPr/>
        </p:nvSpPr>
        <p:spPr>
          <a:xfrm>
            <a:off x="6629400" y="3749040"/>
            <a:ext cx="20116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One Request = Done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5"/>
          <p:cNvSpPr/>
          <p:nvPr/>
        </p:nvSpPr>
        <p:spPr>
          <a:xfrm>
            <a:off x="6217920" y="4069080"/>
            <a:ext cx="237744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The human types ONE sentence. The agent autonomously executes all 8+ tasks, handles errors, and reports back.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731520" y="91440"/>
            <a:ext cx="76809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Inside the Agent's Mind: ReAct Trace for Onboarding</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05840"/>
            <a:ext cx="8229600" cy="3931920"/>
          </a:xfrm>
          <a:prstGeom prst="rect">
            <a:avLst/>
          </a:prstGeom>
          <a:solidFill>
            <a:srgbClr val="FFFFFF"/>
          </a:solidFill>
          <a:ln/>
          <a:effectLst>
            <a:outerShdw blurRad="50800" dist="25400" dir="8100000" algn="bl" rotWithShape="0">
              <a:srgbClr val="000000">
                <a:alpha val="8000"/>
              </a:srgbClr>
            </a:outerShdw>
          </a:effectLst>
        </p:spPr>
      </p:sp>
      <p:sp>
        <p:nvSpPr>
          <p:cNvPr id="5" name="Text 3"/>
          <p:cNvSpPr/>
          <p:nvPr/>
        </p:nvSpPr>
        <p:spPr>
          <a:xfrm>
            <a:off x="640080" y="109728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Consolas" pitchFamily="34" charset="0"/>
                <a:ea typeface="Consolas" pitchFamily="34" charset="-122"/>
                <a:cs typeface="Consolas" pitchFamily="34" charset="-120"/>
              </a:rPr>
              <a:t>Thought: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4"/>
          <p:cNvSpPr/>
          <p:nvPr/>
        </p:nvSpPr>
        <p:spPr>
          <a:xfrm>
            <a:off x="1691640" y="1097280"/>
            <a:ext cx="67665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onsolas" pitchFamily="34" charset="0"/>
                <a:ea typeface="Consolas" pitchFamily="34" charset="-122"/>
                <a:cs typeface="Consolas" pitchFamily="34" charset="-120"/>
              </a:rPr>
              <a:t>I need to onboard Sarah Chen as SWE starting Monday. Let me plan: 1) email, 2) Slack, 3) laptop, 4) credentials, 5) meetings, 6) buddy, 7) welcome email, 8) team notice. Starting with email account.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5"/>
          <p:cNvSpPr/>
          <p:nvPr/>
        </p:nvSpPr>
        <p:spPr>
          <a:xfrm>
            <a:off x="640080" y="150876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59E0B"/>
                </a:solidFill>
                <a:effectLst/>
                <a:uLnTx/>
                <a:uFillTx/>
                <a:latin typeface="Consolas" pitchFamily="34" charset="0"/>
                <a:ea typeface="Consolas" pitchFamily="34" charset="-122"/>
                <a:cs typeface="Consolas" pitchFamily="34" charset="-120"/>
              </a:rPr>
              <a:t>Action: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6"/>
          <p:cNvSpPr/>
          <p:nvPr/>
        </p:nvSpPr>
        <p:spPr>
          <a:xfrm>
            <a:off x="1691640" y="1508760"/>
            <a:ext cx="67665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onsolas" pitchFamily="34" charset="0"/>
                <a:ea typeface="Consolas" pitchFamily="34" charset="-122"/>
                <a:cs typeface="Consolas" pitchFamily="34" charset="-120"/>
              </a:rPr>
              <a:t>create_email(name='Sarah Chen', dept='Engineering')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7"/>
          <p:cNvSpPr/>
          <p:nvPr/>
        </p:nvSpPr>
        <p:spPr>
          <a:xfrm>
            <a:off x="640080" y="192024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Observation: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8"/>
          <p:cNvSpPr/>
          <p:nvPr/>
        </p:nvSpPr>
        <p:spPr>
          <a:xfrm>
            <a:off x="1691640" y="1920240"/>
            <a:ext cx="67665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onsolas" pitchFamily="34" charset="0"/>
                <a:ea typeface="Consolas" pitchFamily="34" charset="-122"/>
                <a:cs typeface="Consolas" pitchFamily="34" charset="-120"/>
              </a:rPr>
              <a:t>✓ Created sarah.chen@company.com — account active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9"/>
          <p:cNvSpPr/>
          <p:nvPr/>
        </p:nvSpPr>
        <p:spPr>
          <a:xfrm>
            <a:off x="640080" y="233172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Consolas" pitchFamily="34" charset="0"/>
                <a:ea typeface="Consolas" pitchFamily="34" charset="-122"/>
                <a:cs typeface="Consolas" pitchFamily="34" charset="-120"/>
              </a:rPr>
              <a:t>Thought: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10"/>
          <p:cNvSpPr/>
          <p:nvPr/>
        </p:nvSpPr>
        <p:spPr>
          <a:xfrm>
            <a:off x="1691640" y="2331720"/>
            <a:ext cx="67665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onsolas" pitchFamily="34" charset="0"/>
                <a:ea typeface="Consolas" pitchFamily="34" charset="-122"/>
                <a:cs typeface="Consolas" pitchFamily="34" charset="-120"/>
              </a:rPr>
              <a:t>Email done. Next: Slack account. I'll use the new email address.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1"/>
          <p:cNvSpPr/>
          <p:nvPr/>
        </p:nvSpPr>
        <p:spPr>
          <a:xfrm>
            <a:off x="640080" y="274320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59E0B"/>
                </a:solidFill>
                <a:effectLst/>
                <a:uLnTx/>
                <a:uFillTx/>
                <a:latin typeface="Consolas" pitchFamily="34" charset="0"/>
                <a:ea typeface="Consolas" pitchFamily="34" charset="-122"/>
                <a:cs typeface="Consolas" pitchFamily="34" charset="-120"/>
              </a:rPr>
              <a:t>Action: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2"/>
          <p:cNvSpPr/>
          <p:nvPr/>
        </p:nvSpPr>
        <p:spPr>
          <a:xfrm>
            <a:off x="1691640" y="2743200"/>
            <a:ext cx="67665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onsolas" pitchFamily="34" charset="0"/>
                <a:ea typeface="Consolas" pitchFamily="34" charset="-122"/>
                <a:cs typeface="Consolas" pitchFamily="34" charset="-120"/>
              </a:rPr>
              <a:t>create_slack_account(email='sarah.chen@company.com')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3"/>
          <p:cNvSpPr/>
          <p:nvPr/>
        </p:nvSpPr>
        <p:spPr>
          <a:xfrm>
            <a:off x="640080" y="315468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Observation: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4"/>
          <p:cNvSpPr/>
          <p:nvPr/>
        </p:nvSpPr>
        <p:spPr>
          <a:xfrm>
            <a:off x="1691640" y="3154680"/>
            <a:ext cx="67665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onsolas" pitchFamily="34" charset="0"/>
                <a:ea typeface="Consolas" pitchFamily="34" charset="-122"/>
                <a:cs typeface="Consolas" pitchFamily="34" charset="-120"/>
              </a:rPr>
              <a:t>✓ Slack account created, added to #engineering, #general, #new-hires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5"/>
          <p:cNvSpPr/>
          <p:nvPr/>
        </p:nvSpPr>
        <p:spPr>
          <a:xfrm>
            <a:off x="640080" y="356616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Consolas" pitchFamily="34" charset="0"/>
                <a:ea typeface="Consolas" pitchFamily="34" charset="-122"/>
                <a:cs typeface="Consolas" pitchFamily="34" charset="-120"/>
              </a:rPr>
              <a:t>Thought: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6"/>
          <p:cNvSpPr/>
          <p:nvPr/>
        </p:nvSpPr>
        <p:spPr>
          <a:xfrm>
            <a:off x="1691640" y="3566160"/>
            <a:ext cx="67665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onsolas" pitchFamily="34" charset="0"/>
                <a:ea typeface="Consolas" pitchFamily="34" charset="-122"/>
                <a:cs typeface="Consolas" pitchFamily="34" charset="-120"/>
              </a:rPr>
              <a:t>Slack done. Next: schedule 5 orientation meetings for Monday through Friday...</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7"/>
          <p:cNvSpPr/>
          <p:nvPr/>
        </p:nvSpPr>
        <p:spPr>
          <a:xfrm>
            <a:off x="640080" y="397764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94A3B8"/>
                </a:solidFill>
                <a:effectLst/>
                <a:uLnTx/>
                <a:uFillTx/>
                <a:latin typeface="Consolas" pitchFamily="34" charset="0"/>
                <a:ea typeface="Consolas" pitchFamily="34" charset="-122"/>
                <a:cs typeface="Consolas" pitchFamily="34" charset="-120"/>
              </a:rPr>
              <a: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8"/>
          <p:cNvSpPr/>
          <p:nvPr/>
        </p:nvSpPr>
        <p:spPr>
          <a:xfrm>
            <a:off x="1691640" y="3977640"/>
            <a:ext cx="676656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334155"/>
                </a:solidFill>
                <a:effectLst/>
                <a:uLnTx/>
                <a:uFillTx/>
                <a:latin typeface="Consolas" pitchFamily="34" charset="0"/>
                <a:ea typeface="Consolas" pitchFamily="34" charset="-122"/>
                <a:cs typeface="Consolas" pitchFamily="34" charset="-120"/>
              </a:rPr>
              <a:t>(Agent continues through all 8 tasks autonomously)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9"/>
          <p:cNvSpPr/>
          <p:nvPr/>
        </p:nvSpPr>
        <p:spPr>
          <a:xfrm>
            <a:off x="640080" y="4389120"/>
            <a:ext cx="10058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0B981"/>
                </a:solidFill>
                <a:effectLst/>
                <a:uLnTx/>
                <a:uFillTx/>
                <a:latin typeface="Consolas" pitchFamily="34" charset="0"/>
                <a:ea typeface="Consolas" pitchFamily="34" charset="-122"/>
                <a:cs typeface="Consolas" pitchFamily="34" charset="-120"/>
              </a:rPr>
              <a:t>Final: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20"/>
          <p:cNvSpPr/>
          <p:nvPr/>
        </p:nvSpPr>
        <p:spPr>
          <a:xfrm>
            <a:off x="1691640" y="4389120"/>
            <a:ext cx="67665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onsolas" pitchFamily="34" charset="0"/>
                <a:ea typeface="Consolas" pitchFamily="34" charset="-122"/>
                <a:cs typeface="Consolas" pitchFamily="34" charset="-120"/>
              </a:rPr>
              <a:t>All onboarding tasks complete for Sarah Chen. Summary report: 8/8 tasks succeeded. Email, Slack, laptop, credentials, meetings, buddy, welcome email, and team announcement — all done.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Shape 1"/>
          <p:cNvSpPr/>
          <p:nvPr/>
        </p:nvSpPr>
        <p:spPr>
          <a:xfrm>
            <a:off x="0" y="5070348"/>
            <a:ext cx="9144000" cy="73152"/>
          </a:xfrm>
          <a:prstGeom prst="rect">
            <a:avLst/>
          </a:prstGeom>
          <a:solidFill>
            <a:srgbClr val="0891B2"/>
          </a:solidFill>
          <a:ln/>
        </p:spPr>
      </p:sp>
      <p:sp>
        <p:nvSpPr>
          <p:cNvPr id="4" name="Shape 2"/>
          <p:cNvSpPr/>
          <p:nvPr/>
        </p:nvSpPr>
        <p:spPr>
          <a:xfrm>
            <a:off x="3886200" y="365760"/>
            <a:ext cx="1097280" cy="1097280"/>
          </a:xfrm>
          <a:prstGeom prst="ellipse">
            <a:avLst/>
          </a:prstGeom>
          <a:solidFill>
            <a:srgbClr val="F59E0B"/>
          </a:solidFill>
          <a:ln/>
        </p:spPr>
      </p:sp>
      <p:pic>
        <p:nvPicPr>
          <p:cNvPr id="5" name="Image 0" descr="preencoded.png"/>
          <p:cNvPicPr>
            <a:picLocks noChangeAspect="1"/>
          </p:cNvPicPr>
          <p:nvPr/>
        </p:nvPicPr>
        <p:blipFill>
          <a:blip r:embed="rId3"/>
          <a:stretch>
            <a:fillRect/>
          </a:stretch>
        </p:blipFill>
        <p:spPr>
          <a:xfrm>
            <a:off x="4127602" y="607162"/>
            <a:ext cx="614477" cy="614477"/>
          </a:xfrm>
          <a:prstGeom prst="rect">
            <a:avLst/>
          </a:prstGeom>
        </p:spPr>
      </p:pic>
      <p:sp>
        <p:nvSpPr>
          <p:cNvPr id="6" name="Text 3"/>
          <p:cNvSpPr/>
          <p:nvPr/>
        </p:nvSpPr>
        <p:spPr>
          <a:xfrm>
            <a:off x="731520" y="1645920"/>
            <a:ext cx="768096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The Key Insight</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731520" y="2468880"/>
            <a:ext cx="768096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Generative AI tells you what to do.</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p:nvPr/>
        </p:nvSpPr>
        <p:spPr>
          <a:xfrm>
            <a:off x="731520" y="3017520"/>
            <a:ext cx="768096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22D3EE"/>
                </a:solidFill>
                <a:effectLst/>
                <a:uLnTx/>
                <a:uFillTx/>
                <a:latin typeface="Trebuchet MS" pitchFamily="34" charset="0"/>
                <a:ea typeface="Trebuchet MS" pitchFamily="34" charset="-122"/>
                <a:cs typeface="Trebuchet MS" pitchFamily="34" charset="-120"/>
              </a:rPr>
              <a:t>Agentic AI does it for you.</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1371600" y="3749040"/>
            <a:ext cx="18288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90%</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1371600" y="4251960"/>
            <a:ext cx="18288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Less Human Effort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p:nvPr/>
        </p:nvSpPr>
        <p:spPr>
          <a:xfrm>
            <a:off x="3840480" y="3749040"/>
            <a:ext cx="18288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50x</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p:nvPr/>
        </p:nvSpPr>
        <p:spPr>
          <a:xfrm>
            <a:off x="3840480" y="4251960"/>
            <a:ext cx="18288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Faster Execution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p:nvPr/>
        </p:nvSpPr>
        <p:spPr>
          <a:xfrm>
            <a:off x="6309360" y="3749040"/>
            <a:ext cx="18288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100%</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p:nvPr/>
        </p:nvSpPr>
        <p:spPr>
          <a:xfrm>
            <a:off x="6309360" y="4251960"/>
            <a:ext cx="182880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Audit Trail</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Why Do We Need AI Agents?</a:t>
            </a:r>
            <a:endParaRPr lang="en-US" sz="2200" dirty="0"/>
          </a:p>
        </p:txBody>
      </p:sp>
      <p:sp>
        <p:nvSpPr>
          <p:cNvPr id="4" name="Shape 2"/>
          <p:cNvSpPr/>
          <p:nvPr/>
        </p:nvSpPr>
        <p:spPr>
          <a:xfrm>
            <a:off x="731520" y="10972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914400" y="1280160"/>
            <a:ext cx="502920" cy="502920"/>
          </a:xfrm>
          <a:prstGeom prst="ellipse">
            <a:avLst/>
          </a:prstGeom>
          <a:solidFill>
            <a:srgbClr val="0891B2"/>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1025042" y="1390802"/>
            <a:ext cx="281635" cy="281635"/>
          </a:xfrm>
          <a:prstGeom prst="rect">
            <a:avLst/>
          </a:prstGeom>
        </p:spPr>
      </p:pic>
      <p:sp>
        <p:nvSpPr>
          <p:cNvPr id="7" name="Text 4"/>
          <p:cNvSpPr/>
          <p:nvPr/>
        </p:nvSpPr>
        <p:spPr>
          <a:xfrm>
            <a:off x="1600200" y="1234440"/>
            <a:ext cx="256032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Complex Task Automation</a:t>
            </a:r>
            <a:endParaRPr lang="en-US" sz="1400" dirty="0"/>
          </a:p>
        </p:txBody>
      </p:sp>
      <p:sp>
        <p:nvSpPr>
          <p:cNvPr id="8" name="Text 5"/>
          <p:cNvSpPr/>
          <p:nvPr/>
        </p:nvSpPr>
        <p:spPr>
          <a:xfrm>
            <a:off x="1600200" y="1600200"/>
            <a:ext cx="26060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Multi-step workflows that require reasoning, not just rule execution. Agents handle ambiguity and adapt.</a:t>
            </a:r>
            <a:endParaRPr lang="en-US" sz="1100" dirty="0"/>
          </a:p>
        </p:txBody>
      </p:sp>
      <p:sp>
        <p:nvSpPr>
          <p:cNvPr id="9" name="Shape 6"/>
          <p:cNvSpPr/>
          <p:nvPr/>
        </p:nvSpPr>
        <p:spPr>
          <a:xfrm>
            <a:off x="4754880" y="10972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0" name="Shape 7"/>
          <p:cNvSpPr/>
          <p:nvPr/>
        </p:nvSpPr>
        <p:spPr>
          <a:xfrm>
            <a:off x="4937760" y="1280160"/>
            <a:ext cx="502920" cy="502920"/>
          </a:xfrm>
          <a:prstGeom prst="ellipse">
            <a:avLst/>
          </a:prstGeom>
          <a:solidFill>
            <a:srgbClr val="F59E0B"/>
          </a:solidFill>
          <a:ln/>
        </p:spPr>
        <p:txBody>
          <a:bodyPr/>
          <a:lstStyle/>
          <a:p>
            <a:endParaRPr lang="en-US" dirty="0"/>
          </a:p>
        </p:txBody>
      </p:sp>
      <p:pic>
        <p:nvPicPr>
          <p:cNvPr id="11" name="Image 1" descr="preencoded.png"/>
          <p:cNvPicPr>
            <a:picLocks noChangeAspect="1"/>
          </p:cNvPicPr>
          <p:nvPr/>
        </p:nvPicPr>
        <p:blipFill>
          <a:blip r:embed="rId4"/>
          <a:stretch>
            <a:fillRect/>
          </a:stretch>
        </p:blipFill>
        <p:spPr>
          <a:xfrm>
            <a:off x="5048402" y="1390802"/>
            <a:ext cx="281635" cy="281635"/>
          </a:xfrm>
          <a:prstGeom prst="rect">
            <a:avLst/>
          </a:prstGeom>
        </p:spPr>
      </p:pic>
      <p:sp>
        <p:nvSpPr>
          <p:cNvPr id="12" name="Text 8"/>
          <p:cNvSpPr/>
          <p:nvPr/>
        </p:nvSpPr>
        <p:spPr>
          <a:xfrm>
            <a:off x="5623560" y="1234440"/>
            <a:ext cx="256032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Dynamic Decision Making</a:t>
            </a:r>
            <a:endParaRPr lang="en-US" sz="1400" dirty="0"/>
          </a:p>
        </p:txBody>
      </p:sp>
      <p:sp>
        <p:nvSpPr>
          <p:cNvPr id="13" name="Text 9"/>
          <p:cNvSpPr/>
          <p:nvPr/>
        </p:nvSpPr>
        <p:spPr>
          <a:xfrm>
            <a:off x="5623560" y="1600200"/>
            <a:ext cx="26060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Real-world problems change in real time. Agents observe, adapt, and act on live data.</a:t>
            </a:r>
            <a:endParaRPr lang="en-US" sz="1100" dirty="0"/>
          </a:p>
        </p:txBody>
      </p:sp>
      <p:sp>
        <p:nvSpPr>
          <p:cNvPr id="14" name="Shape 10"/>
          <p:cNvSpPr/>
          <p:nvPr/>
        </p:nvSpPr>
        <p:spPr>
          <a:xfrm>
            <a:off x="731520" y="29260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5" name="Shape 11"/>
          <p:cNvSpPr/>
          <p:nvPr/>
        </p:nvSpPr>
        <p:spPr>
          <a:xfrm>
            <a:off x="914400" y="3108960"/>
            <a:ext cx="502920" cy="502920"/>
          </a:xfrm>
          <a:prstGeom prst="ellipse">
            <a:avLst/>
          </a:prstGeom>
          <a:solidFill>
            <a:srgbClr val="10B981"/>
          </a:solidFill>
          <a:ln/>
        </p:spPr>
        <p:txBody>
          <a:bodyPr/>
          <a:lstStyle/>
          <a:p>
            <a:endParaRPr lang="en-US" dirty="0"/>
          </a:p>
        </p:txBody>
      </p:sp>
      <p:pic>
        <p:nvPicPr>
          <p:cNvPr id="16" name="Image 2" descr="preencoded.png"/>
          <p:cNvPicPr>
            <a:picLocks noChangeAspect="1"/>
          </p:cNvPicPr>
          <p:nvPr/>
        </p:nvPicPr>
        <p:blipFill>
          <a:blip r:embed="rId5"/>
          <a:stretch>
            <a:fillRect/>
          </a:stretch>
        </p:blipFill>
        <p:spPr>
          <a:xfrm>
            <a:off x="1025042" y="3219602"/>
            <a:ext cx="281635" cy="281635"/>
          </a:xfrm>
          <a:prstGeom prst="rect">
            <a:avLst/>
          </a:prstGeom>
        </p:spPr>
      </p:pic>
      <p:sp>
        <p:nvSpPr>
          <p:cNvPr id="17" name="Text 12"/>
          <p:cNvSpPr/>
          <p:nvPr/>
        </p:nvSpPr>
        <p:spPr>
          <a:xfrm>
            <a:off x="1600200" y="3063240"/>
            <a:ext cx="256032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Tool Orchestration</a:t>
            </a:r>
            <a:endParaRPr lang="en-US" sz="1400" dirty="0"/>
          </a:p>
        </p:txBody>
      </p:sp>
      <p:sp>
        <p:nvSpPr>
          <p:cNvPr id="18" name="Text 13"/>
          <p:cNvSpPr/>
          <p:nvPr/>
        </p:nvSpPr>
        <p:spPr>
          <a:xfrm>
            <a:off x="1600200" y="3429000"/>
            <a:ext cx="26060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Modern work requires using many tools together — search, databases, APIs, code. Agents unify them.</a:t>
            </a:r>
            <a:endParaRPr lang="en-US" sz="1100" dirty="0"/>
          </a:p>
        </p:txBody>
      </p:sp>
      <p:sp>
        <p:nvSpPr>
          <p:cNvPr id="19" name="Shape 14"/>
          <p:cNvSpPr/>
          <p:nvPr/>
        </p:nvSpPr>
        <p:spPr>
          <a:xfrm>
            <a:off x="4754880" y="29260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0" name="Shape 15"/>
          <p:cNvSpPr/>
          <p:nvPr/>
        </p:nvSpPr>
        <p:spPr>
          <a:xfrm>
            <a:off x="4937760" y="3108960"/>
            <a:ext cx="502920" cy="502920"/>
          </a:xfrm>
          <a:prstGeom prst="ellipse">
            <a:avLst/>
          </a:prstGeom>
          <a:solidFill>
            <a:srgbClr val="8B5CF6"/>
          </a:solidFill>
          <a:ln/>
        </p:spPr>
        <p:txBody>
          <a:bodyPr/>
          <a:lstStyle/>
          <a:p>
            <a:endParaRPr lang="en-US" dirty="0"/>
          </a:p>
        </p:txBody>
      </p:sp>
      <p:pic>
        <p:nvPicPr>
          <p:cNvPr id="21" name="Image 3" descr="preencoded.png"/>
          <p:cNvPicPr>
            <a:picLocks noChangeAspect="1"/>
          </p:cNvPicPr>
          <p:nvPr/>
        </p:nvPicPr>
        <p:blipFill>
          <a:blip r:embed="rId6"/>
          <a:stretch>
            <a:fillRect/>
          </a:stretch>
        </p:blipFill>
        <p:spPr>
          <a:xfrm>
            <a:off x="5048402" y="3219602"/>
            <a:ext cx="281635" cy="281635"/>
          </a:xfrm>
          <a:prstGeom prst="rect">
            <a:avLst/>
          </a:prstGeom>
        </p:spPr>
      </p:pic>
      <p:sp>
        <p:nvSpPr>
          <p:cNvPr id="22" name="Text 16"/>
          <p:cNvSpPr/>
          <p:nvPr/>
        </p:nvSpPr>
        <p:spPr>
          <a:xfrm>
            <a:off x="5623560" y="3063240"/>
            <a:ext cx="256032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Scale Human Expertise</a:t>
            </a:r>
            <a:endParaRPr lang="en-US" sz="1400" dirty="0"/>
          </a:p>
        </p:txBody>
      </p:sp>
      <p:sp>
        <p:nvSpPr>
          <p:cNvPr id="23" name="Text 17"/>
          <p:cNvSpPr/>
          <p:nvPr/>
        </p:nvSpPr>
        <p:spPr>
          <a:xfrm>
            <a:off x="5623560" y="3429000"/>
            <a:ext cx="26060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Agents can work 24/7, handle repetitive analysis, and let humans focus on creative, high-value work.</a:t>
            </a:r>
            <a:endParaRPr lang="en-US" sz="11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1000"/>
                                        <p:tgtEl>
                                          <p:spTgt spid="5"/>
                                        </p:tgtEl>
                                      </p:cBhvr>
                                    </p:animEffect>
                                    <p:anim calcmode="lin" valueType="num">
                                      <p:cBhvr>
                                        <p:cTn id="13" dur="1000" fill="hold"/>
                                        <p:tgtEl>
                                          <p:spTgt spid="5"/>
                                        </p:tgtEl>
                                        <p:attrNameLst>
                                          <p:attrName>ppt_x</p:attrName>
                                        </p:attrNameLst>
                                      </p:cBhvr>
                                      <p:tavLst>
                                        <p:tav tm="0">
                                          <p:val>
                                            <p:strVal val="#ppt_x"/>
                                          </p:val>
                                        </p:tav>
                                        <p:tav tm="100000">
                                          <p:val>
                                            <p:strVal val="#ppt_x"/>
                                          </p:val>
                                        </p:tav>
                                      </p:tavLst>
                                    </p:anim>
                                    <p:anim calcmode="lin" valueType="num">
                                      <p:cBhvr>
                                        <p:cTn id="14" dur="1000" fill="hold"/>
                                        <p:tgtEl>
                                          <p:spTgt spid="5"/>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anim calcmode="lin" valueType="num">
                                      <p:cBhvr>
                                        <p:cTn id="23" dur="1000" fill="hold"/>
                                        <p:tgtEl>
                                          <p:spTgt spid="7"/>
                                        </p:tgtEl>
                                        <p:attrNameLst>
                                          <p:attrName>ppt_x</p:attrName>
                                        </p:attrNameLst>
                                      </p:cBhvr>
                                      <p:tavLst>
                                        <p:tav tm="0">
                                          <p:val>
                                            <p:strVal val="#ppt_x"/>
                                          </p:val>
                                        </p:tav>
                                        <p:tav tm="100000">
                                          <p:val>
                                            <p:strVal val="#ppt_x"/>
                                          </p:val>
                                        </p:tav>
                                      </p:tavLst>
                                    </p:anim>
                                    <p:anim calcmode="lin" valueType="num">
                                      <p:cBhvr>
                                        <p:cTn id="24" dur="1000" fill="hold"/>
                                        <p:tgtEl>
                                          <p:spTgt spid="7"/>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1000"/>
                                        <p:tgtEl>
                                          <p:spTgt spid="8"/>
                                        </p:tgtEl>
                                      </p:cBhvr>
                                    </p:animEffect>
                                    <p:anim calcmode="lin" valueType="num">
                                      <p:cBhvr>
                                        <p:cTn id="28" dur="1000" fill="hold"/>
                                        <p:tgtEl>
                                          <p:spTgt spid="8"/>
                                        </p:tgtEl>
                                        <p:attrNameLst>
                                          <p:attrName>ppt_x</p:attrName>
                                        </p:attrNameLst>
                                      </p:cBhvr>
                                      <p:tavLst>
                                        <p:tav tm="0">
                                          <p:val>
                                            <p:strVal val="#ppt_x"/>
                                          </p:val>
                                        </p:tav>
                                        <p:tav tm="100000">
                                          <p:val>
                                            <p:strVal val="#ppt_x"/>
                                          </p:val>
                                        </p:tav>
                                      </p:tavLst>
                                    </p:anim>
                                    <p:anim calcmode="lin" valueType="num">
                                      <p:cBhvr>
                                        <p:cTn id="2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1000"/>
                                        <p:tgtEl>
                                          <p:spTgt spid="14"/>
                                        </p:tgtEl>
                                      </p:cBhvr>
                                    </p:animEffect>
                                    <p:anim calcmode="lin" valueType="num">
                                      <p:cBhvr>
                                        <p:cTn id="35" dur="1000" fill="hold"/>
                                        <p:tgtEl>
                                          <p:spTgt spid="14"/>
                                        </p:tgtEl>
                                        <p:attrNameLst>
                                          <p:attrName>ppt_x</p:attrName>
                                        </p:attrNameLst>
                                      </p:cBhvr>
                                      <p:tavLst>
                                        <p:tav tm="0">
                                          <p:val>
                                            <p:strVal val="#ppt_x"/>
                                          </p:val>
                                        </p:tav>
                                        <p:tav tm="100000">
                                          <p:val>
                                            <p:strVal val="#ppt_x"/>
                                          </p:val>
                                        </p:tav>
                                      </p:tavLst>
                                    </p:anim>
                                    <p:anim calcmode="lin" valueType="num">
                                      <p:cBhvr>
                                        <p:cTn id="36" dur="1000" fill="hold"/>
                                        <p:tgtEl>
                                          <p:spTgt spid="14"/>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000"/>
                                        <p:tgtEl>
                                          <p:spTgt spid="15"/>
                                        </p:tgtEl>
                                      </p:cBhvr>
                                    </p:animEffect>
                                    <p:anim calcmode="lin" valueType="num">
                                      <p:cBhvr>
                                        <p:cTn id="40" dur="1000" fill="hold"/>
                                        <p:tgtEl>
                                          <p:spTgt spid="15"/>
                                        </p:tgtEl>
                                        <p:attrNameLst>
                                          <p:attrName>ppt_x</p:attrName>
                                        </p:attrNameLst>
                                      </p:cBhvr>
                                      <p:tavLst>
                                        <p:tav tm="0">
                                          <p:val>
                                            <p:strVal val="#ppt_x"/>
                                          </p:val>
                                        </p:tav>
                                        <p:tav tm="100000">
                                          <p:val>
                                            <p:strVal val="#ppt_x"/>
                                          </p:val>
                                        </p:tav>
                                      </p:tavLst>
                                    </p:anim>
                                    <p:anim calcmode="lin" valueType="num">
                                      <p:cBhvr>
                                        <p:cTn id="41" dur="1000" fill="hold"/>
                                        <p:tgtEl>
                                          <p:spTgt spid="15"/>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fade">
                                      <p:cBhvr>
                                        <p:cTn id="44" dur="1000"/>
                                        <p:tgtEl>
                                          <p:spTgt spid="16"/>
                                        </p:tgtEl>
                                      </p:cBhvr>
                                    </p:animEffect>
                                    <p:anim calcmode="lin" valueType="num">
                                      <p:cBhvr>
                                        <p:cTn id="45" dur="1000" fill="hold"/>
                                        <p:tgtEl>
                                          <p:spTgt spid="16"/>
                                        </p:tgtEl>
                                        <p:attrNameLst>
                                          <p:attrName>ppt_x</p:attrName>
                                        </p:attrNameLst>
                                      </p:cBhvr>
                                      <p:tavLst>
                                        <p:tav tm="0">
                                          <p:val>
                                            <p:strVal val="#ppt_x"/>
                                          </p:val>
                                        </p:tav>
                                        <p:tav tm="100000">
                                          <p:val>
                                            <p:strVal val="#ppt_x"/>
                                          </p:val>
                                        </p:tav>
                                      </p:tavLst>
                                    </p:anim>
                                    <p:anim calcmode="lin" valueType="num">
                                      <p:cBhvr>
                                        <p:cTn id="46" dur="1000" fill="hold"/>
                                        <p:tgtEl>
                                          <p:spTgt spid="16"/>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fade">
                                      <p:cBhvr>
                                        <p:cTn id="49" dur="1000"/>
                                        <p:tgtEl>
                                          <p:spTgt spid="17"/>
                                        </p:tgtEl>
                                      </p:cBhvr>
                                    </p:animEffect>
                                    <p:anim calcmode="lin" valueType="num">
                                      <p:cBhvr>
                                        <p:cTn id="50" dur="1000" fill="hold"/>
                                        <p:tgtEl>
                                          <p:spTgt spid="17"/>
                                        </p:tgtEl>
                                        <p:attrNameLst>
                                          <p:attrName>ppt_x</p:attrName>
                                        </p:attrNameLst>
                                      </p:cBhvr>
                                      <p:tavLst>
                                        <p:tav tm="0">
                                          <p:val>
                                            <p:strVal val="#ppt_x"/>
                                          </p:val>
                                        </p:tav>
                                        <p:tav tm="100000">
                                          <p:val>
                                            <p:strVal val="#ppt_x"/>
                                          </p:val>
                                        </p:tav>
                                      </p:tavLst>
                                    </p:anim>
                                    <p:anim calcmode="lin" valueType="num">
                                      <p:cBhvr>
                                        <p:cTn id="51" dur="1000" fill="hold"/>
                                        <p:tgtEl>
                                          <p:spTgt spid="17"/>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fade">
                                      <p:cBhvr>
                                        <p:cTn id="54" dur="1000"/>
                                        <p:tgtEl>
                                          <p:spTgt spid="18"/>
                                        </p:tgtEl>
                                      </p:cBhvr>
                                    </p:animEffect>
                                    <p:anim calcmode="lin" valueType="num">
                                      <p:cBhvr>
                                        <p:cTn id="55" dur="1000" fill="hold"/>
                                        <p:tgtEl>
                                          <p:spTgt spid="18"/>
                                        </p:tgtEl>
                                        <p:attrNameLst>
                                          <p:attrName>ppt_x</p:attrName>
                                        </p:attrNameLst>
                                      </p:cBhvr>
                                      <p:tavLst>
                                        <p:tav tm="0">
                                          <p:val>
                                            <p:strVal val="#ppt_x"/>
                                          </p:val>
                                        </p:tav>
                                        <p:tav tm="100000">
                                          <p:val>
                                            <p:strVal val="#ppt_x"/>
                                          </p:val>
                                        </p:tav>
                                      </p:tavLst>
                                    </p:anim>
                                    <p:anim calcmode="lin" valueType="num">
                                      <p:cBhvr>
                                        <p:cTn id="56"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1000"/>
                                        <p:tgtEl>
                                          <p:spTgt spid="9"/>
                                        </p:tgtEl>
                                      </p:cBhvr>
                                    </p:animEffect>
                                    <p:anim calcmode="lin" valueType="num">
                                      <p:cBhvr>
                                        <p:cTn id="62" dur="1000" fill="hold"/>
                                        <p:tgtEl>
                                          <p:spTgt spid="9"/>
                                        </p:tgtEl>
                                        <p:attrNameLst>
                                          <p:attrName>ppt_x</p:attrName>
                                        </p:attrNameLst>
                                      </p:cBhvr>
                                      <p:tavLst>
                                        <p:tav tm="0">
                                          <p:val>
                                            <p:strVal val="#ppt_x"/>
                                          </p:val>
                                        </p:tav>
                                        <p:tav tm="100000">
                                          <p:val>
                                            <p:strVal val="#ppt_x"/>
                                          </p:val>
                                        </p:tav>
                                      </p:tavLst>
                                    </p:anim>
                                    <p:anim calcmode="lin" valueType="num">
                                      <p:cBhvr>
                                        <p:cTn id="63" dur="1000" fill="hold"/>
                                        <p:tgtEl>
                                          <p:spTgt spid="9"/>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fade">
                                      <p:cBhvr>
                                        <p:cTn id="66" dur="1000"/>
                                        <p:tgtEl>
                                          <p:spTgt spid="10"/>
                                        </p:tgtEl>
                                      </p:cBhvr>
                                    </p:animEffect>
                                    <p:anim calcmode="lin" valueType="num">
                                      <p:cBhvr>
                                        <p:cTn id="67" dur="1000" fill="hold"/>
                                        <p:tgtEl>
                                          <p:spTgt spid="10"/>
                                        </p:tgtEl>
                                        <p:attrNameLst>
                                          <p:attrName>ppt_x</p:attrName>
                                        </p:attrNameLst>
                                      </p:cBhvr>
                                      <p:tavLst>
                                        <p:tav tm="0">
                                          <p:val>
                                            <p:strVal val="#ppt_x"/>
                                          </p:val>
                                        </p:tav>
                                        <p:tav tm="100000">
                                          <p:val>
                                            <p:strVal val="#ppt_x"/>
                                          </p:val>
                                        </p:tav>
                                      </p:tavLst>
                                    </p:anim>
                                    <p:anim calcmode="lin" valueType="num">
                                      <p:cBhvr>
                                        <p:cTn id="68" dur="1000" fill="hold"/>
                                        <p:tgtEl>
                                          <p:spTgt spid="10"/>
                                        </p:tgtEl>
                                        <p:attrNameLst>
                                          <p:attrName>ppt_y</p:attrName>
                                        </p:attrNameLst>
                                      </p:cBhvr>
                                      <p:tavLst>
                                        <p:tav tm="0">
                                          <p:val>
                                            <p:strVal val="#ppt_y+.1"/>
                                          </p:val>
                                        </p:tav>
                                        <p:tav tm="100000">
                                          <p:val>
                                            <p:strVal val="#ppt_y"/>
                                          </p:val>
                                        </p:tav>
                                      </p:tavLst>
                                    </p:anim>
                                  </p:childTnLst>
                                </p:cTn>
                              </p:par>
                              <p:par>
                                <p:cTn id="69" presetID="42" presetClass="entr" presetSubtype="0" fill="hold" nodeType="withEffect">
                                  <p:stCondLst>
                                    <p:cond delay="0"/>
                                  </p:stCondLst>
                                  <p:childTnLst>
                                    <p:set>
                                      <p:cBhvr>
                                        <p:cTn id="70" dur="1" fill="hold">
                                          <p:stCondLst>
                                            <p:cond delay="0"/>
                                          </p:stCondLst>
                                        </p:cTn>
                                        <p:tgtEl>
                                          <p:spTgt spid="11"/>
                                        </p:tgtEl>
                                        <p:attrNameLst>
                                          <p:attrName>style.visibility</p:attrName>
                                        </p:attrNameLst>
                                      </p:cBhvr>
                                      <p:to>
                                        <p:strVal val="visible"/>
                                      </p:to>
                                    </p:set>
                                    <p:animEffect transition="in" filter="fade">
                                      <p:cBhvr>
                                        <p:cTn id="71" dur="1000"/>
                                        <p:tgtEl>
                                          <p:spTgt spid="11"/>
                                        </p:tgtEl>
                                      </p:cBhvr>
                                    </p:animEffect>
                                    <p:anim calcmode="lin" valueType="num">
                                      <p:cBhvr>
                                        <p:cTn id="72" dur="1000" fill="hold"/>
                                        <p:tgtEl>
                                          <p:spTgt spid="11"/>
                                        </p:tgtEl>
                                        <p:attrNameLst>
                                          <p:attrName>ppt_x</p:attrName>
                                        </p:attrNameLst>
                                      </p:cBhvr>
                                      <p:tavLst>
                                        <p:tav tm="0">
                                          <p:val>
                                            <p:strVal val="#ppt_x"/>
                                          </p:val>
                                        </p:tav>
                                        <p:tav tm="100000">
                                          <p:val>
                                            <p:strVal val="#ppt_x"/>
                                          </p:val>
                                        </p:tav>
                                      </p:tavLst>
                                    </p:anim>
                                    <p:anim calcmode="lin" valueType="num">
                                      <p:cBhvr>
                                        <p:cTn id="73" dur="1000" fill="hold"/>
                                        <p:tgtEl>
                                          <p:spTgt spid="11"/>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2"/>
                                        </p:tgtEl>
                                        <p:attrNameLst>
                                          <p:attrName>style.visibility</p:attrName>
                                        </p:attrNameLst>
                                      </p:cBhvr>
                                      <p:to>
                                        <p:strVal val="visible"/>
                                      </p:to>
                                    </p:set>
                                    <p:animEffect transition="in" filter="fade">
                                      <p:cBhvr>
                                        <p:cTn id="76" dur="1000"/>
                                        <p:tgtEl>
                                          <p:spTgt spid="12"/>
                                        </p:tgtEl>
                                      </p:cBhvr>
                                    </p:animEffect>
                                    <p:anim calcmode="lin" valueType="num">
                                      <p:cBhvr>
                                        <p:cTn id="77" dur="1000" fill="hold"/>
                                        <p:tgtEl>
                                          <p:spTgt spid="12"/>
                                        </p:tgtEl>
                                        <p:attrNameLst>
                                          <p:attrName>ppt_x</p:attrName>
                                        </p:attrNameLst>
                                      </p:cBhvr>
                                      <p:tavLst>
                                        <p:tav tm="0">
                                          <p:val>
                                            <p:strVal val="#ppt_x"/>
                                          </p:val>
                                        </p:tav>
                                        <p:tav tm="100000">
                                          <p:val>
                                            <p:strVal val="#ppt_x"/>
                                          </p:val>
                                        </p:tav>
                                      </p:tavLst>
                                    </p:anim>
                                    <p:anim calcmode="lin" valueType="num">
                                      <p:cBhvr>
                                        <p:cTn id="78" dur="1000" fill="hold"/>
                                        <p:tgtEl>
                                          <p:spTgt spid="12"/>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13"/>
                                        </p:tgtEl>
                                        <p:attrNameLst>
                                          <p:attrName>style.visibility</p:attrName>
                                        </p:attrNameLst>
                                      </p:cBhvr>
                                      <p:to>
                                        <p:strVal val="visible"/>
                                      </p:to>
                                    </p:set>
                                    <p:animEffect transition="in" filter="fade">
                                      <p:cBhvr>
                                        <p:cTn id="81" dur="1000"/>
                                        <p:tgtEl>
                                          <p:spTgt spid="13"/>
                                        </p:tgtEl>
                                      </p:cBhvr>
                                    </p:animEffect>
                                    <p:anim calcmode="lin" valueType="num">
                                      <p:cBhvr>
                                        <p:cTn id="82" dur="1000" fill="hold"/>
                                        <p:tgtEl>
                                          <p:spTgt spid="13"/>
                                        </p:tgtEl>
                                        <p:attrNameLst>
                                          <p:attrName>ppt_x</p:attrName>
                                        </p:attrNameLst>
                                      </p:cBhvr>
                                      <p:tavLst>
                                        <p:tav tm="0">
                                          <p:val>
                                            <p:strVal val="#ppt_x"/>
                                          </p:val>
                                        </p:tav>
                                        <p:tav tm="100000">
                                          <p:val>
                                            <p:strVal val="#ppt_x"/>
                                          </p:val>
                                        </p:tav>
                                      </p:tavLst>
                                    </p:anim>
                                    <p:anim calcmode="lin" valueType="num">
                                      <p:cBhvr>
                                        <p:cTn id="8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84" fill="hold">
                      <p:stCondLst>
                        <p:cond delay="indefinite"/>
                      </p:stCondLst>
                      <p:childTnLst>
                        <p:par>
                          <p:cTn id="85" fill="hold">
                            <p:stCondLst>
                              <p:cond delay="0"/>
                            </p:stCondLst>
                            <p:childTnLst>
                              <p:par>
                                <p:cTn id="86" presetID="42" presetClass="entr" presetSubtype="0" fill="hold" grpId="0" nodeType="clickEffect">
                                  <p:stCondLst>
                                    <p:cond delay="0"/>
                                  </p:stCondLst>
                                  <p:childTnLst>
                                    <p:set>
                                      <p:cBhvr>
                                        <p:cTn id="87" dur="1" fill="hold">
                                          <p:stCondLst>
                                            <p:cond delay="0"/>
                                          </p:stCondLst>
                                        </p:cTn>
                                        <p:tgtEl>
                                          <p:spTgt spid="19"/>
                                        </p:tgtEl>
                                        <p:attrNameLst>
                                          <p:attrName>style.visibility</p:attrName>
                                        </p:attrNameLst>
                                      </p:cBhvr>
                                      <p:to>
                                        <p:strVal val="visible"/>
                                      </p:to>
                                    </p:set>
                                    <p:animEffect transition="in" filter="fade">
                                      <p:cBhvr>
                                        <p:cTn id="88" dur="1000"/>
                                        <p:tgtEl>
                                          <p:spTgt spid="19"/>
                                        </p:tgtEl>
                                      </p:cBhvr>
                                    </p:animEffect>
                                    <p:anim calcmode="lin" valueType="num">
                                      <p:cBhvr>
                                        <p:cTn id="89" dur="1000" fill="hold"/>
                                        <p:tgtEl>
                                          <p:spTgt spid="19"/>
                                        </p:tgtEl>
                                        <p:attrNameLst>
                                          <p:attrName>ppt_x</p:attrName>
                                        </p:attrNameLst>
                                      </p:cBhvr>
                                      <p:tavLst>
                                        <p:tav tm="0">
                                          <p:val>
                                            <p:strVal val="#ppt_x"/>
                                          </p:val>
                                        </p:tav>
                                        <p:tav tm="100000">
                                          <p:val>
                                            <p:strVal val="#ppt_x"/>
                                          </p:val>
                                        </p:tav>
                                      </p:tavLst>
                                    </p:anim>
                                    <p:anim calcmode="lin" valueType="num">
                                      <p:cBhvr>
                                        <p:cTn id="90" dur="1000" fill="hold"/>
                                        <p:tgtEl>
                                          <p:spTgt spid="19"/>
                                        </p:tgtEl>
                                        <p:attrNameLst>
                                          <p:attrName>ppt_y</p:attrName>
                                        </p:attrNameLst>
                                      </p:cBhvr>
                                      <p:tavLst>
                                        <p:tav tm="0">
                                          <p:val>
                                            <p:strVal val="#ppt_y+.1"/>
                                          </p:val>
                                        </p:tav>
                                        <p:tav tm="100000">
                                          <p:val>
                                            <p:strVal val="#ppt_y"/>
                                          </p:val>
                                        </p:tav>
                                      </p:tavLst>
                                    </p:anim>
                                  </p:childTnLst>
                                </p:cTn>
                              </p:par>
                              <p:par>
                                <p:cTn id="91" presetID="42" presetClass="entr" presetSubtype="0" fill="hold" grpId="0" nodeType="withEffect">
                                  <p:stCondLst>
                                    <p:cond delay="0"/>
                                  </p:stCondLst>
                                  <p:childTnLst>
                                    <p:set>
                                      <p:cBhvr>
                                        <p:cTn id="92" dur="1" fill="hold">
                                          <p:stCondLst>
                                            <p:cond delay="0"/>
                                          </p:stCondLst>
                                        </p:cTn>
                                        <p:tgtEl>
                                          <p:spTgt spid="20"/>
                                        </p:tgtEl>
                                        <p:attrNameLst>
                                          <p:attrName>style.visibility</p:attrName>
                                        </p:attrNameLst>
                                      </p:cBhvr>
                                      <p:to>
                                        <p:strVal val="visible"/>
                                      </p:to>
                                    </p:set>
                                    <p:animEffect transition="in" filter="fade">
                                      <p:cBhvr>
                                        <p:cTn id="93" dur="1000"/>
                                        <p:tgtEl>
                                          <p:spTgt spid="20"/>
                                        </p:tgtEl>
                                      </p:cBhvr>
                                    </p:animEffect>
                                    <p:anim calcmode="lin" valueType="num">
                                      <p:cBhvr>
                                        <p:cTn id="94" dur="1000" fill="hold"/>
                                        <p:tgtEl>
                                          <p:spTgt spid="20"/>
                                        </p:tgtEl>
                                        <p:attrNameLst>
                                          <p:attrName>ppt_x</p:attrName>
                                        </p:attrNameLst>
                                      </p:cBhvr>
                                      <p:tavLst>
                                        <p:tav tm="0">
                                          <p:val>
                                            <p:strVal val="#ppt_x"/>
                                          </p:val>
                                        </p:tav>
                                        <p:tav tm="100000">
                                          <p:val>
                                            <p:strVal val="#ppt_x"/>
                                          </p:val>
                                        </p:tav>
                                      </p:tavLst>
                                    </p:anim>
                                    <p:anim calcmode="lin" valueType="num">
                                      <p:cBhvr>
                                        <p:cTn id="95" dur="1000" fill="hold"/>
                                        <p:tgtEl>
                                          <p:spTgt spid="20"/>
                                        </p:tgtEl>
                                        <p:attrNameLst>
                                          <p:attrName>ppt_y</p:attrName>
                                        </p:attrNameLst>
                                      </p:cBhvr>
                                      <p:tavLst>
                                        <p:tav tm="0">
                                          <p:val>
                                            <p:strVal val="#ppt_y+.1"/>
                                          </p:val>
                                        </p:tav>
                                        <p:tav tm="100000">
                                          <p:val>
                                            <p:strVal val="#ppt_y"/>
                                          </p:val>
                                        </p:tav>
                                      </p:tavLst>
                                    </p:anim>
                                  </p:childTnLst>
                                </p:cTn>
                              </p:par>
                              <p:par>
                                <p:cTn id="96" presetID="42" presetClass="entr" presetSubtype="0" fill="hold" nodeType="withEffect">
                                  <p:stCondLst>
                                    <p:cond delay="0"/>
                                  </p:stCondLst>
                                  <p:childTnLst>
                                    <p:set>
                                      <p:cBhvr>
                                        <p:cTn id="97" dur="1" fill="hold">
                                          <p:stCondLst>
                                            <p:cond delay="0"/>
                                          </p:stCondLst>
                                        </p:cTn>
                                        <p:tgtEl>
                                          <p:spTgt spid="21"/>
                                        </p:tgtEl>
                                        <p:attrNameLst>
                                          <p:attrName>style.visibility</p:attrName>
                                        </p:attrNameLst>
                                      </p:cBhvr>
                                      <p:to>
                                        <p:strVal val="visible"/>
                                      </p:to>
                                    </p:set>
                                    <p:animEffect transition="in" filter="fade">
                                      <p:cBhvr>
                                        <p:cTn id="98" dur="1000"/>
                                        <p:tgtEl>
                                          <p:spTgt spid="21"/>
                                        </p:tgtEl>
                                      </p:cBhvr>
                                    </p:animEffect>
                                    <p:anim calcmode="lin" valueType="num">
                                      <p:cBhvr>
                                        <p:cTn id="99" dur="1000" fill="hold"/>
                                        <p:tgtEl>
                                          <p:spTgt spid="21"/>
                                        </p:tgtEl>
                                        <p:attrNameLst>
                                          <p:attrName>ppt_x</p:attrName>
                                        </p:attrNameLst>
                                      </p:cBhvr>
                                      <p:tavLst>
                                        <p:tav tm="0">
                                          <p:val>
                                            <p:strVal val="#ppt_x"/>
                                          </p:val>
                                        </p:tav>
                                        <p:tav tm="100000">
                                          <p:val>
                                            <p:strVal val="#ppt_x"/>
                                          </p:val>
                                        </p:tav>
                                      </p:tavLst>
                                    </p:anim>
                                    <p:anim calcmode="lin" valueType="num">
                                      <p:cBhvr>
                                        <p:cTn id="100" dur="1000" fill="hold"/>
                                        <p:tgtEl>
                                          <p:spTgt spid="21"/>
                                        </p:tgtEl>
                                        <p:attrNameLst>
                                          <p:attrName>ppt_y</p:attrName>
                                        </p:attrNameLst>
                                      </p:cBhvr>
                                      <p:tavLst>
                                        <p:tav tm="0">
                                          <p:val>
                                            <p:strVal val="#ppt_y+.1"/>
                                          </p:val>
                                        </p:tav>
                                        <p:tav tm="100000">
                                          <p:val>
                                            <p:strVal val="#ppt_y"/>
                                          </p:val>
                                        </p:tav>
                                      </p:tavLst>
                                    </p:anim>
                                  </p:childTnLst>
                                </p:cTn>
                              </p:par>
                              <p:par>
                                <p:cTn id="101" presetID="42" presetClass="entr" presetSubtype="0" fill="hold" grpId="0" nodeType="withEffect">
                                  <p:stCondLst>
                                    <p:cond delay="0"/>
                                  </p:stCondLst>
                                  <p:childTnLst>
                                    <p:set>
                                      <p:cBhvr>
                                        <p:cTn id="102" dur="1" fill="hold">
                                          <p:stCondLst>
                                            <p:cond delay="0"/>
                                          </p:stCondLst>
                                        </p:cTn>
                                        <p:tgtEl>
                                          <p:spTgt spid="22"/>
                                        </p:tgtEl>
                                        <p:attrNameLst>
                                          <p:attrName>style.visibility</p:attrName>
                                        </p:attrNameLst>
                                      </p:cBhvr>
                                      <p:to>
                                        <p:strVal val="visible"/>
                                      </p:to>
                                    </p:set>
                                    <p:animEffect transition="in" filter="fade">
                                      <p:cBhvr>
                                        <p:cTn id="103" dur="1000"/>
                                        <p:tgtEl>
                                          <p:spTgt spid="22"/>
                                        </p:tgtEl>
                                      </p:cBhvr>
                                    </p:animEffect>
                                    <p:anim calcmode="lin" valueType="num">
                                      <p:cBhvr>
                                        <p:cTn id="104" dur="1000" fill="hold"/>
                                        <p:tgtEl>
                                          <p:spTgt spid="22"/>
                                        </p:tgtEl>
                                        <p:attrNameLst>
                                          <p:attrName>ppt_x</p:attrName>
                                        </p:attrNameLst>
                                      </p:cBhvr>
                                      <p:tavLst>
                                        <p:tav tm="0">
                                          <p:val>
                                            <p:strVal val="#ppt_x"/>
                                          </p:val>
                                        </p:tav>
                                        <p:tav tm="100000">
                                          <p:val>
                                            <p:strVal val="#ppt_x"/>
                                          </p:val>
                                        </p:tav>
                                      </p:tavLst>
                                    </p:anim>
                                    <p:anim calcmode="lin" valueType="num">
                                      <p:cBhvr>
                                        <p:cTn id="105" dur="1000" fill="hold"/>
                                        <p:tgtEl>
                                          <p:spTgt spid="22"/>
                                        </p:tgtEl>
                                        <p:attrNameLst>
                                          <p:attrName>ppt_y</p:attrName>
                                        </p:attrNameLst>
                                      </p:cBhvr>
                                      <p:tavLst>
                                        <p:tav tm="0">
                                          <p:val>
                                            <p:strVal val="#ppt_y+.1"/>
                                          </p:val>
                                        </p:tav>
                                        <p:tav tm="100000">
                                          <p:val>
                                            <p:strVal val="#ppt_y"/>
                                          </p:val>
                                        </p:tav>
                                      </p:tavLst>
                                    </p:anim>
                                  </p:childTnLst>
                                </p:cTn>
                              </p:par>
                              <p:par>
                                <p:cTn id="106" presetID="42" presetClass="entr" presetSubtype="0" fill="hold" grpId="0" nodeType="withEffect">
                                  <p:stCondLst>
                                    <p:cond delay="0"/>
                                  </p:stCondLst>
                                  <p:childTnLst>
                                    <p:set>
                                      <p:cBhvr>
                                        <p:cTn id="107" dur="1" fill="hold">
                                          <p:stCondLst>
                                            <p:cond delay="0"/>
                                          </p:stCondLst>
                                        </p:cTn>
                                        <p:tgtEl>
                                          <p:spTgt spid="23"/>
                                        </p:tgtEl>
                                        <p:attrNameLst>
                                          <p:attrName>style.visibility</p:attrName>
                                        </p:attrNameLst>
                                      </p:cBhvr>
                                      <p:to>
                                        <p:strVal val="visible"/>
                                      </p:to>
                                    </p:set>
                                    <p:animEffect transition="in" filter="fade">
                                      <p:cBhvr>
                                        <p:cTn id="108" dur="1000"/>
                                        <p:tgtEl>
                                          <p:spTgt spid="23"/>
                                        </p:tgtEl>
                                      </p:cBhvr>
                                    </p:animEffect>
                                    <p:anim calcmode="lin" valueType="num">
                                      <p:cBhvr>
                                        <p:cTn id="109" dur="1000" fill="hold"/>
                                        <p:tgtEl>
                                          <p:spTgt spid="23"/>
                                        </p:tgtEl>
                                        <p:attrNameLst>
                                          <p:attrName>ppt_x</p:attrName>
                                        </p:attrNameLst>
                                      </p:cBhvr>
                                      <p:tavLst>
                                        <p:tav tm="0">
                                          <p:val>
                                            <p:strVal val="#ppt_x"/>
                                          </p:val>
                                        </p:tav>
                                        <p:tav tm="100000">
                                          <p:val>
                                            <p:strVal val="#ppt_x"/>
                                          </p:val>
                                        </p:tav>
                                      </p:tavLst>
                                    </p:anim>
                                    <p:anim calcmode="lin" valueType="num">
                                      <p:cBhvr>
                                        <p:cTn id="110"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7" grpId="0" animBg="1"/>
      <p:bldP spid="8" grpId="0" animBg="1"/>
      <p:bldP spid="9" grpId="0" animBg="1"/>
      <p:bldP spid="10" grpId="0" animBg="1"/>
      <p:bldP spid="12" grpId="0" animBg="1"/>
      <p:bldP spid="13" grpId="0" animBg="1"/>
      <p:bldP spid="14" grpId="0" animBg="1"/>
      <p:bldP spid="15" grpId="0" animBg="1"/>
      <p:bldP spid="17" grpId="0" animBg="1"/>
      <p:bldP spid="18" grpId="0" animBg="1"/>
      <p:bldP spid="19" grpId="0" animBg="1"/>
      <p:bldP spid="20" grpId="0" animBg="1"/>
      <p:bldP spid="22" grpId="0" animBg="1"/>
      <p:bldP spid="23"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The Evolution: From Simple AI to Agents</a:t>
            </a:r>
            <a:endParaRPr lang="en-US" sz="2200" dirty="0"/>
          </a:p>
        </p:txBody>
      </p:sp>
      <p:grpSp>
        <p:nvGrpSpPr>
          <p:cNvPr id="31" name="Group 30">
            <a:extLst>
              <a:ext uri="{FF2B5EF4-FFF2-40B4-BE49-F238E27FC236}">
                <a16:creationId xmlns:a16="http://schemas.microsoft.com/office/drawing/2014/main" id="{0036D0FE-AEF8-3AA9-47B9-07CDA3F47D5C}"/>
              </a:ext>
            </a:extLst>
          </p:cNvPr>
          <p:cNvGrpSpPr/>
          <p:nvPr/>
        </p:nvGrpSpPr>
        <p:grpSpPr>
          <a:xfrm>
            <a:off x="548640" y="1280160"/>
            <a:ext cx="1920240" cy="2560320"/>
            <a:chOff x="548640" y="1280160"/>
            <a:chExt cx="1920240" cy="2560320"/>
          </a:xfrm>
        </p:grpSpPr>
        <p:sp>
          <p:nvSpPr>
            <p:cNvPr id="4" name="Shape 2"/>
            <p:cNvSpPr/>
            <p:nvPr/>
          </p:nvSpPr>
          <p:spPr>
            <a:xfrm>
              <a:off x="548640" y="1280160"/>
              <a:ext cx="1920240" cy="25603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1143000" y="1554480"/>
              <a:ext cx="731520" cy="731520"/>
            </a:xfrm>
            <a:prstGeom prst="ellipse">
              <a:avLst/>
            </a:prstGeom>
            <a:solidFill>
              <a:srgbClr val="94A3B8"/>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1303934" y="1715414"/>
              <a:ext cx="409651" cy="409651"/>
            </a:xfrm>
            <a:prstGeom prst="rect">
              <a:avLst/>
            </a:prstGeom>
          </p:spPr>
        </p:pic>
        <p:sp>
          <p:nvSpPr>
            <p:cNvPr id="7" name="Text 4"/>
            <p:cNvSpPr/>
            <p:nvPr/>
          </p:nvSpPr>
          <p:spPr>
            <a:xfrm>
              <a:off x="548640" y="2468880"/>
              <a:ext cx="1920240"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Rule-Based</a:t>
              </a:r>
              <a:endParaRPr lang="en-US" sz="1400" dirty="0"/>
            </a:p>
            <a:p>
              <a:pPr marL="0" indent="0" algn="ctr">
                <a:buNone/>
              </a:pPr>
              <a:r>
                <a:rPr lang="en-US" sz="1400" b="1" dirty="0">
                  <a:solidFill>
                    <a:srgbClr val="1E293B"/>
                  </a:solidFill>
                  <a:latin typeface="Trebuchet MS" pitchFamily="34" charset="0"/>
                  <a:ea typeface="Trebuchet MS" pitchFamily="34" charset="-122"/>
                  <a:cs typeface="Trebuchet MS" pitchFamily="34" charset="-120"/>
                </a:rPr>
                <a:t>Systems</a:t>
              </a:r>
              <a:endParaRPr lang="en-US" sz="1400" dirty="0"/>
            </a:p>
          </p:txBody>
        </p:sp>
        <p:sp>
          <p:nvSpPr>
            <p:cNvPr id="8" name="Text 5"/>
            <p:cNvSpPr/>
            <p:nvPr/>
          </p:nvSpPr>
          <p:spPr>
            <a:xfrm>
              <a:off x="548640" y="3108960"/>
              <a:ext cx="1920240" cy="365760"/>
            </a:xfrm>
            <a:prstGeom prst="rect">
              <a:avLst/>
            </a:prstGeom>
            <a:noFill/>
            <a:ln/>
          </p:spPr>
          <p:txBody>
            <a:bodyPr wrap="square" lIns="0" tIns="0" rIns="0" bIns="0" rtlCol="0" anchor="ctr"/>
            <a:lstStyle/>
            <a:p>
              <a:pPr marL="0" indent="0" algn="ctr">
                <a:buNone/>
              </a:pPr>
              <a:r>
                <a:rPr lang="en-US" sz="1100" i="1" dirty="0">
                  <a:solidFill>
                    <a:srgbClr val="334155"/>
                  </a:solidFill>
                  <a:latin typeface="Calibri" pitchFamily="34" charset="0"/>
                  <a:ea typeface="Calibri" pitchFamily="34" charset="-122"/>
                  <a:cs typeface="Calibri" pitchFamily="34" charset="-120"/>
                </a:rPr>
                <a:t>If-Then Logic</a:t>
              </a:r>
              <a:endParaRPr lang="en-US" sz="1100" dirty="0"/>
            </a:p>
          </p:txBody>
        </p:sp>
      </p:grpSp>
      <p:grpSp>
        <p:nvGrpSpPr>
          <p:cNvPr id="30" name="Group 29">
            <a:extLst>
              <a:ext uri="{FF2B5EF4-FFF2-40B4-BE49-F238E27FC236}">
                <a16:creationId xmlns:a16="http://schemas.microsoft.com/office/drawing/2014/main" id="{715039AD-FC9D-E502-0F45-6D462774C4E4}"/>
              </a:ext>
            </a:extLst>
          </p:cNvPr>
          <p:cNvGrpSpPr/>
          <p:nvPr/>
        </p:nvGrpSpPr>
        <p:grpSpPr>
          <a:xfrm>
            <a:off x="2468880" y="1280160"/>
            <a:ext cx="2148840" cy="2560320"/>
            <a:chOff x="2468880" y="1280160"/>
            <a:chExt cx="2148840" cy="2560320"/>
          </a:xfrm>
        </p:grpSpPr>
        <p:pic>
          <p:nvPicPr>
            <p:cNvPr id="9" name="Image 1" descr="preencoded.png"/>
            <p:cNvPicPr>
              <a:picLocks noChangeAspect="1"/>
            </p:cNvPicPr>
            <p:nvPr/>
          </p:nvPicPr>
          <p:blipFill>
            <a:blip r:embed="rId4"/>
            <a:stretch>
              <a:fillRect/>
            </a:stretch>
          </p:blipFill>
          <p:spPr>
            <a:xfrm>
              <a:off x="2468880" y="2331720"/>
              <a:ext cx="228600" cy="228600"/>
            </a:xfrm>
            <a:prstGeom prst="rect">
              <a:avLst/>
            </a:prstGeom>
          </p:spPr>
        </p:pic>
        <p:sp>
          <p:nvSpPr>
            <p:cNvPr id="10" name="Shape 6"/>
            <p:cNvSpPr/>
            <p:nvPr/>
          </p:nvSpPr>
          <p:spPr>
            <a:xfrm>
              <a:off x="2697480" y="1280160"/>
              <a:ext cx="1920240" cy="25603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1" name="Shape 7"/>
            <p:cNvSpPr/>
            <p:nvPr/>
          </p:nvSpPr>
          <p:spPr>
            <a:xfrm>
              <a:off x="3291840" y="1554480"/>
              <a:ext cx="731520" cy="731520"/>
            </a:xfrm>
            <a:prstGeom prst="ellipse">
              <a:avLst/>
            </a:prstGeom>
            <a:solidFill>
              <a:srgbClr val="0891B2"/>
            </a:solidFill>
            <a:ln/>
          </p:spPr>
          <p:txBody>
            <a:bodyPr/>
            <a:lstStyle/>
            <a:p>
              <a:endParaRPr lang="en-US" dirty="0"/>
            </a:p>
          </p:txBody>
        </p:sp>
        <p:pic>
          <p:nvPicPr>
            <p:cNvPr id="12" name="Image 2" descr="preencoded.png"/>
            <p:cNvPicPr>
              <a:picLocks noChangeAspect="1"/>
            </p:cNvPicPr>
            <p:nvPr/>
          </p:nvPicPr>
          <p:blipFill>
            <a:blip r:embed="rId5"/>
            <a:stretch>
              <a:fillRect/>
            </a:stretch>
          </p:blipFill>
          <p:spPr>
            <a:xfrm>
              <a:off x="3452774" y="1715414"/>
              <a:ext cx="409651" cy="409651"/>
            </a:xfrm>
            <a:prstGeom prst="rect">
              <a:avLst/>
            </a:prstGeom>
          </p:spPr>
        </p:pic>
        <p:sp>
          <p:nvSpPr>
            <p:cNvPr id="13" name="Text 8"/>
            <p:cNvSpPr/>
            <p:nvPr/>
          </p:nvSpPr>
          <p:spPr>
            <a:xfrm>
              <a:off x="2697480" y="2468880"/>
              <a:ext cx="1920240"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Machine</a:t>
              </a:r>
              <a:endParaRPr lang="en-US" sz="1400" dirty="0"/>
            </a:p>
            <a:p>
              <a:pPr marL="0" indent="0" algn="ctr">
                <a:buNone/>
              </a:pPr>
              <a:r>
                <a:rPr lang="en-US" sz="1400" b="1" dirty="0">
                  <a:solidFill>
                    <a:srgbClr val="1E293B"/>
                  </a:solidFill>
                  <a:latin typeface="Trebuchet MS" pitchFamily="34" charset="0"/>
                  <a:ea typeface="Trebuchet MS" pitchFamily="34" charset="-122"/>
                  <a:cs typeface="Trebuchet MS" pitchFamily="34" charset="-120"/>
                </a:rPr>
                <a:t>Learning</a:t>
              </a:r>
              <a:endParaRPr lang="en-US" sz="1400" dirty="0"/>
            </a:p>
          </p:txBody>
        </p:sp>
        <p:sp>
          <p:nvSpPr>
            <p:cNvPr id="14" name="Text 9"/>
            <p:cNvSpPr/>
            <p:nvPr/>
          </p:nvSpPr>
          <p:spPr>
            <a:xfrm>
              <a:off x="2697480" y="3108960"/>
              <a:ext cx="1920240" cy="365760"/>
            </a:xfrm>
            <a:prstGeom prst="rect">
              <a:avLst/>
            </a:prstGeom>
            <a:noFill/>
            <a:ln/>
          </p:spPr>
          <p:txBody>
            <a:bodyPr wrap="square" lIns="0" tIns="0" rIns="0" bIns="0" rtlCol="0" anchor="ctr"/>
            <a:lstStyle/>
            <a:p>
              <a:pPr marL="0" indent="0" algn="ctr">
                <a:buNone/>
              </a:pPr>
              <a:r>
                <a:rPr lang="en-US" sz="1100" i="1" dirty="0">
                  <a:solidFill>
                    <a:srgbClr val="334155"/>
                  </a:solidFill>
                  <a:latin typeface="Calibri" pitchFamily="34" charset="0"/>
                  <a:ea typeface="Calibri" pitchFamily="34" charset="-122"/>
                  <a:cs typeface="Calibri" pitchFamily="34" charset="-120"/>
                </a:rPr>
                <a:t>Pattern Recognition</a:t>
              </a:r>
              <a:endParaRPr lang="en-US" sz="1100" dirty="0"/>
            </a:p>
          </p:txBody>
        </p:sp>
      </p:grpSp>
      <p:grpSp>
        <p:nvGrpSpPr>
          <p:cNvPr id="29" name="Group 28">
            <a:extLst>
              <a:ext uri="{FF2B5EF4-FFF2-40B4-BE49-F238E27FC236}">
                <a16:creationId xmlns:a16="http://schemas.microsoft.com/office/drawing/2014/main" id="{40D31D34-2354-15FA-E932-1BFB00741E5B}"/>
              </a:ext>
            </a:extLst>
          </p:cNvPr>
          <p:cNvGrpSpPr/>
          <p:nvPr/>
        </p:nvGrpSpPr>
        <p:grpSpPr>
          <a:xfrm>
            <a:off x="4617720" y="1280160"/>
            <a:ext cx="2148840" cy="2560320"/>
            <a:chOff x="4617720" y="1280160"/>
            <a:chExt cx="2148840" cy="2560320"/>
          </a:xfrm>
        </p:grpSpPr>
        <p:pic>
          <p:nvPicPr>
            <p:cNvPr id="15" name="Image 3" descr="preencoded.png"/>
            <p:cNvPicPr>
              <a:picLocks noChangeAspect="1"/>
            </p:cNvPicPr>
            <p:nvPr/>
          </p:nvPicPr>
          <p:blipFill>
            <a:blip r:embed="rId4"/>
            <a:stretch>
              <a:fillRect/>
            </a:stretch>
          </p:blipFill>
          <p:spPr>
            <a:xfrm>
              <a:off x="4617720" y="2331720"/>
              <a:ext cx="228600" cy="228600"/>
            </a:xfrm>
            <a:prstGeom prst="rect">
              <a:avLst/>
            </a:prstGeom>
          </p:spPr>
        </p:pic>
        <p:sp>
          <p:nvSpPr>
            <p:cNvPr id="16" name="Shape 10"/>
            <p:cNvSpPr/>
            <p:nvPr/>
          </p:nvSpPr>
          <p:spPr>
            <a:xfrm>
              <a:off x="4846320" y="1280160"/>
              <a:ext cx="1920240" cy="25603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7" name="Shape 11"/>
            <p:cNvSpPr/>
            <p:nvPr/>
          </p:nvSpPr>
          <p:spPr>
            <a:xfrm>
              <a:off x="5440680" y="1554480"/>
              <a:ext cx="731520" cy="731520"/>
            </a:xfrm>
            <a:prstGeom prst="ellipse">
              <a:avLst/>
            </a:prstGeom>
            <a:solidFill>
              <a:srgbClr val="F59E0B"/>
            </a:solidFill>
            <a:ln/>
          </p:spPr>
          <p:txBody>
            <a:bodyPr/>
            <a:lstStyle/>
            <a:p>
              <a:endParaRPr lang="en-US" dirty="0"/>
            </a:p>
          </p:txBody>
        </p:sp>
        <p:pic>
          <p:nvPicPr>
            <p:cNvPr id="18" name="Image 4" descr="preencoded.png"/>
            <p:cNvPicPr>
              <a:picLocks noChangeAspect="1"/>
            </p:cNvPicPr>
            <p:nvPr/>
          </p:nvPicPr>
          <p:blipFill>
            <a:blip r:embed="rId6"/>
            <a:stretch>
              <a:fillRect/>
            </a:stretch>
          </p:blipFill>
          <p:spPr>
            <a:xfrm>
              <a:off x="5601614" y="1715414"/>
              <a:ext cx="409651" cy="409651"/>
            </a:xfrm>
            <a:prstGeom prst="rect">
              <a:avLst/>
            </a:prstGeom>
          </p:spPr>
        </p:pic>
        <p:sp>
          <p:nvSpPr>
            <p:cNvPr id="19" name="Text 12"/>
            <p:cNvSpPr/>
            <p:nvPr/>
          </p:nvSpPr>
          <p:spPr>
            <a:xfrm>
              <a:off x="4846320" y="2468880"/>
              <a:ext cx="1920240"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LLMs</a:t>
              </a:r>
              <a:endParaRPr lang="en-US" sz="1400" dirty="0"/>
            </a:p>
          </p:txBody>
        </p:sp>
        <p:sp>
          <p:nvSpPr>
            <p:cNvPr id="20" name="Text 13"/>
            <p:cNvSpPr/>
            <p:nvPr/>
          </p:nvSpPr>
          <p:spPr>
            <a:xfrm>
              <a:off x="4846320" y="3108960"/>
              <a:ext cx="1920240" cy="365760"/>
            </a:xfrm>
            <a:prstGeom prst="rect">
              <a:avLst/>
            </a:prstGeom>
            <a:noFill/>
            <a:ln/>
          </p:spPr>
          <p:txBody>
            <a:bodyPr wrap="square" lIns="0" tIns="0" rIns="0" bIns="0" rtlCol="0" anchor="ctr"/>
            <a:lstStyle/>
            <a:p>
              <a:pPr marL="0" indent="0" algn="ctr">
                <a:buNone/>
              </a:pPr>
              <a:r>
                <a:rPr lang="en-US" sz="1100" i="1" dirty="0">
                  <a:solidFill>
                    <a:srgbClr val="334155"/>
                  </a:solidFill>
                  <a:latin typeface="Calibri" pitchFamily="34" charset="0"/>
                  <a:ea typeface="Calibri" pitchFamily="34" charset="-122"/>
                  <a:cs typeface="Calibri" pitchFamily="34" charset="-120"/>
                </a:rPr>
                <a:t>Language Understanding</a:t>
              </a:r>
              <a:endParaRPr lang="en-US" sz="1100" dirty="0"/>
            </a:p>
          </p:txBody>
        </p:sp>
      </p:grpSp>
      <p:grpSp>
        <p:nvGrpSpPr>
          <p:cNvPr id="32" name="Group 31">
            <a:extLst>
              <a:ext uri="{FF2B5EF4-FFF2-40B4-BE49-F238E27FC236}">
                <a16:creationId xmlns:a16="http://schemas.microsoft.com/office/drawing/2014/main" id="{57B982BC-3853-50CD-2A9F-78517C561033}"/>
              </a:ext>
            </a:extLst>
          </p:cNvPr>
          <p:cNvGrpSpPr/>
          <p:nvPr/>
        </p:nvGrpSpPr>
        <p:grpSpPr>
          <a:xfrm>
            <a:off x="731520" y="1280160"/>
            <a:ext cx="8183880" cy="3383280"/>
            <a:chOff x="731520" y="1280160"/>
            <a:chExt cx="8183880" cy="3383280"/>
          </a:xfrm>
        </p:grpSpPr>
        <p:grpSp>
          <p:nvGrpSpPr>
            <p:cNvPr id="28" name="Group 27">
              <a:extLst>
                <a:ext uri="{FF2B5EF4-FFF2-40B4-BE49-F238E27FC236}">
                  <a16:creationId xmlns:a16="http://schemas.microsoft.com/office/drawing/2014/main" id="{664B6926-406D-0586-F125-522DA9C8B14F}"/>
                </a:ext>
              </a:extLst>
            </p:cNvPr>
            <p:cNvGrpSpPr/>
            <p:nvPr/>
          </p:nvGrpSpPr>
          <p:grpSpPr>
            <a:xfrm>
              <a:off x="6766560" y="1280160"/>
              <a:ext cx="2148840" cy="2560320"/>
              <a:chOff x="6766560" y="1280160"/>
              <a:chExt cx="2148840" cy="2560320"/>
            </a:xfrm>
          </p:grpSpPr>
          <p:pic>
            <p:nvPicPr>
              <p:cNvPr id="21" name="Image 5" descr="preencoded.png"/>
              <p:cNvPicPr>
                <a:picLocks noChangeAspect="1"/>
              </p:cNvPicPr>
              <p:nvPr/>
            </p:nvPicPr>
            <p:blipFill>
              <a:blip r:embed="rId4"/>
              <a:stretch>
                <a:fillRect/>
              </a:stretch>
            </p:blipFill>
            <p:spPr>
              <a:xfrm>
                <a:off x="6766560" y="2331720"/>
                <a:ext cx="228600" cy="228600"/>
              </a:xfrm>
              <a:prstGeom prst="rect">
                <a:avLst/>
              </a:prstGeom>
            </p:spPr>
          </p:pic>
          <p:sp>
            <p:nvSpPr>
              <p:cNvPr id="22" name="Shape 14"/>
              <p:cNvSpPr/>
              <p:nvPr/>
            </p:nvSpPr>
            <p:spPr>
              <a:xfrm>
                <a:off x="6995160" y="1280160"/>
                <a:ext cx="1920240" cy="25603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3" name="Shape 15"/>
              <p:cNvSpPr/>
              <p:nvPr/>
            </p:nvSpPr>
            <p:spPr>
              <a:xfrm>
                <a:off x="7589520" y="1554480"/>
                <a:ext cx="731520" cy="731520"/>
              </a:xfrm>
              <a:prstGeom prst="ellipse">
                <a:avLst/>
              </a:prstGeom>
              <a:solidFill>
                <a:srgbClr val="10B981"/>
              </a:solidFill>
              <a:ln/>
            </p:spPr>
            <p:txBody>
              <a:bodyPr/>
              <a:lstStyle/>
              <a:p>
                <a:endParaRPr lang="en-US" dirty="0"/>
              </a:p>
            </p:txBody>
          </p:sp>
          <p:pic>
            <p:nvPicPr>
              <p:cNvPr id="24" name="Image 6" descr="preencoded.png"/>
              <p:cNvPicPr>
                <a:picLocks noChangeAspect="1"/>
              </p:cNvPicPr>
              <p:nvPr/>
            </p:nvPicPr>
            <p:blipFill>
              <a:blip r:embed="rId7"/>
              <a:stretch>
                <a:fillRect/>
              </a:stretch>
            </p:blipFill>
            <p:spPr>
              <a:xfrm>
                <a:off x="7750454" y="1715414"/>
                <a:ext cx="409651" cy="409651"/>
              </a:xfrm>
              <a:prstGeom prst="rect">
                <a:avLst/>
              </a:prstGeom>
            </p:spPr>
          </p:pic>
          <p:sp>
            <p:nvSpPr>
              <p:cNvPr id="25" name="Text 16"/>
              <p:cNvSpPr/>
              <p:nvPr/>
            </p:nvSpPr>
            <p:spPr>
              <a:xfrm>
                <a:off x="6995160" y="2468880"/>
                <a:ext cx="1920240" cy="64008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AI Agents</a:t>
                </a:r>
                <a:endParaRPr lang="en-US" sz="1400" dirty="0"/>
              </a:p>
            </p:txBody>
          </p:sp>
          <p:sp>
            <p:nvSpPr>
              <p:cNvPr id="26" name="Text 17"/>
              <p:cNvSpPr/>
              <p:nvPr/>
            </p:nvSpPr>
            <p:spPr>
              <a:xfrm>
                <a:off x="6995160" y="3108960"/>
                <a:ext cx="1920240" cy="365760"/>
              </a:xfrm>
              <a:prstGeom prst="rect">
                <a:avLst/>
              </a:prstGeom>
              <a:noFill/>
              <a:ln/>
            </p:spPr>
            <p:txBody>
              <a:bodyPr wrap="square" lIns="0" tIns="0" rIns="0" bIns="0" rtlCol="0" anchor="ctr"/>
              <a:lstStyle/>
              <a:p>
                <a:pPr marL="0" indent="0" algn="ctr">
                  <a:buNone/>
                </a:pPr>
                <a:r>
                  <a:rPr lang="en-US" sz="1100" i="1" dirty="0">
                    <a:solidFill>
                      <a:srgbClr val="334155"/>
                    </a:solidFill>
                    <a:latin typeface="Calibri" pitchFamily="34" charset="0"/>
                    <a:ea typeface="Calibri" pitchFamily="34" charset="-122"/>
                    <a:cs typeface="Calibri" pitchFamily="34" charset="-120"/>
                  </a:rPr>
                  <a:t>Autonomous Action</a:t>
                </a:r>
                <a:endParaRPr lang="en-US" sz="1100" dirty="0"/>
              </a:p>
            </p:txBody>
          </p:sp>
        </p:grpSp>
        <p:sp>
          <p:nvSpPr>
            <p:cNvPr id="27" name="Text 18"/>
            <p:cNvSpPr/>
            <p:nvPr/>
          </p:nvSpPr>
          <p:spPr>
            <a:xfrm>
              <a:off x="731520" y="4114800"/>
              <a:ext cx="7680960" cy="548640"/>
            </a:xfrm>
            <a:prstGeom prst="rect">
              <a:avLst/>
            </a:prstGeom>
            <a:noFill/>
            <a:ln/>
          </p:spPr>
          <p:txBody>
            <a:bodyPr wrap="square" lIns="0" tIns="0" rIns="0" bIns="0" rtlCol="0" anchor="ctr"/>
            <a:lstStyle/>
            <a:p>
              <a:pPr marL="0" indent="0" algn="ctr">
                <a:buNone/>
              </a:pPr>
              <a:r>
                <a:rPr lang="en-US" sz="1300" i="1" dirty="0">
                  <a:solidFill>
                    <a:srgbClr val="334155"/>
                  </a:solidFill>
                  <a:latin typeface="Calibri" pitchFamily="34" charset="0"/>
                  <a:ea typeface="Calibri" pitchFamily="34" charset="-122"/>
                  <a:cs typeface="Calibri" pitchFamily="34" charset="-120"/>
                </a:rPr>
                <a:t>AI Agents represent the next leap — they don't just predict, they plan, reason, act, and learn from feedback.</a:t>
              </a:r>
              <a:endParaRPr lang="en-US" sz="1300"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30"/>
                                        </p:tgtEl>
                                        <p:attrNameLst>
                                          <p:attrName>style.visibility</p:attrName>
                                        </p:attrNameLst>
                                      </p:cBhvr>
                                      <p:to>
                                        <p:strVal val="visible"/>
                                      </p:to>
                                    </p:set>
                                    <p:anim calcmode="lin" valueType="num">
                                      <p:cBhvr>
                                        <p:cTn id="14" dur="500" fill="hold"/>
                                        <p:tgtEl>
                                          <p:spTgt spid="30"/>
                                        </p:tgtEl>
                                        <p:attrNameLst>
                                          <p:attrName>ppt_w</p:attrName>
                                        </p:attrNameLst>
                                      </p:cBhvr>
                                      <p:tavLst>
                                        <p:tav tm="0">
                                          <p:val>
                                            <p:fltVal val="0"/>
                                          </p:val>
                                        </p:tav>
                                        <p:tav tm="100000">
                                          <p:val>
                                            <p:strVal val="#ppt_w"/>
                                          </p:val>
                                        </p:tav>
                                      </p:tavLst>
                                    </p:anim>
                                    <p:anim calcmode="lin" valueType="num">
                                      <p:cBhvr>
                                        <p:cTn id="15" dur="500" fill="hold"/>
                                        <p:tgtEl>
                                          <p:spTgt spid="30"/>
                                        </p:tgtEl>
                                        <p:attrNameLst>
                                          <p:attrName>ppt_h</p:attrName>
                                        </p:attrNameLst>
                                      </p:cBhvr>
                                      <p:tavLst>
                                        <p:tav tm="0">
                                          <p:val>
                                            <p:fltVal val="0"/>
                                          </p:val>
                                        </p:tav>
                                        <p:tav tm="100000">
                                          <p:val>
                                            <p:strVal val="#ppt_h"/>
                                          </p:val>
                                        </p:tav>
                                      </p:tavLst>
                                    </p:anim>
                                    <p:animEffect transition="in" filter="fade">
                                      <p:cBhvr>
                                        <p:cTn id="16" dur="500"/>
                                        <p:tgtEl>
                                          <p:spTgt spid="3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29"/>
                                        </p:tgtEl>
                                        <p:attrNameLst>
                                          <p:attrName>style.visibility</p:attrName>
                                        </p:attrNameLst>
                                      </p:cBhvr>
                                      <p:to>
                                        <p:strVal val="visible"/>
                                      </p:to>
                                    </p:set>
                                    <p:anim calcmode="lin" valueType="num">
                                      <p:cBhvr>
                                        <p:cTn id="21" dur="500" fill="hold"/>
                                        <p:tgtEl>
                                          <p:spTgt spid="29"/>
                                        </p:tgtEl>
                                        <p:attrNameLst>
                                          <p:attrName>ppt_w</p:attrName>
                                        </p:attrNameLst>
                                      </p:cBhvr>
                                      <p:tavLst>
                                        <p:tav tm="0">
                                          <p:val>
                                            <p:fltVal val="0"/>
                                          </p:val>
                                        </p:tav>
                                        <p:tav tm="100000">
                                          <p:val>
                                            <p:strVal val="#ppt_w"/>
                                          </p:val>
                                        </p:tav>
                                      </p:tavLst>
                                    </p:anim>
                                    <p:anim calcmode="lin" valueType="num">
                                      <p:cBhvr>
                                        <p:cTn id="22" dur="500" fill="hold"/>
                                        <p:tgtEl>
                                          <p:spTgt spid="29"/>
                                        </p:tgtEl>
                                        <p:attrNameLst>
                                          <p:attrName>ppt_h</p:attrName>
                                        </p:attrNameLst>
                                      </p:cBhvr>
                                      <p:tavLst>
                                        <p:tav tm="0">
                                          <p:val>
                                            <p:fltVal val="0"/>
                                          </p:val>
                                        </p:tav>
                                        <p:tav tm="100000">
                                          <p:val>
                                            <p:strVal val="#ppt_h"/>
                                          </p:val>
                                        </p:tav>
                                      </p:tavLst>
                                    </p:anim>
                                    <p:animEffect transition="in" filter="fade">
                                      <p:cBhvr>
                                        <p:cTn id="23" dur="500"/>
                                        <p:tgtEl>
                                          <p:spTgt spid="29"/>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32"/>
                                        </p:tgtEl>
                                        <p:attrNameLst>
                                          <p:attrName>style.visibility</p:attrName>
                                        </p:attrNameLst>
                                      </p:cBhvr>
                                      <p:to>
                                        <p:strVal val="visible"/>
                                      </p:to>
                                    </p:set>
                                    <p:anim calcmode="lin" valueType="num">
                                      <p:cBhvr>
                                        <p:cTn id="28" dur="500" fill="hold"/>
                                        <p:tgtEl>
                                          <p:spTgt spid="32"/>
                                        </p:tgtEl>
                                        <p:attrNameLst>
                                          <p:attrName>ppt_w</p:attrName>
                                        </p:attrNameLst>
                                      </p:cBhvr>
                                      <p:tavLst>
                                        <p:tav tm="0">
                                          <p:val>
                                            <p:fltVal val="0"/>
                                          </p:val>
                                        </p:tav>
                                        <p:tav tm="100000">
                                          <p:val>
                                            <p:strVal val="#ppt_w"/>
                                          </p:val>
                                        </p:tav>
                                      </p:tavLst>
                                    </p:anim>
                                    <p:anim calcmode="lin" valueType="num">
                                      <p:cBhvr>
                                        <p:cTn id="29" dur="500" fill="hold"/>
                                        <p:tgtEl>
                                          <p:spTgt spid="32"/>
                                        </p:tgtEl>
                                        <p:attrNameLst>
                                          <p:attrName>ppt_h</p:attrName>
                                        </p:attrNameLst>
                                      </p:cBhvr>
                                      <p:tavLst>
                                        <p:tav tm="0">
                                          <p:val>
                                            <p:fltVal val="0"/>
                                          </p:val>
                                        </p:tav>
                                        <p:tav tm="100000">
                                          <p:val>
                                            <p:strVal val="#ppt_h"/>
                                          </p:val>
                                        </p:tav>
                                      </p:tavLst>
                                    </p:anim>
                                    <p:animEffect transition="in" filter="fade">
                                      <p:cBhvr>
                                        <p:cTn id="30"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Shape 1"/>
          <p:cNvSpPr/>
          <p:nvPr/>
        </p:nvSpPr>
        <p:spPr>
          <a:xfrm>
            <a:off x="0" y="5070348"/>
            <a:ext cx="9144000" cy="73152"/>
          </a:xfrm>
          <a:prstGeom prst="rect">
            <a:avLst/>
          </a:prstGeom>
          <a:solidFill>
            <a:srgbClr val="0891B2"/>
          </a:solidFill>
          <a:ln/>
        </p:spPr>
      </p:sp>
      <p:sp>
        <p:nvSpPr>
          <p:cNvPr id="4" name="Shape 2"/>
          <p:cNvSpPr/>
          <p:nvPr/>
        </p:nvSpPr>
        <p:spPr>
          <a:xfrm>
            <a:off x="3886200" y="365760"/>
            <a:ext cx="1371600" cy="1371600"/>
          </a:xfrm>
          <a:prstGeom prst="ellipse">
            <a:avLst/>
          </a:prstGeom>
          <a:solidFill>
            <a:srgbClr val="0891B2"/>
          </a:solidFill>
          <a:ln/>
        </p:spPr>
      </p:sp>
      <p:pic>
        <p:nvPicPr>
          <p:cNvPr id="5" name="Image 0" descr="preencoded.png"/>
          <p:cNvPicPr>
            <a:picLocks noChangeAspect="1"/>
          </p:cNvPicPr>
          <p:nvPr/>
        </p:nvPicPr>
        <p:blipFill>
          <a:blip r:embed="rId3"/>
          <a:stretch>
            <a:fillRect/>
          </a:stretch>
        </p:blipFill>
        <p:spPr>
          <a:xfrm>
            <a:off x="4187952" y="667512"/>
            <a:ext cx="768096" cy="768096"/>
          </a:xfrm>
          <a:prstGeom prst="rect">
            <a:avLst/>
          </a:prstGeom>
        </p:spPr>
      </p:pic>
      <p:sp>
        <p:nvSpPr>
          <p:cNvPr id="6" name="Text 3"/>
          <p:cNvSpPr/>
          <p:nvPr/>
        </p:nvSpPr>
        <p:spPr>
          <a:xfrm>
            <a:off x="731520" y="1920240"/>
            <a:ext cx="7680960" cy="11887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Key Characteristics of</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Agentic AI</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731520" y="3291840"/>
            <a:ext cx="76809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D3EE"/>
                </a:solidFill>
                <a:effectLst/>
                <a:uLnTx/>
                <a:uFillTx/>
                <a:latin typeface="Calibri" pitchFamily="34" charset="0"/>
                <a:ea typeface="Calibri" pitchFamily="34" charset="-122"/>
                <a:cs typeface="Calibri" pitchFamily="34" charset="-120"/>
              </a:rPr>
              <a:t>What Makes AI Systems Truly Agentic</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502920" y="4069080"/>
            <a:ext cx="1280160" cy="502920"/>
          </a:xfrm>
          <a:prstGeom prst="rect">
            <a:avLst/>
          </a:prstGeom>
          <a:solidFill>
            <a:srgbClr val="0891B2"/>
          </a:solidFill>
          <a:ln/>
        </p:spPr>
      </p:sp>
      <p:sp>
        <p:nvSpPr>
          <p:cNvPr id="9" name="Text 6"/>
          <p:cNvSpPr/>
          <p:nvPr/>
        </p:nvSpPr>
        <p:spPr>
          <a:xfrm>
            <a:off x="502920" y="4069080"/>
            <a:ext cx="12801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Autonomous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1920240" y="4069080"/>
            <a:ext cx="1280160" cy="502920"/>
          </a:xfrm>
          <a:prstGeom prst="rect">
            <a:avLst/>
          </a:prstGeom>
          <a:solidFill>
            <a:srgbClr val="F59E0B"/>
          </a:solidFill>
          <a:ln/>
        </p:spPr>
      </p:sp>
      <p:sp>
        <p:nvSpPr>
          <p:cNvPr id="11" name="Text 8"/>
          <p:cNvSpPr/>
          <p:nvPr/>
        </p:nvSpPr>
        <p:spPr>
          <a:xfrm>
            <a:off x="1920240" y="4069080"/>
            <a:ext cx="12801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Goal Oriented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3337560" y="4069080"/>
            <a:ext cx="1280160" cy="502920"/>
          </a:xfrm>
          <a:prstGeom prst="rect">
            <a:avLst/>
          </a:prstGeom>
          <a:solidFill>
            <a:srgbClr val="10B981"/>
          </a:solidFill>
          <a:ln/>
        </p:spPr>
      </p:sp>
      <p:sp>
        <p:nvSpPr>
          <p:cNvPr id="13" name="Text 10"/>
          <p:cNvSpPr/>
          <p:nvPr/>
        </p:nvSpPr>
        <p:spPr>
          <a:xfrm>
            <a:off x="3337560" y="4069080"/>
            <a:ext cx="12801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Planning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4754880" y="4069080"/>
            <a:ext cx="1280160" cy="502920"/>
          </a:xfrm>
          <a:prstGeom prst="rect">
            <a:avLst/>
          </a:prstGeom>
          <a:solidFill>
            <a:srgbClr val="8B5CF6"/>
          </a:solidFill>
          <a:ln/>
        </p:spPr>
      </p:sp>
      <p:sp>
        <p:nvSpPr>
          <p:cNvPr id="15" name="Text 12"/>
          <p:cNvSpPr/>
          <p:nvPr/>
        </p:nvSpPr>
        <p:spPr>
          <a:xfrm>
            <a:off x="4754880" y="4069080"/>
            <a:ext cx="12801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Reasoning</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6172200" y="4069080"/>
            <a:ext cx="1280160" cy="502920"/>
          </a:xfrm>
          <a:prstGeom prst="rect">
            <a:avLst/>
          </a:prstGeom>
          <a:solidFill>
            <a:srgbClr val="F97316"/>
          </a:solidFill>
          <a:ln/>
        </p:spPr>
      </p:sp>
      <p:sp>
        <p:nvSpPr>
          <p:cNvPr id="17" name="Text 14"/>
          <p:cNvSpPr/>
          <p:nvPr/>
        </p:nvSpPr>
        <p:spPr>
          <a:xfrm>
            <a:off x="6172200" y="4069080"/>
            <a:ext cx="12801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Adaptability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7589520" y="4069080"/>
            <a:ext cx="1280160" cy="502920"/>
          </a:xfrm>
          <a:prstGeom prst="rect">
            <a:avLst/>
          </a:prstGeom>
          <a:solidFill>
            <a:srgbClr val="EC4899"/>
          </a:solidFill>
          <a:ln/>
        </p:spPr>
      </p:sp>
      <p:sp>
        <p:nvSpPr>
          <p:cNvPr id="19" name="Text 16"/>
          <p:cNvSpPr/>
          <p:nvPr/>
        </p:nvSpPr>
        <p:spPr>
          <a:xfrm>
            <a:off x="7589520" y="4069080"/>
            <a:ext cx="128016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Context Aware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0891B2"/>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Autonomous — Acts Without Hand-Holding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234440"/>
            <a:ext cx="548640" cy="548640"/>
          </a:xfrm>
          <a:prstGeom prst="ellipse">
            <a:avLst/>
          </a:prstGeom>
          <a:solidFill>
            <a:srgbClr val="0891B2"/>
          </a:solidFill>
          <a:ln/>
        </p:spPr>
      </p:sp>
      <p:pic>
        <p:nvPicPr>
          <p:cNvPr id="8" name="Image 0" descr="preencoded.png"/>
          <p:cNvPicPr>
            <a:picLocks noChangeAspect="1"/>
          </p:cNvPicPr>
          <p:nvPr/>
        </p:nvPicPr>
        <p:blipFill>
          <a:blip r:embed="rId3"/>
          <a:stretch>
            <a:fillRect/>
          </a:stretch>
        </p:blipFill>
        <p:spPr>
          <a:xfrm>
            <a:off x="760781" y="13551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What is Autonomy?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An agentic AI system operates independently after receiving a goal. It doesn't wait for step-by-step instructions — it decides what to do, when to do it, and how to do it. The human sets the destination; the agent drives the car.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0891B2"/>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How It Works in Practice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640080" y="3447288"/>
            <a:ext cx="201168" cy="201168"/>
          </a:xfrm>
          <a:prstGeom prst="ellipse">
            <a:avLst/>
          </a:prstGeom>
          <a:solidFill>
            <a:srgbClr val="0891B2"/>
          </a:solidFill>
          <a:ln/>
        </p:spPr>
      </p:sp>
      <p:sp>
        <p:nvSpPr>
          <p:cNvPr id="15" name="Text 12"/>
          <p:cNvSpPr/>
          <p:nvPr/>
        </p:nvSpPr>
        <p:spPr>
          <a:xfrm>
            <a:off x="640080" y="344728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960120" y="342900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Human provides a high-level goal (one sentence)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640080" y="3767328"/>
            <a:ext cx="201168" cy="201168"/>
          </a:xfrm>
          <a:prstGeom prst="ellipse">
            <a:avLst/>
          </a:prstGeom>
          <a:solidFill>
            <a:srgbClr val="0891B2"/>
          </a:solidFill>
          <a:ln/>
        </p:spPr>
      </p:sp>
      <p:sp>
        <p:nvSpPr>
          <p:cNvPr id="18" name="Text 15"/>
          <p:cNvSpPr/>
          <p:nvPr/>
        </p:nvSpPr>
        <p:spPr>
          <a:xfrm>
            <a:off x="640080" y="376732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960120" y="374904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decomposes it into sub-tasks on its own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640080" y="4087368"/>
            <a:ext cx="201168" cy="201168"/>
          </a:xfrm>
          <a:prstGeom prst="ellipse">
            <a:avLst/>
          </a:prstGeom>
          <a:solidFill>
            <a:srgbClr val="0891B2"/>
          </a:solidFill>
          <a:ln/>
        </p:spPr>
      </p:sp>
      <p:sp>
        <p:nvSpPr>
          <p:cNvPr id="21" name="Text 18"/>
          <p:cNvSpPr/>
          <p:nvPr/>
        </p:nvSpPr>
        <p:spPr>
          <a:xfrm>
            <a:off x="640080" y="408736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960120" y="406908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selects and invokes tools without asking permission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640080" y="4407408"/>
            <a:ext cx="201168" cy="201168"/>
          </a:xfrm>
          <a:prstGeom prst="ellipse">
            <a:avLst/>
          </a:prstGeom>
          <a:solidFill>
            <a:srgbClr val="0891B2"/>
          </a:solidFill>
          <a:ln/>
        </p:spPr>
      </p:sp>
      <p:sp>
        <p:nvSpPr>
          <p:cNvPr id="24" name="Text 21"/>
          <p:cNvSpPr/>
          <p:nvPr/>
        </p:nvSpPr>
        <p:spPr>
          <a:xfrm>
            <a:off x="640080" y="440740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960120" y="438912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handles errors and retries independently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40080" y="4727448"/>
            <a:ext cx="201168" cy="201168"/>
          </a:xfrm>
          <a:prstGeom prst="ellipse">
            <a:avLst/>
          </a:prstGeom>
          <a:solidFill>
            <a:srgbClr val="0891B2"/>
          </a:solidFill>
          <a:ln/>
        </p:spPr>
      </p:sp>
      <p:sp>
        <p:nvSpPr>
          <p:cNvPr id="27" name="Text 24"/>
          <p:cNvSpPr/>
          <p:nvPr/>
        </p:nvSpPr>
        <p:spPr>
          <a:xfrm>
            <a:off x="640080" y="472744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960120" y="470916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delivers final result with a summary report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5303520" y="1097280"/>
            <a:ext cx="3383280" cy="2560320"/>
          </a:xfrm>
          <a:prstGeom prst="rect">
            <a:avLst/>
          </a:prstGeom>
          <a:solidFill>
            <a:srgbClr val="DBEAFE"/>
          </a:solidFill>
          <a:ln/>
          <a:effectLst>
            <a:outerShdw blurRad="50800" dist="25400" dir="8100000" algn="bl" rotWithShape="0">
              <a:srgbClr val="000000">
                <a:alpha val="8000"/>
              </a:srgbClr>
            </a:outerShdw>
          </a:effectLst>
        </p:spPr>
      </p:sp>
      <p:sp>
        <p:nvSpPr>
          <p:cNvPr id="30" name="Shape 27"/>
          <p:cNvSpPr/>
          <p:nvPr/>
        </p:nvSpPr>
        <p:spPr>
          <a:xfrm>
            <a:off x="5303520" y="1097280"/>
            <a:ext cx="3383280" cy="54864"/>
          </a:xfrm>
          <a:prstGeom prst="rect">
            <a:avLst/>
          </a:prstGeom>
          <a:solidFill>
            <a:srgbClr val="0891B2"/>
          </a:solidFill>
          <a:ln/>
        </p:spPr>
      </p:sp>
      <p:sp>
        <p:nvSpPr>
          <p:cNvPr id="31" name="Shape 28"/>
          <p:cNvSpPr/>
          <p:nvPr/>
        </p:nvSpPr>
        <p:spPr>
          <a:xfrm>
            <a:off x="5486400" y="1234440"/>
            <a:ext cx="411480" cy="411480"/>
          </a:xfrm>
          <a:prstGeom prst="ellipse">
            <a:avLst/>
          </a:prstGeom>
          <a:solidFill>
            <a:srgbClr val="0891B2"/>
          </a:solidFill>
          <a:ln/>
        </p:spPr>
      </p:sp>
      <p:pic>
        <p:nvPicPr>
          <p:cNvPr id="32" name="Image 1" descr="preencoded.png"/>
          <p:cNvPicPr>
            <a:picLocks noChangeAspect="1"/>
          </p:cNvPicPr>
          <p:nvPr/>
        </p:nvPicPr>
        <p:blipFill>
          <a:blip r:embed="rId4"/>
          <a:stretch>
            <a:fillRect/>
          </a:stretch>
        </p:blipFill>
        <p:spPr>
          <a:xfrm>
            <a:off x="5576926" y="1324966"/>
            <a:ext cx="230429" cy="230429"/>
          </a:xfrm>
          <a:prstGeom prst="rect">
            <a:avLst/>
          </a:prstGeom>
        </p:spPr>
      </p:pic>
      <p:sp>
        <p:nvSpPr>
          <p:cNvPr id="33" name="Text 29"/>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0"/>
          <p:cNvSpPr/>
          <p:nvPr/>
        </p:nvSpPr>
        <p:spPr>
          <a:xfrm>
            <a:off x="5486400" y="1645920"/>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Customer Support Agent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5486400" y="1965960"/>
            <a:ext cx="3017520" cy="1600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 support agent receives a ticket: "My order hasn't arrived." Without any human guidance, it: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Looks up the order in the database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Checks shipping status via carrier API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Finds the package is delayed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Sends a proactive update email to the customer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Creates an internal escalation ticket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all in under 60 seconds.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2"/>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37" name="Shape 33"/>
          <p:cNvSpPr/>
          <p:nvPr/>
        </p:nvSpPr>
        <p:spPr>
          <a:xfrm>
            <a:off x="5303520" y="3840480"/>
            <a:ext cx="1691640" cy="292608"/>
          </a:xfrm>
          <a:prstGeom prst="rect">
            <a:avLst/>
          </a:prstGeom>
          <a:solidFill>
            <a:srgbClr val="EF4444"/>
          </a:solidFill>
          <a:ln/>
        </p:spPr>
      </p:sp>
      <p:sp>
        <p:nvSpPr>
          <p:cNvPr id="38" name="Text 34"/>
          <p:cNvSpPr/>
          <p:nvPr/>
        </p:nvSpPr>
        <p:spPr>
          <a:xfrm>
            <a:off x="530352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Without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544068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Human must manually check each system, copy-paste info between tools, and write emails.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6"/>
          <p:cNvSpPr/>
          <p:nvPr/>
        </p:nvSpPr>
        <p:spPr>
          <a:xfrm>
            <a:off x="6995160" y="3840480"/>
            <a:ext cx="1691640" cy="292608"/>
          </a:xfrm>
          <a:prstGeom prst="rect">
            <a:avLst/>
          </a:prstGeom>
          <a:solidFill>
            <a:srgbClr val="10B981"/>
          </a:solidFill>
          <a:ln/>
        </p:spPr>
      </p:sp>
      <p:sp>
        <p:nvSpPr>
          <p:cNvPr id="41" name="Text 37"/>
          <p:cNvSpPr/>
          <p:nvPr/>
        </p:nvSpPr>
        <p:spPr>
          <a:xfrm>
            <a:off x="699516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8"/>
          <p:cNvSpPr/>
          <p:nvPr/>
        </p:nvSpPr>
        <p:spPr>
          <a:xfrm>
            <a:off x="713232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Agent handles the entire workflow end-to-end. Human only reviews edge cases.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F59E0B"/>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Goal Oriented — Driven by Objectives, Not Scripts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234440"/>
            <a:ext cx="548640" cy="548640"/>
          </a:xfrm>
          <a:prstGeom prst="ellipse">
            <a:avLst/>
          </a:prstGeom>
          <a:solidFill>
            <a:srgbClr val="F59E0B"/>
          </a:solidFill>
          <a:ln/>
        </p:spPr>
      </p:sp>
      <p:pic>
        <p:nvPicPr>
          <p:cNvPr id="8" name="Image 0" descr="preencoded.png"/>
          <p:cNvPicPr>
            <a:picLocks noChangeAspect="1"/>
          </p:cNvPicPr>
          <p:nvPr/>
        </p:nvPicPr>
        <p:blipFill>
          <a:blip r:embed="rId3"/>
          <a:stretch>
            <a:fillRect/>
          </a:stretch>
        </p:blipFill>
        <p:spPr>
          <a:xfrm>
            <a:off x="760781" y="13551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What is Goal Orientation?</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 goal-oriented agent focuses on WHAT needs to be achieved, not HOW to achieve it. Unlike rule-based systems that follow fixed scripts, the agent dynamically figures out the best path to reach its objective — and measures success against the goal.</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F59E0B"/>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How It Works in Practice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640080" y="3447288"/>
            <a:ext cx="201168" cy="201168"/>
          </a:xfrm>
          <a:prstGeom prst="ellipse">
            <a:avLst/>
          </a:prstGeom>
          <a:solidFill>
            <a:srgbClr val="F59E0B"/>
          </a:solidFill>
          <a:ln/>
        </p:spPr>
      </p:sp>
      <p:sp>
        <p:nvSpPr>
          <p:cNvPr id="15" name="Text 12"/>
          <p:cNvSpPr/>
          <p:nvPr/>
        </p:nvSpPr>
        <p:spPr>
          <a:xfrm>
            <a:off x="640080" y="344728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960120" y="342900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receives a clear objective (e.g., "book cheapest flight to NYC")</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640080" y="3767328"/>
            <a:ext cx="201168" cy="201168"/>
          </a:xfrm>
          <a:prstGeom prst="ellipse">
            <a:avLst/>
          </a:prstGeom>
          <a:solidFill>
            <a:srgbClr val="F59E0B"/>
          </a:solidFill>
          <a:ln/>
        </p:spPr>
      </p:sp>
      <p:sp>
        <p:nvSpPr>
          <p:cNvPr id="18" name="Text 15"/>
          <p:cNvSpPr/>
          <p:nvPr/>
        </p:nvSpPr>
        <p:spPr>
          <a:xfrm>
            <a:off x="640080" y="376732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960120" y="374904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identifies what success looks like (flight booked, under budget)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640080" y="4087368"/>
            <a:ext cx="201168" cy="201168"/>
          </a:xfrm>
          <a:prstGeom prst="ellipse">
            <a:avLst/>
          </a:prstGeom>
          <a:solidFill>
            <a:srgbClr val="F59E0B"/>
          </a:solidFill>
          <a:ln/>
        </p:spPr>
      </p:sp>
      <p:sp>
        <p:nvSpPr>
          <p:cNvPr id="21" name="Text 18"/>
          <p:cNvSpPr/>
          <p:nvPr/>
        </p:nvSpPr>
        <p:spPr>
          <a:xfrm>
            <a:off x="640080" y="408736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960120" y="406908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explores multiple paths to achieve the goal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640080" y="4407408"/>
            <a:ext cx="201168" cy="201168"/>
          </a:xfrm>
          <a:prstGeom prst="ellipse">
            <a:avLst/>
          </a:prstGeom>
          <a:solidFill>
            <a:srgbClr val="F59E0B"/>
          </a:solidFill>
          <a:ln/>
        </p:spPr>
      </p:sp>
      <p:sp>
        <p:nvSpPr>
          <p:cNvPr id="24" name="Text 21"/>
          <p:cNvSpPr/>
          <p:nvPr/>
        </p:nvSpPr>
        <p:spPr>
          <a:xfrm>
            <a:off x="640080" y="440740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960120" y="438912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evaluates each option against the objective criteria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40080" y="4727448"/>
            <a:ext cx="201168" cy="201168"/>
          </a:xfrm>
          <a:prstGeom prst="ellipse">
            <a:avLst/>
          </a:prstGeom>
          <a:solidFill>
            <a:srgbClr val="F59E0B"/>
          </a:solidFill>
          <a:ln/>
        </p:spPr>
      </p:sp>
      <p:sp>
        <p:nvSpPr>
          <p:cNvPr id="27" name="Text 24"/>
          <p:cNvSpPr/>
          <p:nvPr/>
        </p:nvSpPr>
        <p:spPr>
          <a:xfrm>
            <a:off x="640080" y="472744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960120" y="470916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selects the optimal path and executes it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5303520" y="1097280"/>
            <a:ext cx="3383280" cy="2560320"/>
          </a:xfrm>
          <a:prstGeom prst="rect">
            <a:avLst/>
          </a:prstGeom>
          <a:solidFill>
            <a:srgbClr val="FEF3C7"/>
          </a:solidFill>
          <a:ln/>
          <a:effectLst>
            <a:outerShdw blurRad="50800" dist="25400" dir="8100000" algn="bl" rotWithShape="0">
              <a:srgbClr val="000000">
                <a:alpha val="8000"/>
              </a:srgbClr>
            </a:outerShdw>
          </a:effectLst>
        </p:spPr>
      </p:sp>
      <p:sp>
        <p:nvSpPr>
          <p:cNvPr id="30" name="Shape 27"/>
          <p:cNvSpPr/>
          <p:nvPr/>
        </p:nvSpPr>
        <p:spPr>
          <a:xfrm>
            <a:off x="5303520" y="1097280"/>
            <a:ext cx="3383280" cy="54864"/>
          </a:xfrm>
          <a:prstGeom prst="rect">
            <a:avLst/>
          </a:prstGeom>
          <a:solidFill>
            <a:srgbClr val="F59E0B"/>
          </a:solidFill>
          <a:ln/>
        </p:spPr>
      </p:sp>
      <p:sp>
        <p:nvSpPr>
          <p:cNvPr id="31" name="Shape 28"/>
          <p:cNvSpPr/>
          <p:nvPr/>
        </p:nvSpPr>
        <p:spPr>
          <a:xfrm>
            <a:off x="5486400" y="1234440"/>
            <a:ext cx="411480" cy="411480"/>
          </a:xfrm>
          <a:prstGeom prst="ellipse">
            <a:avLst/>
          </a:prstGeom>
          <a:solidFill>
            <a:srgbClr val="F59E0B"/>
          </a:solidFill>
          <a:ln/>
        </p:spPr>
      </p:sp>
      <p:pic>
        <p:nvPicPr>
          <p:cNvPr id="32" name="Image 1" descr="preencoded.png"/>
          <p:cNvPicPr>
            <a:picLocks noChangeAspect="1"/>
          </p:cNvPicPr>
          <p:nvPr/>
        </p:nvPicPr>
        <p:blipFill>
          <a:blip r:embed="rId4"/>
          <a:stretch>
            <a:fillRect/>
          </a:stretch>
        </p:blipFill>
        <p:spPr>
          <a:xfrm>
            <a:off x="5576926" y="1324966"/>
            <a:ext cx="230429" cy="230429"/>
          </a:xfrm>
          <a:prstGeom prst="rect">
            <a:avLst/>
          </a:prstGeom>
        </p:spPr>
      </p:pic>
      <p:sp>
        <p:nvSpPr>
          <p:cNvPr id="33" name="Text 29"/>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0"/>
          <p:cNvSpPr/>
          <p:nvPr/>
        </p:nvSpPr>
        <p:spPr>
          <a:xfrm>
            <a:off x="5486400" y="1645920"/>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Investment Research Agent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5486400" y="1965960"/>
            <a:ext cx="3017520" cy="1600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Goal: "Find 3 undervalued tech stocks with P/E &lt; 20."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The agent doesn't follow a script. It: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Searches financial APIs for tech stocks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Filters by P/E ratio</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Cross-references with analyst ratings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Checks recent news for red flags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Ranks by overall value score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Returns top 3 with justification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2"/>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37" name="Shape 33"/>
          <p:cNvSpPr/>
          <p:nvPr/>
        </p:nvSpPr>
        <p:spPr>
          <a:xfrm>
            <a:off x="5303520" y="3840480"/>
            <a:ext cx="1691640" cy="292608"/>
          </a:xfrm>
          <a:prstGeom prst="rect">
            <a:avLst/>
          </a:prstGeom>
          <a:solidFill>
            <a:srgbClr val="EF4444"/>
          </a:solidFill>
          <a:ln/>
        </p:spPr>
      </p:sp>
      <p:sp>
        <p:nvSpPr>
          <p:cNvPr id="38" name="Text 34"/>
          <p:cNvSpPr/>
          <p:nvPr/>
        </p:nvSpPr>
        <p:spPr>
          <a:xfrm>
            <a:off x="530352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Without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544068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System follows a rigid checklist. If market conditions change, it can't adapt.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6"/>
          <p:cNvSpPr/>
          <p:nvPr/>
        </p:nvSpPr>
        <p:spPr>
          <a:xfrm>
            <a:off x="6995160" y="3840480"/>
            <a:ext cx="1691640" cy="292608"/>
          </a:xfrm>
          <a:prstGeom prst="rect">
            <a:avLst/>
          </a:prstGeom>
          <a:solidFill>
            <a:srgbClr val="10B981"/>
          </a:solidFill>
          <a:ln/>
        </p:spPr>
      </p:sp>
      <p:sp>
        <p:nvSpPr>
          <p:cNvPr id="41" name="Text 37"/>
          <p:cNvSpPr/>
          <p:nvPr/>
        </p:nvSpPr>
        <p:spPr>
          <a:xfrm>
            <a:off x="699516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8"/>
          <p:cNvSpPr/>
          <p:nvPr/>
        </p:nvSpPr>
        <p:spPr>
          <a:xfrm>
            <a:off x="713232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Agent pursues the goal flexibly, trying alternative strategies if one fails.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10B981"/>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Planning — Breaks Complex Goals into Actionable Steps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234440"/>
            <a:ext cx="548640" cy="548640"/>
          </a:xfrm>
          <a:prstGeom prst="ellipse">
            <a:avLst/>
          </a:prstGeom>
          <a:solidFill>
            <a:srgbClr val="10B981"/>
          </a:solidFill>
          <a:ln/>
        </p:spPr>
      </p:sp>
      <p:pic>
        <p:nvPicPr>
          <p:cNvPr id="8" name="Image 0" descr="preencoded.png"/>
          <p:cNvPicPr>
            <a:picLocks noChangeAspect="1"/>
          </p:cNvPicPr>
          <p:nvPr/>
        </p:nvPicPr>
        <p:blipFill>
          <a:blip r:embed="rId3"/>
          <a:stretch>
            <a:fillRect/>
          </a:stretch>
        </p:blipFill>
        <p:spPr>
          <a:xfrm>
            <a:off x="760781" y="13551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What is Planning?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Planning is the ability to decompose a complex goal into a sequence of smaller, manageable sub-tasks — and determine the optimal order of execution. Great planning considers dependencies (task B needs results from task A) and parallelism (tasks C and D can run simultaneously).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10B981"/>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How It Works in Practice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640080" y="3447288"/>
            <a:ext cx="201168" cy="201168"/>
          </a:xfrm>
          <a:prstGeom prst="ellipse">
            <a:avLst/>
          </a:prstGeom>
          <a:solidFill>
            <a:srgbClr val="10B981"/>
          </a:solidFill>
          <a:ln/>
        </p:spPr>
      </p:sp>
      <p:sp>
        <p:nvSpPr>
          <p:cNvPr id="15" name="Text 12"/>
          <p:cNvSpPr/>
          <p:nvPr/>
        </p:nvSpPr>
        <p:spPr>
          <a:xfrm>
            <a:off x="640080" y="344728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960120" y="342900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analyzes the goal and identifies all required sub-tasks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640080" y="3767328"/>
            <a:ext cx="201168" cy="201168"/>
          </a:xfrm>
          <a:prstGeom prst="ellipse">
            <a:avLst/>
          </a:prstGeom>
          <a:solidFill>
            <a:srgbClr val="10B981"/>
          </a:solidFill>
          <a:ln/>
        </p:spPr>
      </p:sp>
      <p:sp>
        <p:nvSpPr>
          <p:cNvPr id="18" name="Text 15"/>
          <p:cNvSpPr/>
          <p:nvPr/>
        </p:nvSpPr>
        <p:spPr>
          <a:xfrm>
            <a:off x="640080" y="376732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960120" y="374904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maps dependencies: which tasks need outputs from others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640080" y="4087368"/>
            <a:ext cx="201168" cy="201168"/>
          </a:xfrm>
          <a:prstGeom prst="ellipse">
            <a:avLst/>
          </a:prstGeom>
          <a:solidFill>
            <a:srgbClr val="10B981"/>
          </a:solidFill>
          <a:ln/>
        </p:spPr>
      </p:sp>
      <p:sp>
        <p:nvSpPr>
          <p:cNvPr id="21" name="Text 18"/>
          <p:cNvSpPr/>
          <p:nvPr/>
        </p:nvSpPr>
        <p:spPr>
          <a:xfrm>
            <a:off x="640080" y="408736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960120" y="406908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determines execution order (sequential vs. parallel)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640080" y="4407408"/>
            <a:ext cx="201168" cy="201168"/>
          </a:xfrm>
          <a:prstGeom prst="ellipse">
            <a:avLst/>
          </a:prstGeom>
          <a:solidFill>
            <a:srgbClr val="10B981"/>
          </a:solidFill>
          <a:ln/>
        </p:spPr>
      </p:sp>
      <p:sp>
        <p:nvSpPr>
          <p:cNvPr id="24" name="Text 21"/>
          <p:cNvSpPr/>
          <p:nvPr/>
        </p:nvSpPr>
        <p:spPr>
          <a:xfrm>
            <a:off x="640080" y="440740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960120" y="438912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creates fallback plans for potential failures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40080" y="4727448"/>
            <a:ext cx="201168" cy="201168"/>
          </a:xfrm>
          <a:prstGeom prst="ellipse">
            <a:avLst/>
          </a:prstGeom>
          <a:solidFill>
            <a:srgbClr val="10B981"/>
          </a:solidFill>
          <a:ln/>
        </p:spPr>
      </p:sp>
      <p:sp>
        <p:nvSpPr>
          <p:cNvPr id="27" name="Text 24"/>
          <p:cNvSpPr/>
          <p:nvPr/>
        </p:nvSpPr>
        <p:spPr>
          <a:xfrm>
            <a:off x="640080" y="472744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960120" y="470916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dynamically re-plans when circumstances change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5303520" y="1097280"/>
            <a:ext cx="3383280" cy="2560320"/>
          </a:xfrm>
          <a:prstGeom prst="rect">
            <a:avLst/>
          </a:prstGeom>
          <a:solidFill>
            <a:srgbClr val="D1FAE5"/>
          </a:solidFill>
          <a:ln/>
          <a:effectLst>
            <a:outerShdw blurRad="50800" dist="25400" dir="8100000" algn="bl" rotWithShape="0">
              <a:srgbClr val="000000">
                <a:alpha val="8000"/>
              </a:srgbClr>
            </a:outerShdw>
          </a:effectLst>
        </p:spPr>
      </p:sp>
      <p:sp>
        <p:nvSpPr>
          <p:cNvPr id="30" name="Shape 27"/>
          <p:cNvSpPr/>
          <p:nvPr/>
        </p:nvSpPr>
        <p:spPr>
          <a:xfrm>
            <a:off x="5303520" y="1097280"/>
            <a:ext cx="3383280" cy="54864"/>
          </a:xfrm>
          <a:prstGeom prst="rect">
            <a:avLst/>
          </a:prstGeom>
          <a:solidFill>
            <a:srgbClr val="10B981"/>
          </a:solidFill>
          <a:ln/>
        </p:spPr>
      </p:sp>
      <p:sp>
        <p:nvSpPr>
          <p:cNvPr id="31" name="Shape 28"/>
          <p:cNvSpPr/>
          <p:nvPr/>
        </p:nvSpPr>
        <p:spPr>
          <a:xfrm>
            <a:off x="5486400" y="1234440"/>
            <a:ext cx="411480" cy="411480"/>
          </a:xfrm>
          <a:prstGeom prst="ellipse">
            <a:avLst/>
          </a:prstGeom>
          <a:solidFill>
            <a:srgbClr val="10B981"/>
          </a:solidFill>
          <a:ln/>
        </p:spPr>
      </p:sp>
      <p:pic>
        <p:nvPicPr>
          <p:cNvPr id="32" name="Image 1" descr="preencoded.png"/>
          <p:cNvPicPr>
            <a:picLocks noChangeAspect="1"/>
          </p:cNvPicPr>
          <p:nvPr/>
        </p:nvPicPr>
        <p:blipFill>
          <a:blip r:embed="rId4"/>
          <a:stretch>
            <a:fillRect/>
          </a:stretch>
        </p:blipFill>
        <p:spPr>
          <a:xfrm>
            <a:off x="5576926" y="1324966"/>
            <a:ext cx="230429" cy="230429"/>
          </a:xfrm>
          <a:prstGeom prst="rect">
            <a:avLst/>
          </a:prstGeom>
        </p:spPr>
      </p:pic>
      <p:sp>
        <p:nvSpPr>
          <p:cNvPr id="33" name="Text 29"/>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0"/>
          <p:cNvSpPr/>
          <p:nvPr/>
        </p:nvSpPr>
        <p:spPr>
          <a:xfrm>
            <a:off x="5486400" y="1645920"/>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Event Planning Agent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5486400" y="1965960"/>
            <a:ext cx="3017520" cy="1600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Goal: "Organize a team offsite for 50 people next month."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Agent's plan: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1. Check team availability (calendar API)</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2. Find venue options (search + compare)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3. Book venue (depends on step 1 &amp; 2)</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4. Arrange catering (parallel with step 5)</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5. Send invitations (depends on step 3)</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6. Create agenda (parallel with step 4)</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7. Confirm all bookings (depends on all)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2"/>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37" name="Shape 33"/>
          <p:cNvSpPr/>
          <p:nvPr/>
        </p:nvSpPr>
        <p:spPr>
          <a:xfrm>
            <a:off x="5303520" y="3840480"/>
            <a:ext cx="1691640" cy="292608"/>
          </a:xfrm>
          <a:prstGeom prst="rect">
            <a:avLst/>
          </a:prstGeom>
          <a:solidFill>
            <a:srgbClr val="EF4444"/>
          </a:solidFill>
          <a:ln/>
        </p:spPr>
      </p:sp>
      <p:sp>
        <p:nvSpPr>
          <p:cNvPr id="38" name="Text 34"/>
          <p:cNvSpPr/>
          <p:nvPr/>
        </p:nvSpPr>
        <p:spPr>
          <a:xfrm>
            <a:off x="530352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Without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544068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Tasks run in random order. Venue booked before dates confirmed. Invites sent without venue.</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6"/>
          <p:cNvSpPr/>
          <p:nvPr/>
        </p:nvSpPr>
        <p:spPr>
          <a:xfrm>
            <a:off x="6995160" y="3840480"/>
            <a:ext cx="1691640" cy="292608"/>
          </a:xfrm>
          <a:prstGeom prst="rect">
            <a:avLst/>
          </a:prstGeom>
          <a:solidFill>
            <a:srgbClr val="10B981"/>
          </a:solidFill>
          <a:ln/>
        </p:spPr>
      </p:sp>
      <p:sp>
        <p:nvSpPr>
          <p:cNvPr id="41" name="Text 37"/>
          <p:cNvSpPr/>
          <p:nvPr/>
        </p:nvSpPr>
        <p:spPr>
          <a:xfrm>
            <a:off x="699516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8"/>
          <p:cNvSpPr/>
          <p:nvPr/>
        </p:nvSpPr>
        <p:spPr>
          <a:xfrm>
            <a:off x="713232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Agent respects dependencies, runs parallel tasks, and adjusts if venue falls through.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8B5CF6"/>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Reasoning — Thinks Before Acting</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234440"/>
            <a:ext cx="548640" cy="548640"/>
          </a:xfrm>
          <a:prstGeom prst="ellipse">
            <a:avLst/>
          </a:prstGeom>
          <a:solidFill>
            <a:srgbClr val="8B5CF6"/>
          </a:solidFill>
          <a:ln/>
        </p:spPr>
      </p:sp>
      <p:pic>
        <p:nvPicPr>
          <p:cNvPr id="8" name="Image 0" descr="preencoded.png"/>
          <p:cNvPicPr>
            <a:picLocks noChangeAspect="1"/>
          </p:cNvPicPr>
          <p:nvPr/>
        </p:nvPicPr>
        <p:blipFill>
          <a:blip r:embed="rId3"/>
          <a:stretch>
            <a:fillRect/>
          </a:stretch>
        </p:blipFill>
        <p:spPr>
          <a:xfrm>
            <a:off x="760781" y="13551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What is Reasoning?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Reasoning is the agent's ability to analyze information, draw logical conclusions, and make informed decisions. It uses the ReAct pattern — Thought → Action → Observation — to think through each step before acting, rather than blindly executing a sequence. This makes decisions transparent and debuggable.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8B5CF6"/>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How It Works in Practice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640080" y="3447288"/>
            <a:ext cx="201168" cy="201168"/>
          </a:xfrm>
          <a:prstGeom prst="ellipse">
            <a:avLst/>
          </a:prstGeom>
          <a:solidFill>
            <a:srgbClr val="8B5CF6"/>
          </a:solidFill>
          <a:ln/>
        </p:spPr>
      </p:sp>
      <p:sp>
        <p:nvSpPr>
          <p:cNvPr id="15" name="Text 12"/>
          <p:cNvSpPr/>
          <p:nvPr/>
        </p:nvSpPr>
        <p:spPr>
          <a:xfrm>
            <a:off x="640080" y="344728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960120" y="342900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receives input and THINKS about what it means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640080" y="3767328"/>
            <a:ext cx="201168" cy="201168"/>
          </a:xfrm>
          <a:prstGeom prst="ellipse">
            <a:avLst/>
          </a:prstGeom>
          <a:solidFill>
            <a:srgbClr val="8B5CF6"/>
          </a:solidFill>
          <a:ln/>
        </p:spPr>
      </p:sp>
      <p:sp>
        <p:nvSpPr>
          <p:cNvPr id="18" name="Text 15"/>
          <p:cNvSpPr/>
          <p:nvPr/>
        </p:nvSpPr>
        <p:spPr>
          <a:xfrm>
            <a:off x="640080" y="376732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960120" y="374904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considers which tools or knowledge are relevant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640080" y="4087368"/>
            <a:ext cx="201168" cy="201168"/>
          </a:xfrm>
          <a:prstGeom prst="ellipse">
            <a:avLst/>
          </a:prstGeom>
          <a:solidFill>
            <a:srgbClr val="8B5CF6"/>
          </a:solidFill>
          <a:ln/>
        </p:spPr>
      </p:sp>
      <p:sp>
        <p:nvSpPr>
          <p:cNvPr id="21" name="Text 18"/>
          <p:cNvSpPr/>
          <p:nvPr/>
        </p:nvSpPr>
        <p:spPr>
          <a:xfrm>
            <a:off x="640080" y="408736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960120" y="406908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weighs trade-offs between different approaches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640080" y="4407408"/>
            <a:ext cx="201168" cy="201168"/>
          </a:xfrm>
          <a:prstGeom prst="ellipse">
            <a:avLst/>
          </a:prstGeom>
          <a:solidFill>
            <a:srgbClr val="8B5CF6"/>
          </a:solidFill>
          <a:ln/>
        </p:spPr>
      </p:sp>
      <p:sp>
        <p:nvSpPr>
          <p:cNvPr id="24" name="Text 21"/>
          <p:cNvSpPr/>
          <p:nvPr/>
        </p:nvSpPr>
        <p:spPr>
          <a:xfrm>
            <a:off x="640080" y="440740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960120" y="438912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explains its reasoning in natural language (Thought step)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40080" y="4727448"/>
            <a:ext cx="201168" cy="201168"/>
          </a:xfrm>
          <a:prstGeom prst="ellipse">
            <a:avLst/>
          </a:prstGeom>
          <a:solidFill>
            <a:srgbClr val="8B5CF6"/>
          </a:solidFill>
          <a:ln/>
        </p:spPr>
      </p:sp>
      <p:sp>
        <p:nvSpPr>
          <p:cNvPr id="27" name="Text 24"/>
          <p:cNvSpPr/>
          <p:nvPr/>
        </p:nvSpPr>
        <p:spPr>
          <a:xfrm>
            <a:off x="640080" y="472744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960120" y="470916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acts only after reasoning justifies the action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5303520" y="1097280"/>
            <a:ext cx="3383280" cy="2560320"/>
          </a:xfrm>
          <a:prstGeom prst="rect">
            <a:avLst/>
          </a:prstGeom>
          <a:solidFill>
            <a:srgbClr val="EDE9FE"/>
          </a:solidFill>
          <a:ln/>
          <a:effectLst>
            <a:outerShdw blurRad="50800" dist="25400" dir="8100000" algn="bl" rotWithShape="0">
              <a:srgbClr val="000000">
                <a:alpha val="8000"/>
              </a:srgbClr>
            </a:outerShdw>
          </a:effectLst>
        </p:spPr>
      </p:sp>
      <p:sp>
        <p:nvSpPr>
          <p:cNvPr id="30" name="Shape 27"/>
          <p:cNvSpPr/>
          <p:nvPr/>
        </p:nvSpPr>
        <p:spPr>
          <a:xfrm>
            <a:off x="5303520" y="1097280"/>
            <a:ext cx="3383280" cy="54864"/>
          </a:xfrm>
          <a:prstGeom prst="rect">
            <a:avLst/>
          </a:prstGeom>
          <a:solidFill>
            <a:srgbClr val="8B5CF6"/>
          </a:solidFill>
          <a:ln/>
        </p:spPr>
      </p:sp>
      <p:sp>
        <p:nvSpPr>
          <p:cNvPr id="31" name="Shape 28"/>
          <p:cNvSpPr/>
          <p:nvPr/>
        </p:nvSpPr>
        <p:spPr>
          <a:xfrm>
            <a:off x="5486400" y="1234440"/>
            <a:ext cx="411480" cy="411480"/>
          </a:xfrm>
          <a:prstGeom prst="ellipse">
            <a:avLst/>
          </a:prstGeom>
          <a:solidFill>
            <a:srgbClr val="8B5CF6"/>
          </a:solidFill>
          <a:ln/>
        </p:spPr>
      </p:sp>
      <p:pic>
        <p:nvPicPr>
          <p:cNvPr id="32" name="Image 1" descr="preencoded.png"/>
          <p:cNvPicPr>
            <a:picLocks noChangeAspect="1"/>
          </p:cNvPicPr>
          <p:nvPr/>
        </p:nvPicPr>
        <p:blipFill>
          <a:blip r:embed="rId4"/>
          <a:stretch>
            <a:fillRect/>
          </a:stretch>
        </p:blipFill>
        <p:spPr>
          <a:xfrm>
            <a:off x="5576926" y="1324966"/>
            <a:ext cx="230429" cy="230429"/>
          </a:xfrm>
          <a:prstGeom prst="rect">
            <a:avLst/>
          </a:prstGeom>
        </p:spPr>
      </p:pic>
      <p:sp>
        <p:nvSpPr>
          <p:cNvPr id="33" name="Text 29"/>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0"/>
          <p:cNvSpPr/>
          <p:nvPr/>
        </p:nvSpPr>
        <p:spPr>
          <a:xfrm>
            <a:off x="5486400" y="1645920"/>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Debugging Agent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5486400" y="1965960"/>
            <a:ext cx="3017520" cy="1600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User: "My API returns 500 errors randomly."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reasons: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Thought: Intermittent 500s suggest a concurrency or resource issue, not a code bug.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Action: Check server logs for error patterns.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Observation: Errors spike at peak hours.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Thought: Likely database connection pool exhaustion.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Action: Check DB connection config.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Result: Pool size was 5 — recommends 20.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2"/>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37" name="Shape 33"/>
          <p:cNvSpPr/>
          <p:nvPr/>
        </p:nvSpPr>
        <p:spPr>
          <a:xfrm>
            <a:off x="5303520" y="3840480"/>
            <a:ext cx="1691640" cy="292608"/>
          </a:xfrm>
          <a:prstGeom prst="rect">
            <a:avLst/>
          </a:prstGeom>
          <a:solidFill>
            <a:srgbClr val="EF4444"/>
          </a:solidFill>
          <a:ln/>
        </p:spPr>
      </p:sp>
      <p:sp>
        <p:nvSpPr>
          <p:cNvPr id="38" name="Text 34"/>
          <p:cNvSpPr/>
          <p:nvPr/>
        </p:nvSpPr>
        <p:spPr>
          <a:xfrm>
            <a:off x="530352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Without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544068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System tries random fixes or asks the user for more info without analyzing the pattern.</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6"/>
          <p:cNvSpPr/>
          <p:nvPr/>
        </p:nvSpPr>
        <p:spPr>
          <a:xfrm>
            <a:off x="6995160" y="3840480"/>
            <a:ext cx="1691640" cy="292608"/>
          </a:xfrm>
          <a:prstGeom prst="rect">
            <a:avLst/>
          </a:prstGeom>
          <a:solidFill>
            <a:srgbClr val="10B981"/>
          </a:solidFill>
          <a:ln/>
        </p:spPr>
      </p:sp>
      <p:sp>
        <p:nvSpPr>
          <p:cNvPr id="41" name="Text 37"/>
          <p:cNvSpPr/>
          <p:nvPr/>
        </p:nvSpPr>
        <p:spPr>
          <a:xfrm>
            <a:off x="699516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8"/>
          <p:cNvSpPr/>
          <p:nvPr/>
        </p:nvSpPr>
        <p:spPr>
          <a:xfrm>
            <a:off x="713232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Agent traces the logical chain from symptom to root cause, just like a senior engineer.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F97316"/>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5</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Adaptability — Adjusts When Things Don't Go as Planned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234440"/>
            <a:ext cx="548640" cy="548640"/>
          </a:xfrm>
          <a:prstGeom prst="ellipse">
            <a:avLst/>
          </a:prstGeom>
          <a:solidFill>
            <a:srgbClr val="F97316"/>
          </a:solidFill>
          <a:ln/>
        </p:spPr>
      </p:sp>
      <p:pic>
        <p:nvPicPr>
          <p:cNvPr id="8" name="Image 0" descr="preencoded.png"/>
          <p:cNvPicPr>
            <a:picLocks noChangeAspect="1"/>
          </p:cNvPicPr>
          <p:nvPr/>
        </p:nvPicPr>
        <p:blipFill>
          <a:blip r:embed="rId3"/>
          <a:stretch>
            <a:fillRect/>
          </a:stretch>
        </p:blipFill>
        <p:spPr>
          <a:xfrm>
            <a:off x="760781" y="13551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97316"/>
                </a:solidFill>
                <a:effectLst/>
                <a:uLnTx/>
                <a:uFillTx/>
                <a:latin typeface="Trebuchet MS" pitchFamily="34" charset="0"/>
                <a:ea typeface="Trebuchet MS" pitchFamily="34" charset="-122"/>
                <a:cs typeface="Trebuchet MS" pitchFamily="34" charset="-120"/>
              </a:rPr>
              <a:t>What is Adaptability?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Adaptability is the ability to change strategy when the environment changes or when an action fails. A truly agentic system doesn't crash or give up when Plan A fails — it pivots to Plan B. It learns from observations and adjusts its approach in real time, handling unexpected situations gracefully.</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F97316"/>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How It Works in Practice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640080" y="3447288"/>
            <a:ext cx="201168" cy="201168"/>
          </a:xfrm>
          <a:prstGeom prst="ellipse">
            <a:avLst/>
          </a:prstGeom>
          <a:solidFill>
            <a:srgbClr val="F97316"/>
          </a:solidFill>
          <a:ln/>
        </p:spPr>
      </p:sp>
      <p:sp>
        <p:nvSpPr>
          <p:cNvPr id="15" name="Text 12"/>
          <p:cNvSpPr/>
          <p:nvPr/>
        </p:nvSpPr>
        <p:spPr>
          <a:xfrm>
            <a:off x="640080" y="344728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960120" y="342900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attempts an action and observes the result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640080" y="3767328"/>
            <a:ext cx="201168" cy="201168"/>
          </a:xfrm>
          <a:prstGeom prst="ellipse">
            <a:avLst/>
          </a:prstGeom>
          <a:solidFill>
            <a:srgbClr val="F97316"/>
          </a:solidFill>
          <a:ln/>
        </p:spPr>
      </p:sp>
      <p:sp>
        <p:nvSpPr>
          <p:cNvPr id="18" name="Text 15"/>
          <p:cNvSpPr/>
          <p:nvPr/>
        </p:nvSpPr>
        <p:spPr>
          <a:xfrm>
            <a:off x="640080" y="376732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960120" y="374904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If the result is unexpected, it re-evaluates the situation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640080" y="4087368"/>
            <a:ext cx="201168" cy="201168"/>
          </a:xfrm>
          <a:prstGeom prst="ellipse">
            <a:avLst/>
          </a:prstGeom>
          <a:solidFill>
            <a:srgbClr val="F97316"/>
          </a:solidFill>
          <a:ln/>
        </p:spPr>
      </p:sp>
      <p:sp>
        <p:nvSpPr>
          <p:cNvPr id="21" name="Text 18"/>
          <p:cNvSpPr/>
          <p:nvPr/>
        </p:nvSpPr>
        <p:spPr>
          <a:xfrm>
            <a:off x="640080" y="408736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960120" y="406908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generates alternative approaches on the fly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640080" y="4407408"/>
            <a:ext cx="201168" cy="201168"/>
          </a:xfrm>
          <a:prstGeom prst="ellipse">
            <a:avLst/>
          </a:prstGeom>
          <a:solidFill>
            <a:srgbClr val="F97316"/>
          </a:solidFill>
          <a:ln/>
        </p:spPr>
      </p:sp>
      <p:sp>
        <p:nvSpPr>
          <p:cNvPr id="24" name="Text 21"/>
          <p:cNvSpPr/>
          <p:nvPr/>
        </p:nvSpPr>
        <p:spPr>
          <a:xfrm>
            <a:off x="640080" y="440740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960120" y="438912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picks the most promising alternative and tries again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40080" y="4727448"/>
            <a:ext cx="201168" cy="201168"/>
          </a:xfrm>
          <a:prstGeom prst="ellipse">
            <a:avLst/>
          </a:prstGeom>
          <a:solidFill>
            <a:srgbClr val="F97316"/>
          </a:solidFill>
          <a:ln/>
        </p:spPr>
      </p:sp>
      <p:sp>
        <p:nvSpPr>
          <p:cNvPr id="27" name="Text 24"/>
          <p:cNvSpPr/>
          <p:nvPr/>
        </p:nvSpPr>
        <p:spPr>
          <a:xfrm>
            <a:off x="640080" y="472744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960120" y="470916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accumulates knowledge from failures to avoid repeating them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5303520" y="1097280"/>
            <a:ext cx="3383280" cy="2560320"/>
          </a:xfrm>
          <a:prstGeom prst="rect">
            <a:avLst/>
          </a:prstGeom>
          <a:solidFill>
            <a:srgbClr val="FFEDD5"/>
          </a:solidFill>
          <a:ln/>
          <a:effectLst>
            <a:outerShdw blurRad="50800" dist="25400" dir="8100000" algn="bl" rotWithShape="0">
              <a:srgbClr val="000000">
                <a:alpha val="8000"/>
              </a:srgbClr>
            </a:outerShdw>
          </a:effectLst>
        </p:spPr>
      </p:sp>
      <p:sp>
        <p:nvSpPr>
          <p:cNvPr id="30" name="Shape 27"/>
          <p:cNvSpPr/>
          <p:nvPr/>
        </p:nvSpPr>
        <p:spPr>
          <a:xfrm>
            <a:off x="5303520" y="1097280"/>
            <a:ext cx="3383280" cy="54864"/>
          </a:xfrm>
          <a:prstGeom prst="rect">
            <a:avLst/>
          </a:prstGeom>
          <a:solidFill>
            <a:srgbClr val="F97316"/>
          </a:solidFill>
          <a:ln/>
        </p:spPr>
      </p:sp>
      <p:sp>
        <p:nvSpPr>
          <p:cNvPr id="31" name="Shape 28"/>
          <p:cNvSpPr/>
          <p:nvPr/>
        </p:nvSpPr>
        <p:spPr>
          <a:xfrm>
            <a:off x="5486400" y="1234440"/>
            <a:ext cx="411480" cy="411480"/>
          </a:xfrm>
          <a:prstGeom prst="ellipse">
            <a:avLst/>
          </a:prstGeom>
          <a:solidFill>
            <a:srgbClr val="F97316"/>
          </a:solidFill>
          <a:ln/>
        </p:spPr>
      </p:sp>
      <p:pic>
        <p:nvPicPr>
          <p:cNvPr id="32" name="Image 1" descr="preencoded.png"/>
          <p:cNvPicPr>
            <a:picLocks noChangeAspect="1"/>
          </p:cNvPicPr>
          <p:nvPr/>
        </p:nvPicPr>
        <p:blipFill>
          <a:blip r:embed="rId4"/>
          <a:stretch>
            <a:fillRect/>
          </a:stretch>
        </p:blipFill>
        <p:spPr>
          <a:xfrm>
            <a:off x="5576926" y="1324966"/>
            <a:ext cx="230429" cy="230429"/>
          </a:xfrm>
          <a:prstGeom prst="rect">
            <a:avLst/>
          </a:prstGeom>
        </p:spPr>
      </p:pic>
      <p:sp>
        <p:nvSpPr>
          <p:cNvPr id="33" name="Text 29"/>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97316"/>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0"/>
          <p:cNvSpPr/>
          <p:nvPr/>
        </p:nvSpPr>
        <p:spPr>
          <a:xfrm>
            <a:off x="5486400" y="1645920"/>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Travel Booking Agent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5486400" y="1965960"/>
            <a:ext cx="3017520" cy="1600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Goal: "Book a direct flight to Tokyo under $800."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Attempt 1: Searches flights → No direct flights under $800.</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Adapts: Checks nearby airports (Haneda vs Narita).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Attempt 2: Finds Narita flight at $750 → airline API is down.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Adapts: Switches to alternative booking platform.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Attempt 3: Books successfully on 2nd platform.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Reports: Booked + explains why alternate route was chosen.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2"/>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37" name="Shape 33"/>
          <p:cNvSpPr/>
          <p:nvPr/>
        </p:nvSpPr>
        <p:spPr>
          <a:xfrm>
            <a:off x="5303520" y="3840480"/>
            <a:ext cx="1691640" cy="292608"/>
          </a:xfrm>
          <a:prstGeom prst="rect">
            <a:avLst/>
          </a:prstGeom>
          <a:solidFill>
            <a:srgbClr val="EF4444"/>
          </a:solidFill>
          <a:ln/>
        </p:spPr>
      </p:sp>
      <p:sp>
        <p:nvSpPr>
          <p:cNvPr id="38" name="Text 34"/>
          <p:cNvSpPr/>
          <p:nvPr/>
        </p:nvSpPr>
        <p:spPr>
          <a:xfrm>
            <a:off x="530352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Without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544068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System fails on first error. Returns "No results found." Human must restart the entire search.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6"/>
          <p:cNvSpPr/>
          <p:nvPr/>
        </p:nvSpPr>
        <p:spPr>
          <a:xfrm>
            <a:off x="6995160" y="3840480"/>
            <a:ext cx="1691640" cy="292608"/>
          </a:xfrm>
          <a:prstGeom prst="rect">
            <a:avLst/>
          </a:prstGeom>
          <a:solidFill>
            <a:srgbClr val="10B981"/>
          </a:solidFill>
          <a:ln/>
        </p:spPr>
      </p:sp>
      <p:sp>
        <p:nvSpPr>
          <p:cNvPr id="41" name="Text 37"/>
          <p:cNvSpPr/>
          <p:nvPr/>
        </p:nvSpPr>
        <p:spPr>
          <a:xfrm>
            <a:off x="699516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8"/>
          <p:cNvSpPr/>
          <p:nvPr/>
        </p:nvSpPr>
        <p:spPr>
          <a:xfrm>
            <a:off x="713232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Agent tries 3 alternative strategies, pivots around failures, and still delivers the result.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EC4899"/>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6</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Context Awareness — Remembers, Understands, Personalizes</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234440"/>
            <a:ext cx="548640" cy="548640"/>
          </a:xfrm>
          <a:prstGeom prst="ellipse">
            <a:avLst/>
          </a:prstGeom>
          <a:solidFill>
            <a:srgbClr val="EC4899"/>
          </a:solidFill>
          <a:ln/>
        </p:spPr>
      </p:sp>
      <p:pic>
        <p:nvPicPr>
          <p:cNvPr id="8" name="Image 0" descr="preencoded.png"/>
          <p:cNvPicPr>
            <a:picLocks noChangeAspect="1"/>
          </p:cNvPicPr>
          <p:nvPr/>
        </p:nvPicPr>
        <p:blipFill>
          <a:blip r:embed="rId3"/>
          <a:stretch>
            <a:fillRect/>
          </a:stretch>
        </p:blipFill>
        <p:spPr>
          <a:xfrm>
            <a:off x="760781" y="13551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EC4899"/>
                </a:solidFill>
                <a:effectLst/>
                <a:uLnTx/>
                <a:uFillTx/>
                <a:latin typeface="Trebuchet MS" pitchFamily="34" charset="0"/>
                <a:ea typeface="Trebuchet MS" pitchFamily="34" charset="-122"/>
                <a:cs typeface="Trebuchet MS" pitchFamily="34" charset="-120"/>
              </a:rPr>
              <a:t>What is Context Awareness?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Context awareness means the agent understands the full picture — not just the current request, but the history, preferences, environment, and relationships surrounding it. It uses memory (short-term and long-term) to maintain state across interactions and make decisions informed by the complete context.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EC4899"/>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How It Works in Practice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640080" y="3447288"/>
            <a:ext cx="201168" cy="201168"/>
          </a:xfrm>
          <a:prstGeom prst="ellipse">
            <a:avLst/>
          </a:prstGeom>
          <a:solidFill>
            <a:srgbClr val="EC4899"/>
          </a:solidFill>
          <a:ln/>
        </p:spPr>
      </p:sp>
      <p:sp>
        <p:nvSpPr>
          <p:cNvPr id="15" name="Text 12"/>
          <p:cNvSpPr/>
          <p:nvPr/>
        </p:nvSpPr>
        <p:spPr>
          <a:xfrm>
            <a:off x="640080" y="344728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p:nvPr/>
        </p:nvSpPr>
        <p:spPr>
          <a:xfrm>
            <a:off x="960120" y="342900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maintains short-term memory of the current conversation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640080" y="3767328"/>
            <a:ext cx="201168" cy="201168"/>
          </a:xfrm>
          <a:prstGeom prst="ellipse">
            <a:avLst/>
          </a:prstGeom>
          <a:solidFill>
            <a:srgbClr val="EC4899"/>
          </a:solidFill>
          <a:ln/>
        </p:spPr>
      </p:sp>
      <p:sp>
        <p:nvSpPr>
          <p:cNvPr id="18" name="Text 15"/>
          <p:cNvSpPr/>
          <p:nvPr/>
        </p:nvSpPr>
        <p:spPr>
          <a:xfrm>
            <a:off x="640080" y="376732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p:nvPr/>
        </p:nvSpPr>
        <p:spPr>
          <a:xfrm>
            <a:off x="960120" y="374904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accesses long-term memory for user preferences and history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7"/>
          <p:cNvSpPr/>
          <p:nvPr/>
        </p:nvSpPr>
        <p:spPr>
          <a:xfrm>
            <a:off x="640080" y="4087368"/>
            <a:ext cx="201168" cy="201168"/>
          </a:xfrm>
          <a:prstGeom prst="ellipse">
            <a:avLst/>
          </a:prstGeom>
          <a:solidFill>
            <a:srgbClr val="EC4899"/>
          </a:solidFill>
          <a:ln/>
        </p:spPr>
      </p:sp>
      <p:sp>
        <p:nvSpPr>
          <p:cNvPr id="21" name="Text 18"/>
          <p:cNvSpPr/>
          <p:nvPr/>
        </p:nvSpPr>
        <p:spPr>
          <a:xfrm>
            <a:off x="640080" y="408736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9"/>
          <p:cNvSpPr/>
          <p:nvPr/>
        </p:nvSpPr>
        <p:spPr>
          <a:xfrm>
            <a:off x="960120" y="406908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understands relationships between entities (people, projects, data)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Shape 20"/>
          <p:cNvSpPr/>
          <p:nvPr/>
        </p:nvSpPr>
        <p:spPr>
          <a:xfrm>
            <a:off x="640080" y="4407408"/>
            <a:ext cx="201168" cy="201168"/>
          </a:xfrm>
          <a:prstGeom prst="ellipse">
            <a:avLst/>
          </a:prstGeom>
          <a:solidFill>
            <a:srgbClr val="EC4899"/>
          </a:solidFill>
          <a:ln/>
        </p:spPr>
      </p:sp>
      <p:sp>
        <p:nvSpPr>
          <p:cNvPr id="24" name="Text 21"/>
          <p:cNvSpPr/>
          <p:nvPr/>
        </p:nvSpPr>
        <p:spPr>
          <a:xfrm>
            <a:off x="640080" y="440740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2"/>
          <p:cNvSpPr/>
          <p:nvPr/>
        </p:nvSpPr>
        <p:spPr>
          <a:xfrm>
            <a:off x="960120" y="438912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considers time, location, and situational factors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3"/>
          <p:cNvSpPr/>
          <p:nvPr/>
        </p:nvSpPr>
        <p:spPr>
          <a:xfrm>
            <a:off x="640080" y="4727448"/>
            <a:ext cx="201168" cy="201168"/>
          </a:xfrm>
          <a:prstGeom prst="ellipse">
            <a:avLst/>
          </a:prstGeom>
          <a:solidFill>
            <a:srgbClr val="EC4899"/>
          </a:solidFill>
          <a:ln/>
        </p:spPr>
      </p:sp>
      <p:sp>
        <p:nvSpPr>
          <p:cNvPr id="27" name="Text 24"/>
          <p:cNvSpPr/>
          <p:nvPr/>
        </p:nvSpPr>
        <p:spPr>
          <a:xfrm>
            <a:off x="640080" y="4727448"/>
            <a:ext cx="201168"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5</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p:nvPr/>
        </p:nvSpPr>
        <p:spPr>
          <a:xfrm>
            <a:off x="960120" y="4709160"/>
            <a:ext cx="38862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It personalizes responses based on accumulated context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5303520" y="1097280"/>
            <a:ext cx="3383280" cy="2560320"/>
          </a:xfrm>
          <a:prstGeom prst="rect">
            <a:avLst/>
          </a:prstGeom>
          <a:solidFill>
            <a:srgbClr val="FCE7F3"/>
          </a:solidFill>
          <a:ln/>
          <a:effectLst>
            <a:outerShdw blurRad="50800" dist="25400" dir="8100000" algn="bl" rotWithShape="0">
              <a:srgbClr val="000000">
                <a:alpha val="8000"/>
              </a:srgbClr>
            </a:outerShdw>
          </a:effectLst>
        </p:spPr>
      </p:sp>
      <p:sp>
        <p:nvSpPr>
          <p:cNvPr id="30" name="Shape 27"/>
          <p:cNvSpPr/>
          <p:nvPr/>
        </p:nvSpPr>
        <p:spPr>
          <a:xfrm>
            <a:off x="5303520" y="1097280"/>
            <a:ext cx="3383280" cy="54864"/>
          </a:xfrm>
          <a:prstGeom prst="rect">
            <a:avLst/>
          </a:prstGeom>
          <a:solidFill>
            <a:srgbClr val="EC4899"/>
          </a:solidFill>
          <a:ln/>
        </p:spPr>
      </p:sp>
      <p:sp>
        <p:nvSpPr>
          <p:cNvPr id="31" name="Shape 28"/>
          <p:cNvSpPr/>
          <p:nvPr/>
        </p:nvSpPr>
        <p:spPr>
          <a:xfrm>
            <a:off x="5486400" y="1234440"/>
            <a:ext cx="411480" cy="411480"/>
          </a:xfrm>
          <a:prstGeom prst="ellipse">
            <a:avLst/>
          </a:prstGeom>
          <a:solidFill>
            <a:srgbClr val="EC4899"/>
          </a:solidFill>
          <a:ln/>
        </p:spPr>
      </p:sp>
      <p:pic>
        <p:nvPicPr>
          <p:cNvPr id="32" name="Image 1" descr="preencoded.png"/>
          <p:cNvPicPr>
            <a:picLocks noChangeAspect="1"/>
          </p:cNvPicPr>
          <p:nvPr/>
        </p:nvPicPr>
        <p:blipFill>
          <a:blip r:embed="rId4"/>
          <a:stretch>
            <a:fillRect/>
          </a:stretch>
        </p:blipFill>
        <p:spPr>
          <a:xfrm>
            <a:off x="5576926" y="1324966"/>
            <a:ext cx="230429" cy="230429"/>
          </a:xfrm>
          <a:prstGeom prst="rect">
            <a:avLst/>
          </a:prstGeom>
        </p:spPr>
      </p:pic>
      <p:sp>
        <p:nvSpPr>
          <p:cNvPr id="33" name="Text 29"/>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C4899"/>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0"/>
          <p:cNvSpPr/>
          <p:nvPr/>
        </p:nvSpPr>
        <p:spPr>
          <a:xfrm>
            <a:off x="5486400" y="1645920"/>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HR Assistant Agent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1"/>
          <p:cNvSpPr/>
          <p:nvPr/>
        </p:nvSpPr>
        <p:spPr>
          <a:xfrm>
            <a:off x="5486400" y="1965960"/>
            <a:ext cx="3017520" cy="1600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Employee asks: "Can I take Friday off?"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Context-aware agent knows: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This employee has 12 PTO days remaining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Their team has a deadline next Thursday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Their manager prefers 48hr advance notice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They took a sick day last Monday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Response: "You have enough PTO. Friday works — no team conflicts after Thursday's deadline. I'll send the request to your manager."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2"/>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37" name="Shape 33"/>
          <p:cNvSpPr/>
          <p:nvPr/>
        </p:nvSpPr>
        <p:spPr>
          <a:xfrm>
            <a:off x="5303520" y="3840480"/>
            <a:ext cx="1691640" cy="292608"/>
          </a:xfrm>
          <a:prstGeom prst="rect">
            <a:avLst/>
          </a:prstGeom>
          <a:solidFill>
            <a:srgbClr val="EF4444"/>
          </a:solidFill>
          <a:ln/>
        </p:spPr>
      </p:sp>
      <p:sp>
        <p:nvSpPr>
          <p:cNvPr id="38" name="Text 34"/>
          <p:cNvSpPr/>
          <p:nvPr/>
        </p:nvSpPr>
        <p:spPr>
          <a:xfrm>
            <a:off x="530352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Without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5"/>
          <p:cNvSpPr/>
          <p:nvPr/>
        </p:nvSpPr>
        <p:spPr>
          <a:xfrm>
            <a:off x="544068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EF4444"/>
                </a:solidFill>
                <a:effectLst/>
                <a:uLnTx/>
                <a:uFillTx/>
                <a:latin typeface="Calibri" pitchFamily="34" charset="0"/>
                <a:ea typeface="Calibri" pitchFamily="34" charset="-122"/>
                <a:cs typeface="Calibri" pitchFamily="34" charset="-120"/>
              </a:rPr>
              <a:t>Agent responds generically: "Please check with your manager and submit a PTO request form."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6"/>
          <p:cNvSpPr/>
          <p:nvPr/>
        </p:nvSpPr>
        <p:spPr>
          <a:xfrm>
            <a:off x="6995160" y="3840480"/>
            <a:ext cx="1691640" cy="292608"/>
          </a:xfrm>
          <a:prstGeom prst="rect">
            <a:avLst/>
          </a:prstGeom>
          <a:solidFill>
            <a:srgbClr val="10B981"/>
          </a:solidFill>
          <a:ln/>
        </p:spPr>
      </p:sp>
      <p:sp>
        <p:nvSpPr>
          <p:cNvPr id="41" name="Text 37"/>
          <p:cNvSpPr/>
          <p:nvPr/>
        </p:nvSpPr>
        <p:spPr>
          <a:xfrm>
            <a:off x="6995160" y="3840480"/>
            <a:ext cx="1691640" cy="29260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With This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8"/>
          <p:cNvSpPr/>
          <p:nvPr/>
        </p:nvSpPr>
        <p:spPr>
          <a:xfrm>
            <a:off x="7132320" y="4160520"/>
            <a:ext cx="141732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10B981"/>
                </a:solidFill>
                <a:effectLst/>
                <a:uLnTx/>
                <a:uFillTx/>
                <a:latin typeface="Calibri" pitchFamily="34" charset="0"/>
                <a:ea typeface="Calibri" pitchFamily="34" charset="-122"/>
                <a:cs typeface="Calibri" pitchFamily="34" charset="-120"/>
              </a:rPr>
              <a:t>Agent gives personalized, informed advice considering team schedule, PTO balance, and policies.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The 6 Pillars of Agentic AI — Working Together</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457200" y="1051560"/>
            <a:ext cx="2651760" cy="1783080"/>
          </a:xfrm>
          <a:prstGeom prst="rect">
            <a:avLst/>
          </a:prstGeom>
          <a:solidFill>
            <a:srgbClr val="1E293B"/>
          </a:solidFill>
          <a:ln/>
          <a:effectLst>
            <a:outerShdw blurRad="50800" dist="25400" dir="8100000" algn="bl" rotWithShape="0">
              <a:srgbClr val="000000">
                <a:alpha val="8000"/>
              </a:srgbClr>
            </a:outerShdw>
          </a:effectLst>
        </p:spPr>
      </p:sp>
      <p:sp>
        <p:nvSpPr>
          <p:cNvPr id="5" name="Shape 3"/>
          <p:cNvSpPr/>
          <p:nvPr/>
        </p:nvSpPr>
        <p:spPr>
          <a:xfrm>
            <a:off x="457200" y="1051560"/>
            <a:ext cx="2651760" cy="54864"/>
          </a:xfrm>
          <a:prstGeom prst="rect">
            <a:avLst/>
          </a:prstGeom>
          <a:solidFill>
            <a:srgbClr val="0891B2"/>
          </a:solidFill>
          <a:ln/>
        </p:spPr>
      </p:sp>
      <p:sp>
        <p:nvSpPr>
          <p:cNvPr id="6" name="Shape 4"/>
          <p:cNvSpPr/>
          <p:nvPr/>
        </p:nvSpPr>
        <p:spPr>
          <a:xfrm>
            <a:off x="1325880" y="1234440"/>
            <a:ext cx="640080" cy="640080"/>
          </a:xfrm>
          <a:prstGeom prst="ellipse">
            <a:avLst/>
          </a:prstGeom>
          <a:solidFill>
            <a:srgbClr val="0891B2"/>
          </a:solidFill>
          <a:ln/>
        </p:spPr>
      </p:sp>
      <p:pic>
        <p:nvPicPr>
          <p:cNvPr id="7" name="Image 0" descr="preencoded.png"/>
          <p:cNvPicPr>
            <a:picLocks noChangeAspect="1"/>
          </p:cNvPicPr>
          <p:nvPr/>
        </p:nvPicPr>
        <p:blipFill>
          <a:blip r:embed="rId3"/>
          <a:stretch>
            <a:fillRect/>
          </a:stretch>
        </p:blipFill>
        <p:spPr>
          <a:xfrm>
            <a:off x="1466698" y="1375258"/>
            <a:ext cx="358445" cy="358445"/>
          </a:xfrm>
          <a:prstGeom prst="rect">
            <a:avLst/>
          </a:prstGeom>
        </p:spPr>
      </p:pic>
      <p:sp>
        <p:nvSpPr>
          <p:cNvPr id="8" name="Text 5"/>
          <p:cNvSpPr/>
          <p:nvPr/>
        </p:nvSpPr>
        <p:spPr>
          <a:xfrm>
            <a:off x="457200" y="2011680"/>
            <a:ext cx="265176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Autonomous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594360" y="2331720"/>
            <a:ext cx="23774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Acts independently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without hand-holding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3337560" y="1051560"/>
            <a:ext cx="2651760" cy="1783080"/>
          </a:xfrm>
          <a:prstGeom prst="rect">
            <a:avLst/>
          </a:prstGeom>
          <a:solidFill>
            <a:srgbClr val="1E293B"/>
          </a:solidFill>
          <a:ln/>
          <a:effectLst>
            <a:outerShdw blurRad="50800" dist="25400" dir="8100000" algn="bl" rotWithShape="0">
              <a:srgbClr val="000000">
                <a:alpha val="8000"/>
              </a:srgbClr>
            </a:outerShdw>
          </a:effectLst>
        </p:spPr>
      </p:sp>
      <p:sp>
        <p:nvSpPr>
          <p:cNvPr id="11" name="Shape 8"/>
          <p:cNvSpPr/>
          <p:nvPr/>
        </p:nvSpPr>
        <p:spPr>
          <a:xfrm>
            <a:off x="3337560" y="1051560"/>
            <a:ext cx="2651760" cy="54864"/>
          </a:xfrm>
          <a:prstGeom prst="rect">
            <a:avLst/>
          </a:prstGeom>
          <a:solidFill>
            <a:srgbClr val="F59E0B"/>
          </a:solidFill>
          <a:ln/>
        </p:spPr>
      </p:sp>
      <p:sp>
        <p:nvSpPr>
          <p:cNvPr id="12" name="Shape 9"/>
          <p:cNvSpPr/>
          <p:nvPr/>
        </p:nvSpPr>
        <p:spPr>
          <a:xfrm>
            <a:off x="4206240" y="1234440"/>
            <a:ext cx="640080" cy="640080"/>
          </a:xfrm>
          <a:prstGeom prst="ellipse">
            <a:avLst/>
          </a:prstGeom>
          <a:solidFill>
            <a:srgbClr val="F59E0B"/>
          </a:solidFill>
          <a:ln/>
        </p:spPr>
      </p:sp>
      <p:pic>
        <p:nvPicPr>
          <p:cNvPr id="13" name="Image 1" descr="preencoded.png"/>
          <p:cNvPicPr>
            <a:picLocks noChangeAspect="1"/>
          </p:cNvPicPr>
          <p:nvPr/>
        </p:nvPicPr>
        <p:blipFill>
          <a:blip r:embed="rId4"/>
          <a:stretch>
            <a:fillRect/>
          </a:stretch>
        </p:blipFill>
        <p:spPr>
          <a:xfrm>
            <a:off x="4347058" y="1375258"/>
            <a:ext cx="358445" cy="358445"/>
          </a:xfrm>
          <a:prstGeom prst="rect">
            <a:avLst/>
          </a:prstGeom>
        </p:spPr>
      </p:pic>
      <p:sp>
        <p:nvSpPr>
          <p:cNvPr id="14" name="Text 10"/>
          <p:cNvSpPr/>
          <p:nvPr/>
        </p:nvSpPr>
        <p:spPr>
          <a:xfrm>
            <a:off x="3337560" y="2011680"/>
            <a:ext cx="265176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Goal Oriented</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1"/>
          <p:cNvSpPr/>
          <p:nvPr/>
        </p:nvSpPr>
        <p:spPr>
          <a:xfrm>
            <a:off x="3474720" y="2331720"/>
            <a:ext cx="23774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Driven by objectives,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not rigid scripts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2"/>
          <p:cNvSpPr/>
          <p:nvPr/>
        </p:nvSpPr>
        <p:spPr>
          <a:xfrm>
            <a:off x="6217920" y="1051560"/>
            <a:ext cx="2651760" cy="1783080"/>
          </a:xfrm>
          <a:prstGeom prst="rect">
            <a:avLst/>
          </a:prstGeom>
          <a:solidFill>
            <a:srgbClr val="1E293B"/>
          </a:solidFill>
          <a:ln/>
          <a:effectLst>
            <a:outerShdw blurRad="50800" dist="25400" dir="8100000" algn="bl" rotWithShape="0">
              <a:srgbClr val="000000">
                <a:alpha val="8000"/>
              </a:srgbClr>
            </a:outerShdw>
          </a:effectLst>
        </p:spPr>
      </p:sp>
      <p:sp>
        <p:nvSpPr>
          <p:cNvPr id="17" name="Shape 13"/>
          <p:cNvSpPr/>
          <p:nvPr/>
        </p:nvSpPr>
        <p:spPr>
          <a:xfrm>
            <a:off x="6217920" y="1051560"/>
            <a:ext cx="2651760" cy="54864"/>
          </a:xfrm>
          <a:prstGeom prst="rect">
            <a:avLst/>
          </a:prstGeom>
          <a:solidFill>
            <a:srgbClr val="10B981"/>
          </a:solidFill>
          <a:ln/>
        </p:spPr>
      </p:sp>
      <p:sp>
        <p:nvSpPr>
          <p:cNvPr id="18" name="Shape 14"/>
          <p:cNvSpPr/>
          <p:nvPr/>
        </p:nvSpPr>
        <p:spPr>
          <a:xfrm>
            <a:off x="7086600" y="1234440"/>
            <a:ext cx="640080" cy="640080"/>
          </a:xfrm>
          <a:prstGeom prst="ellipse">
            <a:avLst/>
          </a:prstGeom>
          <a:solidFill>
            <a:srgbClr val="10B981"/>
          </a:solidFill>
          <a:ln/>
        </p:spPr>
      </p:sp>
      <p:pic>
        <p:nvPicPr>
          <p:cNvPr id="19" name="Image 2" descr="preencoded.png"/>
          <p:cNvPicPr>
            <a:picLocks noChangeAspect="1"/>
          </p:cNvPicPr>
          <p:nvPr/>
        </p:nvPicPr>
        <p:blipFill>
          <a:blip r:embed="rId5"/>
          <a:stretch>
            <a:fillRect/>
          </a:stretch>
        </p:blipFill>
        <p:spPr>
          <a:xfrm>
            <a:off x="7227418" y="1375258"/>
            <a:ext cx="358445" cy="358445"/>
          </a:xfrm>
          <a:prstGeom prst="rect">
            <a:avLst/>
          </a:prstGeom>
        </p:spPr>
      </p:pic>
      <p:sp>
        <p:nvSpPr>
          <p:cNvPr id="20" name="Text 15"/>
          <p:cNvSpPr/>
          <p:nvPr/>
        </p:nvSpPr>
        <p:spPr>
          <a:xfrm>
            <a:off x="6217920" y="2011680"/>
            <a:ext cx="265176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Planning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6"/>
          <p:cNvSpPr/>
          <p:nvPr/>
        </p:nvSpPr>
        <p:spPr>
          <a:xfrm>
            <a:off x="6355080" y="2331720"/>
            <a:ext cx="23774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Breaks complex goals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into ordered steps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7"/>
          <p:cNvSpPr/>
          <p:nvPr/>
        </p:nvSpPr>
        <p:spPr>
          <a:xfrm>
            <a:off x="457200" y="3063240"/>
            <a:ext cx="2651760" cy="1783080"/>
          </a:xfrm>
          <a:prstGeom prst="rect">
            <a:avLst/>
          </a:prstGeom>
          <a:solidFill>
            <a:srgbClr val="1E293B"/>
          </a:solidFill>
          <a:ln/>
          <a:effectLst>
            <a:outerShdw blurRad="50800" dist="25400" dir="8100000" algn="bl" rotWithShape="0">
              <a:srgbClr val="000000">
                <a:alpha val="8000"/>
              </a:srgbClr>
            </a:outerShdw>
          </a:effectLst>
        </p:spPr>
      </p:sp>
      <p:sp>
        <p:nvSpPr>
          <p:cNvPr id="23" name="Shape 18"/>
          <p:cNvSpPr/>
          <p:nvPr/>
        </p:nvSpPr>
        <p:spPr>
          <a:xfrm>
            <a:off x="457200" y="3063240"/>
            <a:ext cx="2651760" cy="54864"/>
          </a:xfrm>
          <a:prstGeom prst="rect">
            <a:avLst/>
          </a:prstGeom>
          <a:solidFill>
            <a:srgbClr val="8B5CF6"/>
          </a:solidFill>
          <a:ln/>
        </p:spPr>
      </p:sp>
      <p:sp>
        <p:nvSpPr>
          <p:cNvPr id="24" name="Shape 19"/>
          <p:cNvSpPr/>
          <p:nvPr/>
        </p:nvSpPr>
        <p:spPr>
          <a:xfrm>
            <a:off x="1325880" y="3246120"/>
            <a:ext cx="640080" cy="640080"/>
          </a:xfrm>
          <a:prstGeom prst="ellipse">
            <a:avLst/>
          </a:prstGeom>
          <a:solidFill>
            <a:srgbClr val="8B5CF6"/>
          </a:solidFill>
          <a:ln/>
        </p:spPr>
      </p:sp>
      <p:pic>
        <p:nvPicPr>
          <p:cNvPr id="25" name="Image 3" descr="preencoded.png"/>
          <p:cNvPicPr>
            <a:picLocks noChangeAspect="1"/>
          </p:cNvPicPr>
          <p:nvPr/>
        </p:nvPicPr>
        <p:blipFill>
          <a:blip r:embed="rId6"/>
          <a:stretch>
            <a:fillRect/>
          </a:stretch>
        </p:blipFill>
        <p:spPr>
          <a:xfrm>
            <a:off x="1466698" y="3386938"/>
            <a:ext cx="358445" cy="358445"/>
          </a:xfrm>
          <a:prstGeom prst="rect">
            <a:avLst/>
          </a:prstGeom>
        </p:spPr>
      </p:pic>
      <p:sp>
        <p:nvSpPr>
          <p:cNvPr id="26" name="Text 20"/>
          <p:cNvSpPr/>
          <p:nvPr/>
        </p:nvSpPr>
        <p:spPr>
          <a:xfrm>
            <a:off x="457200" y="4023360"/>
            <a:ext cx="265176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Reasoning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1"/>
          <p:cNvSpPr/>
          <p:nvPr/>
        </p:nvSpPr>
        <p:spPr>
          <a:xfrm>
            <a:off x="594360" y="4343400"/>
            <a:ext cx="23774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Thinks before acting,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explains decisions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2"/>
          <p:cNvSpPr/>
          <p:nvPr/>
        </p:nvSpPr>
        <p:spPr>
          <a:xfrm>
            <a:off x="3337560" y="3063240"/>
            <a:ext cx="2651760" cy="1783080"/>
          </a:xfrm>
          <a:prstGeom prst="rect">
            <a:avLst/>
          </a:prstGeom>
          <a:solidFill>
            <a:srgbClr val="1E293B"/>
          </a:solidFill>
          <a:ln/>
          <a:effectLst>
            <a:outerShdw blurRad="50800" dist="25400" dir="8100000" algn="bl" rotWithShape="0">
              <a:srgbClr val="000000">
                <a:alpha val="8000"/>
              </a:srgbClr>
            </a:outerShdw>
          </a:effectLst>
        </p:spPr>
      </p:sp>
      <p:sp>
        <p:nvSpPr>
          <p:cNvPr id="29" name="Shape 23"/>
          <p:cNvSpPr/>
          <p:nvPr/>
        </p:nvSpPr>
        <p:spPr>
          <a:xfrm>
            <a:off x="3337560" y="3063240"/>
            <a:ext cx="2651760" cy="54864"/>
          </a:xfrm>
          <a:prstGeom prst="rect">
            <a:avLst/>
          </a:prstGeom>
          <a:solidFill>
            <a:srgbClr val="F97316"/>
          </a:solidFill>
          <a:ln/>
        </p:spPr>
      </p:sp>
      <p:sp>
        <p:nvSpPr>
          <p:cNvPr id="30" name="Shape 24"/>
          <p:cNvSpPr/>
          <p:nvPr/>
        </p:nvSpPr>
        <p:spPr>
          <a:xfrm>
            <a:off x="4206240" y="3246120"/>
            <a:ext cx="640080" cy="640080"/>
          </a:xfrm>
          <a:prstGeom prst="ellipse">
            <a:avLst/>
          </a:prstGeom>
          <a:solidFill>
            <a:srgbClr val="F97316"/>
          </a:solidFill>
          <a:ln/>
        </p:spPr>
      </p:sp>
      <p:pic>
        <p:nvPicPr>
          <p:cNvPr id="31" name="Image 4" descr="preencoded.png"/>
          <p:cNvPicPr>
            <a:picLocks noChangeAspect="1"/>
          </p:cNvPicPr>
          <p:nvPr/>
        </p:nvPicPr>
        <p:blipFill>
          <a:blip r:embed="rId7"/>
          <a:stretch>
            <a:fillRect/>
          </a:stretch>
        </p:blipFill>
        <p:spPr>
          <a:xfrm>
            <a:off x="4347058" y="3386938"/>
            <a:ext cx="358445" cy="358445"/>
          </a:xfrm>
          <a:prstGeom prst="rect">
            <a:avLst/>
          </a:prstGeom>
        </p:spPr>
      </p:pic>
      <p:sp>
        <p:nvSpPr>
          <p:cNvPr id="32" name="Text 25"/>
          <p:cNvSpPr/>
          <p:nvPr/>
        </p:nvSpPr>
        <p:spPr>
          <a:xfrm>
            <a:off x="3337560" y="4023360"/>
            <a:ext cx="265176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97316"/>
                </a:solidFill>
                <a:effectLst/>
                <a:uLnTx/>
                <a:uFillTx/>
                <a:latin typeface="Trebuchet MS" pitchFamily="34" charset="0"/>
                <a:ea typeface="Trebuchet MS" pitchFamily="34" charset="-122"/>
                <a:cs typeface="Trebuchet MS" pitchFamily="34" charset="-120"/>
              </a:rPr>
              <a:t>Adaptability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6"/>
          <p:cNvSpPr/>
          <p:nvPr/>
        </p:nvSpPr>
        <p:spPr>
          <a:xfrm>
            <a:off x="3474720" y="4343400"/>
            <a:ext cx="23774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Pivots when plans fail,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tries alternatives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7"/>
          <p:cNvSpPr/>
          <p:nvPr/>
        </p:nvSpPr>
        <p:spPr>
          <a:xfrm>
            <a:off x="6217920" y="3063240"/>
            <a:ext cx="2651760" cy="1783080"/>
          </a:xfrm>
          <a:prstGeom prst="rect">
            <a:avLst/>
          </a:prstGeom>
          <a:solidFill>
            <a:srgbClr val="1E293B"/>
          </a:solidFill>
          <a:ln/>
          <a:effectLst>
            <a:outerShdw blurRad="50800" dist="25400" dir="8100000" algn="bl" rotWithShape="0">
              <a:srgbClr val="000000">
                <a:alpha val="8000"/>
              </a:srgbClr>
            </a:outerShdw>
          </a:effectLst>
        </p:spPr>
      </p:sp>
      <p:sp>
        <p:nvSpPr>
          <p:cNvPr id="35" name="Shape 28"/>
          <p:cNvSpPr/>
          <p:nvPr/>
        </p:nvSpPr>
        <p:spPr>
          <a:xfrm>
            <a:off x="6217920" y="3063240"/>
            <a:ext cx="2651760" cy="54864"/>
          </a:xfrm>
          <a:prstGeom prst="rect">
            <a:avLst/>
          </a:prstGeom>
          <a:solidFill>
            <a:srgbClr val="EC4899"/>
          </a:solidFill>
          <a:ln/>
        </p:spPr>
      </p:sp>
      <p:sp>
        <p:nvSpPr>
          <p:cNvPr id="36" name="Shape 29"/>
          <p:cNvSpPr/>
          <p:nvPr/>
        </p:nvSpPr>
        <p:spPr>
          <a:xfrm>
            <a:off x="7086600" y="3246120"/>
            <a:ext cx="640080" cy="640080"/>
          </a:xfrm>
          <a:prstGeom prst="ellipse">
            <a:avLst/>
          </a:prstGeom>
          <a:solidFill>
            <a:srgbClr val="EC4899"/>
          </a:solidFill>
          <a:ln/>
        </p:spPr>
      </p:sp>
      <p:pic>
        <p:nvPicPr>
          <p:cNvPr id="37" name="Image 5" descr="preencoded.png"/>
          <p:cNvPicPr>
            <a:picLocks noChangeAspect="1"/>
          </p:cNvPicPr>
          <p:nvPr/>
        </p:nvPicPr>
        <p:blipFill>
          <a:blip r:embed="rId8"/>
          <a:stretch>
            <a:fillRect/>
          </a:stretch>
        </p:blipFill>
        <p:spPr>
          <a:xfrm>
            <a:off x="7227418" y="3386938"/>
            <a:ext cx="358445" cy="358445"/>
          </a:xfrm>
          <a:prstGeom prst="rect">
            <a:avLst/>
          </a:prstGeom>
        </p:spPr>
      </p:pic>
      <p:sp>
        <p:nvSpPr>
          <p:cNvPr id="38" name="Text 30"/>
          <p:cNvSpPr/>
          <p:nvPr/>
        </p:nvSpPr>
        <p:spPr>
          <a:xfrm>
            <a:off x="6217920" y="4023360"/>
            <a:ext cx="265176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EC4899"/>
                </a:solidFill>
                <a:effectLst/>
                <a:uLnTx/>
                <a:uFillTx/>
                <a:latin typeface="Trebuchet MS" pitchFamily="34" charset="0"/>
                <a:ea typeface="Trebuchet MS" pitchFamily="34" charset="-122"/>
                <a:cs typeface="Trebuchet MS" pitchFamily="34" charset="-120"/>
              </a:rPr>
              <a:t>Context Aware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1"/>
          <p:cNvSpPr/>
          <p:nvPr/>
        </p:nvSpPr>
        <p:spPr>
          <a:xfrm>
            <a:off x="6355080" y="4343400"/>
            <a:ext cx="23774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Remembers history,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personalizes responses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2"/>
          <p:cNvSpPr/>
          <p:nvPr/>
        </p:nvSpPr>
        <p:spPr>
          <a:xfrm>
            <a:off x="0" y="5070348"/>
            <a:ext cx="9144000" cy="73152"/>
          </a:xfrm>
          <a:prstGeom prst="rect">
            <a:avLst/>
          </a:prstGeom>
          <a:solidFill>
            <a:srgbClr val="0891B2"/>
          </a:solidFill>
          <a:ln/>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Shape 1"/>
          <p:cNvSpPr/>
          <p:nvPr/>
        </p:nvSpPr>
        <p:spPr>
          <a:xfrm>
            <a:off x="0" y="5070348"/>
            <a:ext cx="9144000" cy="73152"/>
          </a:xfrm>
          <a:prstGeom prst="rect">
            <a:avLst/>
          </a:prstGeom>
          <a:solidFill>
            <a:srgbClr val="0891B2"/>
          </a:solidFill>
          <a:ln/>
        </p:spPr>
      </p:sp>
      <p:sp>
        <p:nvSpPr>
          <p:cNvPr id="4" name="Shape 2"/>
          <p:cNvSpPr/>
          <p:nvPr/>
        </p:nvSpPr>
        <p:spPr>
          <a:xfrm>
            <a:off x="3886200" y="365760"/>
            <a:ext cx="1371600" cy="1371600"/>
          </a:xfrm>
          <a:prstGeom prst="ellipse">
            <a:avLst/>
          </a:prstGeom>
          <a:solidFill>
            <a:srgbClr val="0891B2"/>
          </a:solidFill>
          <a:ln/>
        </p:spPr>
      </p:sp>
      <p:pic>
        <p:nvPicPr>
          <p:cNvPr id="5" name="Image 0" descr="preencoded.png"/>
          <p:cNvPicPr>
            <a:picLocks noChangeAspect="1"/>
          </p:cNvPicPr>
          <p:nvPr/>
        </p:nvPicPr>
        <p:blipFill>
          <a:blip r:embed="rId3"/>
          <a:stretch>
            <a:fillRect/>
          </a:stretch>
        </p:blipFill>
        <p:spPr>
          <a:xfrm>
            <a:off x="4187952" y="667512"/>
            <a:ext cx="768096" cy="768096"/>
          </a:xfrm>
          <a:prstGeom prst="rect">
            <a:avLst/>
          </a:prstGeom>
        </p:spPr>
      </p:pic>
      <p:sp>
        <p:nvSpPr>
          <p:cNvPr id="6" name="Text 3"/>
          <p:cNvSpPr/>
          <p:nvPr/>
        </p:nvSpPr>
        <p:spPr>
          <a:xfrm>
            <a:off x="731520" y="1920240"/>
            <a:ext cx="7680960" cy="11887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Components of</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8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Agentic AI</a:t>
            </a:r>
            <a:endParaRPr kumimoji="0" lang="en-US" sz="3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p:nvPr/>
        </p:nvSpPr>
        <p:spPr>
          <a:xfrm>
            <a:off x="731520" y="3291840"/>
            <a:ext cx="7680960"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2D3EE"/>
                </a:solidFill>
                <a:effectLst/>
                <a:uLnTx/>
                <a:uFillTx/>
                <a:latin typeface="Calibri" pitchFamily="34" charset="0"/>
                <a:ea typeface="Calibri" pitchFamily="34" charset="-122"/>
                <a:cs typeface="Calibri" pitchFamily="34" charset="-120"/>
              </a:rPr>
              <a:t>The Building Blocks That Make AI Systems Autonomous</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Shape 5"/>
          <p:cNvSpPr/>
          <p:nvPr/>
        </p:nvSpPr>
        <p:spPr>
          <a:xfrm>
            <a:off x="320040" y="4069080"/>
            <a:ext cx="1600200" cy="502920"/>
          </a:xfrm>
          <a:prstGeom prst="rect">
            <a:avLst/>
          </a:prstGeom>
          <a:solidFill>
            <a:srgbClr val="8B5CF6"/>
          </a:solidFill>
          <a:ln/>
        </p:spPr>
      </p:sp>
      <p:sp>
        <p:nvSpPr>
          <p:cNvPr id="9" name="Text 6"/>
          <p:cNvSpPr/>
          <p:nvPr/>
        </p:nvSpPr>
        <p:spPr>
          <a:xfrm>
            <a:off x="320040" y="406908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Brain (LLM)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2057400" y="4069080"/>
            <a:ext cx="1600200" cy="502920"/>
          </a:xfrm>
          <a:prstGeom prst="rect">
            <a:avLst/>
          </a:prstGeom>
          <a:solidFill>
            <a:srgbClr val="0891B2"/>
          </a:solidFill>
          <a:ln/>
        </p:spPr>
      </p:sp>
      <p:sp>
        <p:nvSpPr>
          <p:cNvPr id="11" name="Text 8"/>
          <p:cNvSpPr/>
          <p:nvPr/>
        </p:nvSpPr>
        <p:spPr>
          <a:xfrm>
            <a:off x="2057400" y="406908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Orchestrator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3794760" y="4069080"/>
            <a:ext cx="1600200" cy="502920"/>
          </a:xfrm>
          <a:prstGeom prst="rect">
            <a:avLst/>
          </a:prstGeom>
          <a:solidFill>
            <a:srgbClr val="F59E0B"/>
          </a:solidFill>
          <a:ln/>
        </p:spPr>
      </p:sp>
      <p:sp>
        <p:nvSpPr>
          <p:cNvPr id="13" name="Text 10"/>
          <p:cNvSpPr/>
          <p:nvPr/>
        </p:nvSpPr>
        <p:spPr>
          <a:xfrm>
            <a:off x="3794760" y="406908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Tools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5532120" y="4069080"/>
            <a:ext cx="1600200" cy="502920"/>
          </a:xfrm>
          <a:prstGeom prst="rect">
            <a:avLst/>
          </a:prstGeom>
          <a:solidFill>
            <a:srgbClr val="10B981"/>
          </a:solidFill>
          <a:ln/>
        </p:spPr>
      </p:sp>
      <p:sp>
        <p:nvSpPr>
          <p:cNvPr id="15" name="Text 12"/>
          <p:cNvSpPr/>
          <p:nvPr/>
        </p:nvSpPr>
        <p:spPr>
          <a:xfrm>
            <a:off x="5532120" y="406908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Memory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7269480" y="4069080"/>
            <a:ext cx="1600200" cy="502920"/>
          </a:xfrm>
          <a:prstGeom prst="rect">
            <a:avLst/>
          </a:prstGeom>
          <a:solidFill>
            <a:srgbClr val="EF4444"/>
          </a:solidFill>
          <a:ln/>
        </p:spPr>
      </p:sp>
      <p:sp>
        <p:nvSpPr>
          <p:cNvPr id="17" name="Text 14"/>
          <p:cNvSpPr/>
          <p:nvPr/>
        </p:nvSpPr>
        <p:spPr>
          <a:xfrm>
            <a:off x="7269480" y="4069080"/>
            <a:ext cx="160020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Supervisor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8B5CF6"/>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1</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The Brain (LLM) — The Reasoning Engine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234440"/>
            <a:ext cx="548640" cy="548640"/>
          </a:xfrm>
          <a:prstGeom prst="ellipse">
            <a:avLst/>
          </a:prstGeom>
          <a:solidFill>
            <a:srgbClr val="8B5CF6"/>
          </a:solidFill>
          <a:ln/>
        </p:spPr>
      </p:sp>
      <p:pic>
        <p:nvPicPr>
          <p:cNvPr id="8" name="Image 0" descr="preencoded.png"/>
          <p:cNvPicPr>
            <a:picLocks noChangeAspect="1"/>
          </p:cNvPicPr>
          <p:nvPr/>
        </p:nvPicPr>
        <p:blipFill>
          <a:blip r:embed="rId3"/>
          <a:stretch>
            <a:fillRect/>
          </a:stretch>
        </p:blipFill>
        <p:spPr>
          <a:xfrm>
            <a:off x="760781" y="13551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What is the Brain?</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The Brain is the Large Language Model (LLM) at the core of every agentic system — GPT-4, Claude, Gemini, or similar. It serves as the reasoning engine that interprets user requests, understands context, generates plans, decides which tools to use, and produces human-readable outputs. Without the Brain, there is no intelligence.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8B5CF6"/>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What the Brain Does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Image 1" descr="preencoded.png"/>
          <p:cNvPicPr>
            <a:picLocks noChangeAspect="1"/>
          </p:cNvPicPr>
          <p:nvPr/>
        </p:nvPicPr>
        <p:blipFill>
          <a:blip r:embed="rId4"/>
          <a:stretch>
            <a:fillRect/>
          </a:stretch>
        </p:blipFill>
        <p:spPr>
          <a:xfrm>
            <a:off x="685800" y="3438144"/>
            <a:ext cx="182880" cy="182880"/>
          </a:xfrm>
          <a:prstGeom prst="rect">
            <a:avLst/>
          </a:prstGeom>
        </p:spPr>
      </p:pic>
      <p:sp>
        <p:nvSpPr>
          <p:cNvPr id="15" name="Text 11"/>
          <p:cNvSpPr/>
          <p:nvPr/>
        </p:nvSpPr>
        <p:spPr>
          <a:xfrm>
            <a:off x="960120" y="342900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Interprets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2331720" y="3429000"/>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Understands natural language inputs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685800" y="3721608"/>
            <a:ext cx="182880" cy="182880"/>
          </a:xfrm>
          <a:prstGeom prst="rect">
            <a:avLst/>
          </a:prstGeom>
        </p:spPr>
      </p:pic>
      <p:sp>
        <p:nvSpPr>
          <p:cNvPr id="18" name="Text 13"/>
          <p:cNvSpPr/>
          <p:nvPr/>
        </p:nvSpPr>
        <p:spPr>
          <a:xfrm>
            <a:off x="960120" y="3712464"/>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Reasons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2331720" y="3712464"/>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Analyzes context, draws logical conclusions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Image 3" descr="preencoded.png"/>
          <p:cNvPicPr>
            <a:picLocks noChangeAspect="1"/>
          </p:cNvPicPr>
          <p:nvPr/>
        </p:nvPicPr>
        <p:blipFill>
          <a:blip r:embed="rId6"/>
          <a:stretch>
            <a:fillRect/>
          </a:stretch>
        </p:blipFill>
        <p:spPr>
          <a:xfrm>
            <a:off x="685800" y="4005072"/>
            <a:ext cx="182880" cy="182880"/>
          </a:xfrm>
          <a:prstGeom prst="rect">
            <a:avLst/>
          </a:prstGeom>
        </p:spPr>
      </p:pic>
      <p:sp>
        <p:nvSpPr>
          <p:cNvPr id="21" name="Text 15"/>
          <p:cNvSpPr/>
          <p:nvPr/>
        </p:nvSpPr>
        <p:spPr>
          <a:xfrm>
            <a:off x="960120" y="3995928"/>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Plans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6"/>
          <p:cNvSpPr/>
          <p:nvPr/>
        </p:nvSpPr>
        <p:spPr>
          <a:xfrm>
            <a:off x="2331720" y="3995928"/>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Breaks goals into sub-tasks &amp; sequences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Image 4" descr="preencoded.png"/>
          <p:cNvPicPr>
            <a:picLocks noChangeAspect="1"/>
          </p:cNvPicPr>
          <p:nvPr/>
        </p:nvPicPr>
        <p:blipFill>
          <a:blip r:embed="rId7"/>
          <a:stretch>
            <a:fillRect/>
          </a:stretch>
        </p:blipFill>
        <p:spPr>
          <a:xfrm>
            <a:off x="685800" y="4288536"/>
            <a:ext cx="182880" cy="182880"/>
          </a:xfrm>
          <a:prstGeom prst="rect">
            <a:avLst/>
          </a:prstGeom>
        </p:spPr>
      </p:pic>
      <p:sp>
        <p:nvSpPr>
          <p:cNvPr id="24" name="Text 17"/>
          <p:cNvSpPr/>
          <p:nvPr/>
        </p:nvSpPr>
        <p:spPr>
          <a:xfrm>
            <a:off x="960120" y="4279392"/>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Decides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8"/>
          <p:cNvSpPr/>
          <p:nvPr/>
        </p:nvSpPr>
        <p:spPr>
          <a:xfrm>
            <a:off x="2331720" y="4279392"/>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Selects which tool to invoke and when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6" name="Image 5" descr="preencoded.png"/>
          <p:cNvPicPr>
            <a:picLocks noChangeAspect="1"/>
          </p:cNvPicPr>
          <p:nvPr/>
        </p:nvPicPr>
        <p:blipFill>
          <a:blip r:embed="rId8"/>
          <a:stretch>
            <a:fillRect/>
          </a:stretch>
        </p:blipFill>
        <p:spPr>
          <a:xfrm>
            <a:off x="685800" y="4572000"/>
            <a:ext cx="182880" cy="182880"/>
          </a:xfrm>
          <a:prstGeom prst="rect">
            <a:avLst/>
          </a:prstGeom>
        </p:spPr>
      </p:pic>
      <p:sp>
        <p:nvSpPr>
          <p:cNvPr id="27" name="Text 19"/>
          <p:cNvSpPr/>
          <p:nvPr/>
        </p:nvSpPr>
        <p:spPr>
          <a:xfrm>
            <a:off x="960120" y="4562856"/>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Generates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0"/>
          <p:cNvSpPr/>
          <p:nvPr/>
        </p:nvSpPr>
        <p:spPr>
          <a:xfrm>
            <a:off x="2331720" y="4562856"/>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Produces text, code, structured outputs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 name="Image 6" descr="preencoded.png"/>
          <p:cNvPicPr>
            <a:picLocks noChangeAspect="1"/>
          </p:cNvPicPr>
          <p:nvPr/>
        </p:nvPicPr>
        <p:blipFill>
          <a:blip r:embed="rId9"/>
          <a:stretch>
            <a:fillRect/>
          </a:stretch>
        </p:blipFill>
        <p:spPr>
          <a:xfrm>
            <a:off x="685800" y="4855464"/>
            <a:ext cx="182880" cy="182880"/>
          </a:xfrm>
          <a:prstGeom prst="rect">
            <a:avLst/>
          </a:prstGeom>
        </p:spPr>
      </p:pic>
      <p:sp>
        <p:nvSpPr>
          <p:cNvPr id="30" name="Text 21"/>
          <p:cNvSpPr/>
          <p:nvPr/>
        </p:nvSpPr>
        <p:spPr>
          <a:xfrm>
            <a:off x="960120" y="484632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Reflects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2"/>
          <p:cNvSpPr/>
          <p:nvPr/>
        </p:nvSpPr>
        <p:spPr>
          <a:xfrm>
            <a:off x="2331720" y="4846320"/>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Evaluates results, re-plans if needed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3"/>
          <p:cNvSpPr/>
          <p:nvPr/>
        </p:nvSpPr>
        <p:spPr>
          <a:xfrm>
            <a:off x="5303520" y="1097280"/>
            <a:ext cx="3383280" cy="2560320"/>
          </a:xfrm>
          <a:prstGeom prst="rect">
            <a:avLst/>
          </a:prstGeom>
          <a:solidFill>
            <a:srgbClr val="EDE9FE"/>
          </a:solidFill>
          <a:ln/>
          <a:effectLst>
            <a:outerShdw blurRad="50800" dist="25400" dir="8100000" algn="bl" rotWithShape="0">
              <a:srgbClr val="000000">
                <a:alpha val="8000"/>
              </a:srgbClr>
            </a:outerShdw>
          </a:effectLst>
        </p:spPr>
      </p:sp>
      <p:sp>
        <p:nvSpPr>
          <p:cNvPr id="33" name="Shape 24"/>
          <p:cNvSpPr/>
          <p:nvPr/>
        </p:nvSpPr>
        <p:spPr>
          <a:xfrm>
            <a:off x="5303520" y="1097280"/>
            <a:ext cx="3383280" cy="54864"/>
          </a:xfrm>
          <a:prstGeom prst="rect">
            <a:avLst/>
          </a:prstGeom>
          <a:solidFill>
            <a:srgbClr val="8B5CF6"/>
          </a:solidFill>
          <a:ln/>
        </p:spPr>
      </p:sp>
      <p:sp>
        <p:nvSpPr>
          <p:cNvPr id="34" name="Shape 25"/>
          <p:cNvSpPr/>
          <p:nvPr/>
        </p:nvSpPr>
        <p:spPr>
          <a:xfrm>
            <a:off x="5486400" y="1234440"/>
            <a:ext cx="411480" cy="411480"/>
          </a:xfrm>
          <a:prstGeom prst="ellipse">
            <a:avLst/>
          </a:prstGeom>
          <a:solidFill>
            <a:srgbClr val="8B5CF6"/>
          </a:solidFill>
          <a:ln/>
        </p:spPr>
      </p:sp>
      <p:pic>
        <p:nvPicPr>
          <p:cNvPr id="35" name="Image 7" descr="preencoded.png"/>
          <p:cNvPicPr>
            <a:picLocks noChangeAspect="1"/>
          </p:cNvPicPr>
          <p:nvPr/>
        </p:nvPicPr>
        <p:blipFill>
          <a:blip r:embed="rId10"/>
          <a:stretch>
            <a:fillRect/>
          </a:stretch>
        </p:blipFill>
        <p:spPr>
          <a:xfrm>
            <a:off x="5576926" y="1324966"/>
            <a:ext cx="230429" cy="230429"/>
          </a:xfrm>
          <a:prstGeom prst="rect">
            <a:avLst/>
          </a:prstGeom>
        </p:spPr>
      </p:pic>
      <p:sp>
        <p:nvSpPr>
          <p:cNvPr id="36" name="Text 26"/>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7"/>
          <p:cNvSpPr/>
          <p:nvPr/>
        </p:nvSpPr>
        <p:spPr>
          <a:xfrm>
            <a:off x="5486400" y="1645920"/>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Debugging Workflow</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8"/>
          <p:cNvSpPr/>
          <p:nvPr/>
        </p:nvSpPr>
        <p:spPr>
          <a:xfrm>
            <a:off x="5486400" y="1920240"/>
            <a:ext cx="3017520" cy="1645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User: "My app crashes on login."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The Brain (LLM) processes this: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Interprets: Login crash = likely auth or DB issue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Reasons: Need to check error logs first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Decides: Call the log_search tool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Evaluates: Logs show null pointer on user object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Decides: Check the database query tool next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Generates: "Found the bug — the user lookup query returns null for new OAuth users. Here's the fix..."</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29"/>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40" name="Shape 30"/>
          <p:cNvSpPr/>
          <p:nvPr/>
        </p:nvSpPr>
        <p:spPr>
          <a:xfrm>
            <a:off x="5303520" y="3840480"/>
            <a:ext cx="3383280" cy="54864"/>
          </a:xfrm>
          <a:prstGeom prst="rect">
            <a:avLst/>
          </a:prstGeom>
          <a:solidFill>
            <a:srgbClr val="8B5CF6"/>
          </a:solidFill>
          <a:ln/>
        </p:spPr>
      </p:sp>
      <p:sp>
        <p:nvSpPr>
          <p:cNvPr id="41" name="Text 31"/>
          <p:cNvSpPr/>
          <p:nvPr/>
        </p:nvSpPr>
        <p:spPr>
          <a:xfrm>
            <a:off x="5486400" y="3931920"/>
            <a:ext cx="301752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In LangChain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2"/>
          <p:cNvSpPr/>
          <p:nvPr/>
        </p:nvSpPr>
        <p:spPr>
          <a:xfrm>
            <a:off x="5486400" y="4206240"/>
            <a:ext cx="1463040" cy="182880"/>
          </a:xfrm>
          <a:prstGeom prst="rect">
            <a:avLst/>
          </a:prstGeom>
          <a:solidFill>
            <a:srgbClr val="0F172A"/>
          </a:solidFill>
          <a:ln/>
        </p:spPr>
      </p:sp>
      <p:sp>
        <p:nvSpPr>
          <p:cNvPr id="43" name="Text 33"/>
          <p:cNvSpPr/>
          <p:nvPr/>
        </p:nvSpPr>
        <p:spPr>
          <a:xfrm>
            <a:off x="5486400" y="4206240"/>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ChatOpenAI</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34"/>
          <p:cNvSpPr/>
          <p:nvPr/>
        </p:nvSpPr>
        <p:spPr>
          <a:xfrm>
            <a:off x="7040880" y="4206240"/>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GPT-4 / GPT-4o</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35"/>
          <p:cNvSpPr/>
          <p:nvPr/>
        </p:nvSpPr>
        <p:spPr>
          <a:xfrm>
            <a:off x="5486400" y="4416552"/>
            <a:ext cx="1463040" cy="182880"/>
          </a:xfrm>
          <a:prstGeom prst="rect">
            <a:avLst/>
          </a:prstGeom>
          <a:solidFill>
            <a:srgbClr val="0F172A"/>
          </a:solidFill>
          <a:ln/>
        </p:spPr>
      </p:sp>
      <p:sp>
        <p:nvSpPr>
          <p:cNvPr id="46" name="Text 36"/>
          <p:cNvSpPr/>
          <p:nvPr/>
        </p:nvSpPr>
        <p:spPr>
          <a:xfrm>
            <a:off x="5486400" y="4416552"/>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ChatAnthropic</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37"/>
          <p:cNvSpPr/>
          <p:nvPr/>
        </p:nvSpPr>
        <p:spPr>
          <a:xfrm>
            <a:off x="7040880" y="4416552"/>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Claude 3.5 / Claude 4</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38"/>
          <p:cNvSpPr/>
          <p:nvPr/>
        </p:nvSpPr>
        <p:spPr>
          <a:xfrm>
            <a:off x="5486400" y="4626864"/>
            <a:ext cx="1463040" cy="182880"/>
          </a:xfrm>
          <a:prstGeom prst="rect">
            <a:avLst/>
          </a:prstGeom>
          <a:solidFill>
            <a:srgbClr val="0F172A"/>
          </a:solidFill>
          <a:ln/>
        </p:spPr>
      </p:sp>
      <p:sp>
        <p:nvSpPr>
          <p:cNvPr id="49" name="Text 39"/>
          <p:cNvSpPr/>
          <p:nvPr/>
        </p:nvSpPr>
        <p:spPr>
          <a:xfrm>
            <a:off x="5486400" y="4626864"/>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ChatGoogleAI</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0"/>
          <p:cNvSpPr/>
          <p:nvPr/>
        </p:nvSpPr>
        <p:spPr>
          <a:xfrm>
            <a:off x="7040880" y="4626864"/>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Gemini Pro / Ultra</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0891B2"/>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2</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The Orchestrator — The Conductor of the System</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234440"/>
            <a:ext cx="548640" cy="548640"/>
          </a:xfrm>
          <a:prstGeom prst="ellipse">
            <a:avLst/>
          </a:prstGeom>
          <a:solidFill>
            <a:srgbClr val="0891B2"/>
          </a:solidFill>
          <a:ln/>
        </p:spPr>
      </p:sp>
      <p:pic>
        <p:nvPicPr>
          <p:cNvPr id="8" name="Image 0" descr="preencoded.png"/>
          <p:cNvPicPr>
            <a:picLocks noChangeAspect="1"/>
          </p:cNvPicPr>
          <p:nvPr/>
        </p:nvPicPr>
        <p:blipFill>
          <a:blip r:embed="rId3"/>
          <a:stretch>
            <a:fillRect/>
          </a:stretch>
        </p:blipFill>
        <p:spPr>
          <a:xfrm>
            <a:off x="760781" y="13551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What is the Orchestrator?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The Orchestrator is the execution engine that manages the agent loop. It takes the Brain's decisions and coordinates everything: sending prompts to the LLM, parsing tool call requests, executing those tools, feeding results back, and repeating until the goal is achieved. Think of it as the project manager that keeps everything moving in the right order.</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0891B2"/>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What the Orchestrator Does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Image 1" descr="preencoded.png"/>
          <p:cNvPicPr>
            <a:picLocks noChangeAspect="1"/>
          </p:cNvPicPr>
          <p:nvPr/>
        </p:nvPicPr>
        <p:blipFill>
          <a:blip r:embed="rId4"/>
          <a:stretch>
            <a:fillRect/>
          </a:stretch>
        </p:blipFill>
        <p:spPr>
          <a:xfrm>
            <a:off x="685800" y="3438144"/>
            <a:ext cx="182880" cy="182880"/>
          </a:xfrm>
          <a:prstGeom prst="rect">
            <a:avLst/>
          </a:prstGeom>
        </p:spPr>
      </p:pic>
      <p:sp>
        <p:nvSpPr>
          <p:cNvPr id="15" name="Text 11"/>
          <p:cNvSpPr/>
          <p:nvPr/>
        </p:nvSpPr>
        <p:spPr>
          <a:xfrm>
            <a:off x="960120" y="342900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Loops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2331720" y="3429000"/>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Runs the Perceive→Reason→Act→Observe cycle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685800" y="3721608"/>
            <a:ext cx="182880" cy="182880"/>
          </a:xfrm>
          <a:prstGeom prst="rect">
            <a:avLst/>
          </a:prstGeom>
        </p:spPr>
      </p:pic>
      <p:sp>
        <p:nvSpPr>
          <p:cNvPr id="18" name="Text 13"/>
          <p:cNvSpPr/>
          <p:nvPr/>
        </p:nvSpPr>
        <p:spPr>
          <a:xfrm>
            <a:off x="960120" y="3712464"/>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Dispatches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2331720" y="3712464"/>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Routes LLM tool requests to actual tools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Image 3" descr="preencoded.png"/>
          <p:cNvPicPr>
            <a:picLocks noChangeAspect="1"/>
          </p:cNvPicPr>
          <p:nvPr/>
        </p:nvPicPr>
        <p:blipFill>
          <a:blip r:embed="rId6"/>
          <a:stretch>
            <a:fillRect/>
          </a:stretch>
        </p:blipFill>
        <p:spPr>
          <a:xfrm>
            <a:off x="685800" y="4005072"/>
            <a:ext cx="182880" cy="182880"/>
          </a:xfrm>
          <a:prstGeom prst="rect">
            <a:avLst/>
          </a:prstGeom>
        </p:spPr>
      </p:pic>
      <p:sp>
        <p:nvSpPr>
          <p:cNvPr id="21" name="Text 15"/>
          <p:cNvSpPr/>
          <p:nvPr/>
        </p:nvSpPr>
        <p:spPr>
          <a:xfrm>
            <a:off x="960120" y="3995928"/>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Parses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6"/>
          <p:cNvSpPr/>
          <p:nvPr/>
        </p:nvSpPr>
        <p:spPr>
          <a:xfrm>
            <a:off x="2331720" y="3995928"/>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Extracts structured tool calls from LLM output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Image 4" descr="preencoded.png"/>
          <p:cNvPicPr>
            <a:picLocks noChangeAspect="1"/>
          </p:cNvPicPr>
          <p:nvPr/>
        </p:nvPicPr>
        <p:blipFill>
          <a:blip r:embed="rId7"/>
          <a:stretch>
            <a:fillRect/>
          </a:stretch>
        </p:blipFill>
        <p:spPr>
          <a:xfrm>
            <a:off x="685800" y="4288536"/>
            <a:ext cx="182880" cy="182880"/>
          </a:xfrm>
          <a:prstGeom prst="rect">
            <a:avLst/>
          </a:prstGeom>
        </p:spPr>
      </p:pic>
      <p:sp>
        <p:nvSpPr>
          <p:cNvPr id="24" name="Text 17"/>
          <p:cNvSpPr/>
          <p:nvPr/>
        </p:nvSpPr>
        <p:spPr>
          <a:xfrm>
            <a:off x="960120" y="4279392"/>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Manages State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8"/>
          <p:cNvSpPr/>
          <p:nvPr/>
        </p:nvSpPr>
        <p:spPr>
          <a:xfrm>
            <a:off x="2331720" y="4279392"/>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Tracks conversation history and tool results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6" name="Image 5" descr="preencoded.png"/>
          <p:cNvPicPr>
            <a:picLocks noChangeAspect="1"/>
          </p:cNvPicPr>
          <p:nvPr/>
        </p:nvPicPr>
        <p:blipFill>
          <a:blip r:embed="rId8"/>
          <a:stretch>
            <a:fillRect/>
          </a:stretch>
        </p:blipFill>
        <p:spPr>
          <a:xfrm>
            <a:off x="685800" y="4572000"/>
            <a:ext cx="182880" cy="182880"/>
          </a:xfrm>
          <a:prstGeom prst="rect">
            <a:avLst/>
          </a:prstGeom>
        </p:spPr>
      </p:pic>
      <p:sp>
        <p:nvSpPr>
          <p:cNvPr id="27" name="Text 19"/>
          <p:cNvSpPr/>
          <p:nvPr/>
        </p:nvSpPr>
        <p:spPr>
          <a:xfrm>
            <a:off x="960120" y="4562856"/>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Enforces Limits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0"/>
          <p:cNvSpPr/>
          <p:nvPr/>
        </p:nvSpPr>
        <p:spPr>
          <a:xfrm>
            <a:off x="2331720" y="4562856"/>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Controls max iterations, timeouts, budgets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 name="Image 6" descr="preencoded.png"/>
          <p:cNvPicPr>
            <a:picLocks noChangeAspect="1"/>
          </p:cNvPicPr>
          <p:nvPr/>
        </p:nvPicPr>
        <p:blipFill>
          <a:blip r:embed="rId9"/>
          <a:stretch>
            <a:fillRect/>
          </a:stretch>
        </p:blipFill>
        <p:spPr>
          <a:xfrm>
            <a:off x="685800" y="4855464"/>
            <a:ext cx="182880" cy="182880"/>
          </a:xfrm>
          <a:prstGeom prst="rect">
            <a:avLst/>
          </a:prstGeom>
        </p:spPr>
      </p:pic>
      <p:sp>
        <p:nvSpPr>
          <p:cNvPr id="30" name="Text 21"/>
          <p:cNvSpPr/>
          <p:nvPr/>
        </p:nvSpPr>
        <p:spPr>
          <a:xfrm>
            <a:off x="960120" y="484632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Handles Errors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2"/>
          <p:cNvSpPr/>
          <p:nvPr/>
        </p:nvSpPr>
        <p:spPr>
          <a:xfrm>
            <a:off x="2331720" y="4846320"/>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Catches tool failures, retries or re-routes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3"/>
          <p:cNvSpPr/>
          <p:nvPr/>
        </p:nvSpPr>
        <p:spPr>
          <a:xfrm>
            <a:off x="5303520" y="1097280"/>
            <a:ext cx="3383280" cy="2560320"/>
          </a:xfrm>
          <a:prstGeom prst="rect">
            <a:avLst/>
          </a:prstGeom>
          <a:solidFill>
            <a:srgbClr val="DBEAFE"/>
          </a:solidFill>
          <a:ln/>
          <a:effectLst>
            <a:outerShdw blurRad="50800" dist="25400" dir="8100000" algn="bl" rotWithShape="0">
              <a:srgbClr val="000000">
                <a:alpha val="8000"/>
              </a:srgbClr>
            </a:outerShdw>
          </a:effectLst>
        </p:spPr>
      </p:sp>
      <p:sp>
        <p:nvSpPr>
          <p:cNvPr id="33" name="Shape 24"/>
          <p:cNvSpPr/>
          <p:nvPr/>
        </p:nvSpPr>
        <p:spPr>
          <a:xfrm>
            <a:off x="5303520" y="1097280"/>
            <a:ext cx="3383280" cy="54864"/>
          </a:xfrm>
          <a:prstGeom prst="rect">
            <a:avLst/>
          </a:prstGeom>
          <a:solidFill>
            <a:srgbClr val="0891B2"/>
          </a:solidFill>
          <a:ln/>
        </p:spPr>
      </p:sp>
      <p:sp>
        <p:nvSpPr>
          <p:cNvPr id="34" name="Shape 25"/>
          <p:cNvSpPr/>
          <p:nvPr/>
        </p:nvSpPr>
        <p:spPr>
          <a:xfrm>
            <a:off x="5486400" y="1234440"/>
            <a:ext cx="411480" cy="411480"/>
          </a:xfrm>
          <a:prstGeom prst="ellipse">
            <a:avLst/>
          </a:prstGeom>
          <a:solidFill>
            <a:srgbClr val="0891B2"/>
          </a:solidFill>
          <a:ln/>
        </p:spPr>
      </p:sp>
      <p:pic>
        <p:nvPicPr>
          <p:cNvPr id="35" name="Image 7" descr="preencoded.png"/>
          <p:cNvPicPr>
            <a:picLocks noChangeAspect="1"/>
          </p:cNvPicPr>
          <p:nvPr/>
        </p:nvPicPr>
        <p:blipFill>
          <a:blip r:embed="rId10"/>
          <a:stretch>
            <a:fillRect/>
          </a:stretch>
        </p:blipFill>
        <p:spPr>
          <a:xfrm>
            <a:off x="5576926" y="1324966"/>
            <a:ext cx="230429" cy="230429"/>
          </a:xfrm>
          <a:prstGeom prst="rect">
            <a:avLst/>
          </a:prstGeom>
        </p:spPr>
      </p:pic>
      <p:sp>
        <p:nvSpPr>
          <p:cNvPr id="36" name="Text 26"/>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7"/>
          <p:cNvSpPr/>
          <p:nvPr/>
        </p:nvSpPr>
        <p:spPr>
          <a:xfrm>
            <a:off x="5486400" y="1645920"/>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Multi-Step Research Task</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8"/>
          <p:cNvSpPr/>
          <p:nvPr/>
        </p:nvSpPr>
        <p:spPr>
          <a:xfrm>
            <a:off x="5486400" y="1920240"/>
            <a:ext cx="3017520" cy="1645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User: "Compare AWS vs Azure pricing for our workload."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Orchestrator manages the loop:</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Iteration 1: LLM → calls web_search("AWS pricing")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Iteration 2: LLM → calls web_search("Azure pricing")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Iteration 3: LLM → calls calculator(cost comparison)</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Iteration 4: LLM → generates comparison report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Orchestrator: Max 15 iterations set, used 4. Returns final report with tool audit log.</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29"/>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40" name="Shape 30"/>
          <p:cNvSpPr/>
          <p:nvPr/>
        </p:nvSpPr>
        <p:spPr>
          <a:xfrm>
            <a:off x="5303520" y="3840480"/>
            <a:ext cx="3383280" cy="54864"/>
          </a:xfrm>
          <a:prstGeom prst="rect">
            <a:avLst/>
          </a:prstGeom>
          <a:solidFill>
            <a:srgbClr val="0891B2"/>
          </a:solidFill>
          <a:ln/>
        </p:spPr>
      </p:sp>
      <p:sp>
        <p:nvSpPr>
          <p:cNvPr id="41" name="Text 31"/>
          <p:cNvSpPr/>
          <p:nvPr/>
        </p:nvSpPr>
        <p:spPr>
          <a:xfrm>
            <a:off x="5486400" y="3931920"/>
            <a:ext cx="301752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In LangChain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2"/>
          <p:cNvSpPr/>
          <p:nvPr/>
        </p:nvSpPr>
        <p:spPr>
          <a:xfrm>
            <a:off x="5486400" y="4206240"/>
            <a:ext cx="1463040" cy="182880"/>
          </a:xfrm>
          <a:prstGeom prst="rect">
            <a:avLst/>
          </a:prstGeom>
          <a:solidFill>
            <a:srgbClr val="0F172A"/>
          </a:solidFill>
          <a:ln/>
        </p:spPr>
      </p:sp>
      <p:sp>
        <p:nvSpPr>
          <p:cNvPr id="43" name="Text 33"/>
          <p:cNvSpPr/>
          <p:nvPr/>
        </p:nvSpPr>
        <p:spPr>
          <a:xfrm>
            <a:off x="5486400" y="4206240"/>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AgentExecutor</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34"/>
          <p:cNvSpPr/>
          <p:nvPr/>
        </p:nvSpPr>
        <p:spPr>
          <a:xfrm>
            <a:off x="7040880" y="4206240"/>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Standard agent loop</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35"/>
          <p:cNvSpPr/>
          <p:nvPr/>
        </p:nvSpPr>
        <p:spPr>
          <a:xfrm>
            <a:off x="5486400" y="4416552"/>
            <a:ext cx="1463040" cy="182880"/>
          </a:xfrm>
          <a:prstGeom prst="rect">
            <a:avLst/>
          </a:prstGeom>
          <a:solidFill>
            <a:srgbClr val="0F172A"/>
          </a:solidFill>
          <a:ln/>
        </p:spPr>
      </p:sp>
      <p:sp>
        <p:nvSpPr>
          <p:cNvPr id="46" name="Text 36"/>
          <p:cNvSpPr/>
          <p:nvPr/>
        </p:nvSpPr>
        <p:spPr>
          <a:xfrm>
            <a:off x="5486400" y="4416552"/>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LangGraph</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37"/>
          <p:cNvSpPr/>
          <p:nvPr/>
        </p:nvSpPr>
        <p:spPr>
          <a:xfrm>
            <a:off x="7040880" y="4416552"/>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Stateful graph workflows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38"/>
          <p:cNvSpPr/>
          <p:nvPr/>
        </p:nvSpPr>
        <p:spPr>
          <a:xfrm>
            <a:off x="5486400" y="4626864"/>
            <a:ext cx="1463040" cy="182880"/>
          </a:xfrm>
          <a:prstGeom prst="rect">
            <a:avLst/>
          </a:prstGeom>
          <a:solidFill>
            <a:srgbClr val="0F172A"/>
          </a:solidFill>
          <a:ln/>
        </p:spPr>
      </p:sp>
      <p:sp>
        <p:nvSpPr>
          <p:cNvPr id="49" name="Text 39"/>
          <p:cNvSpPr/>
          <p:nvPr/>
        </p:nvSpPr>
        <p:spPr>
          <a:xfrm>
            <a:off x="5486400" y="4626864"/>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create_react_agent</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0"/>
          <p:cNvSpPr/>
          <p:nvPr/>
        </p:nvSpPr>
        <p:spPr>
          <a:xfrm>
            <a:off x="7040880" y="4626864"/>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ReAct pattern setup</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F59E0B"/>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3</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Tools — The Hands That Interact with the World</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234440"/>
            <a:ext cx="548640" cy="548640"/>
          </a:xfrm>
          <a:prstGeom prst="ellipse">
            <a:avLst/>
          </a:prstGeom>
          <a:solidFill>
            <a:srgbClr val="F59E0B"/>
          </a:solidFill>
          <a:ln/>
        </p:spPr>
      </p:sp>
      <p:pic>
        <p:nvPicPr>
          <p:cNvPr id="8" name="Image 0" descr="preencoded.png"/>
          <p:cNvPicPr>
            <a:picLocks noChangeAspect="1"/>
          </p:cNvPicPr>
          <p:nvPr/>
        </p:nvPicPr>
        <p:blipFill>
          <a:blip r:embed="rId3"/>
          <a:stretch>
            <a:fillRect/>
          </a:stretch>
        </p:blipFill>
        <p:spPr>
          <a:xfrm>
            <a:off x="760781" y="13551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What are Tools?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Tools are the agent's connection to the real world. They are executable functions that the agent can invoke to perform actions beyond text generation — searching the web, querying databases, sending emails, executing code, calling APIs, reading files, and more. Without tools, the agent is a brain in a jar — intelligent but powerless to act.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F59E0B"/>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Types of Tools Available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Image 1" descr="preencoded.png"/>
          <p:cNvPicPr>
            <a:picLocks noChangeAspect="1"/>
          </p:cNvPicPr>
          <p:nvPr/>
        </p:nvPicPr>
        <p:blipFill>
          <a:blip r:embed="rId4"/>
          <a:stretch>
            <a:fillRect/>
          </a:stretch>
        </p:blipFill>
        <p:spPr>
          <a:xfrm>
            <a:off x="685800" y="3438144"/>
            <a:ext cx="182880" cy="182880"/>
          </a:xfrm>
          <a:prstGeom prst="rect">
            <a:avLst/>
          </a:prstGeom>
        </p:spPr>
      </p:pic>
      <p:sp>
        <p:nvSpPr>
          <p:cNvPr id="15" name="Text 11"/>
          <p:cNvSpPr/>
          <p:nvPr/>
        </p:nvSpPr>
        <p:spPr>
          <a:xfrm>
            <a:off x="960120" y="342900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Search</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2331720" y="3429000"/>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Web search, document search, knowledge bases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685800" y="3721608"/>
            <a:ext cx="182880" cy="182880"/>
          </a:xfrm>
          <a:prstGeom prst="rect">
            <a:avLst/>
          </a:prstGeom>
        </p:spPr>
      </p:pic>
      <p:sp>
        <p:nvSpPr>
          <p:cNvPr id="18" name="Text 13"/>
          <p:cNvSpPr/>
          <p:nvPr/>
        </p:nvSpPr>
        <p:spPr>
          <a:xfrm>
            <a:off x="960120" y="3712464"/>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Data</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2331720" y="3712464"/>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SQL queries, API calls, file read/write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Image 3" descr="preencoded.png"/>
          <p:cNvPicPr>
            <a:picLocks noChangeAspect="1"/>
          </p:cNvPicPr>
          <p:nvPr/>
        </p:nvPicPr>
        <p:blipFill>
          <a:blip r:embed="rId6"/>
          <a:stretch>
            <a:fillRect/>
          </a:stretch>
        </p:blipFill>
        <p:spPr>
          <a:xfrm>
            <a:off x="685800" y="4005072"/>
            <a:ext cx="182880" cy="182880"/>
          </a:xfrm>
          <a:prstGeom prst="rect">
            <a:avLst/>
          </a:prstGeom>
        </p:spPr>
      </p:pic>
      <p:sp>
        <p:nvSpPr>
          <p:cNvPr id="21" name="Text 15"/>
          <p:cNvSpPr/>
          <p:nvPr/>
        </p:nvSpPr>
        <p:spPr>
          <a:xfrm>
            <a:off x="960120" y="3995928"/>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Communication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6"/>
          <p:cNvSpPr/>
          <p:nvPr/>
        </p:nvSpPr>
        <p:spPr>
          <a:xfrm>
            <a:off x="2331720" y="3995928"/>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Send emails, Slack messages, notifications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Image 4" descr="preencoded.png"/>
          <p:cNvPicPr>
            <a:picLocks noChangeAspect="1"/>
          </p:cNvPicPr>
          <p:nvPr/>
        </p:nvPicPr>
        <p:blipFill>
          <a:blip r:embed="rId7"/>
          <a:stretch>
            <a:fillRect/>
          </a:stretch>
        </p:blipFill>
        <p:spPr>
          <a:xfrm>
            <a:off x="685800" y="4288536"/>
            <a:ext cx="182880" cy="182880"/>
          </a:xfrm>
          <a:prstGeom prst="rect">
            <a:avLst/>
          </a:prstGeom>
        </p:spPr>
      </p:pic>
      <p:sp>
        <p:nvSpPr>
          <p:cNvPr id="24" name="Text 17"/>
          <p:cNvSpPr/>
          <p:nvPr/>
        </p:nvSpPr>
        <p:spPr>
          <a:xfrm>
            <a:off x="960120" y="4279392"/>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Computation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8"/>
          <p:cNvSpPr/>
          <p:nvPr/>
        </p:nvSpPr>
        <p:spPr>
          <a:xfrm>
            <a:off x="2331720" y="4279392"/>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Calculator, code execution, data analysis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6" name="Image 5" descr="preencoded.png"/>
          <p:cNvPicPr>
            <a:picLocks noChangeAspect="1"/>
          </p:cNvPicPr>
          <p:nvPr/>
        </p:nvPicPr>
        <p:blipFill>
          <a:blip r:embed="rId8"/>
          <a:stretch>
            <a:fillRect/>
          </a:stretch>
        </p:blipFill>
        <p:spPr>
          <a:xfrm>
            <a:off x="685800" y="4572000"/>
            <a:ext cx="182880" cy="182880"/>
          </a:xfrm>
          <a:prstGeom prst="rect">
            <a:avLst/>
          </a:prstGeom>
        </p:spPr>
      </p:pic>
      <p:sp>
        <p:nvSpPr>
          <p:cNvPr id="27" name="Text 19"/>
          <p:cNvSpPr/>
          <p:nvPr/>
        </p:nvSpPr>
        <p:spPr>
          <a:xfrm>
            <a:off x="960120" y="4562856"/>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Integration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0"/>
          <p:cNvSpPr/>
          <p:nvPr/>
        </p:nvSpPr>
        <p:spPr>
          <a:xfrm>
            <a:off x="2331720" y="4562856"/>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CRM, calendar, project management systems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 name="Image 6" descr="preencoded.png"/>
          <p:cNvPicPr>
            <a:picLocks noChangeAspect="1"/>
          </p:cNvPicPr>
          <p:nvPr/>
        </p:nvPicPr>
        <p:blipFill>
          <a:blip r:embed="rId9"/>
          <a:stretch>
            <a:fillRect/>
          </a:stretch>
        </p:blipFill>
        <p:spPr>
          <a:xfrm>
            <a:off x="685800" y="4855464"/>
            <a:ext cx="182880" cy="182880"/>
          </a:xfrm>
          <a:prstGeom prst="rect">
            <a:avLst/>
          </a:prstGeom>
        </p:spPr>
      </p:pic>
      <p:sp>
        <p:nvSpPr>
          <p:cNvPr id="30" name="Text 21"/>
          <p:cNvSpPr/>
          <p:nvPr/>
        </p:nvSpPr>
        <p:spPr>
          <a:xfrm>
            <a:off x="960120" y="484632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Custom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2"/>
          <p:cNvSpPr/>
          <p:nvPr/>
        </p:nvSpPr>
        <p:spPr>
          <a:xfrm>
            <a:off x="2331720" y="4846320"/>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Any Python function wrapped with @tool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3"/>
          <p:cNvSpPr/>
          <p:nvPr/>
        </p:nvSpPr>
        <p:spPr>
          <a:xfrm>
            <a:off x="5303520" y="1097280"/>
            <a:ext cx="3383280" cy="2560320"/>
          </a:xfrm>
          <a:prstGeom prst="rect">
            <a:avLst/>
          </a:prstGeom>
          <a:solidFill>
            <a:srgbClr val="FEF3C7"/>
          </a:solidFill>
          <a:ln/>
          <a:effectLst>
            <a:outerShdw blurRad="50800" dist="25400" dir="8100000" algn="bl" rotWithShape="0">
              <a:srgbClr val="000000">
                <a:alpha val="8000"/>
              </a:srgbClr>
            </a:outerShdw>
          </a:effectLst>
        </p:spPr>
      </p:sp>
      <p:sp>
        <p:nvSpPr>
          <p:cNvPr id="33" name="Shape 24"/>
          <p:cNvSpPr/>
          <p:nvPr/>
        </p:nvSpPr>
        <p:spPr>
          <a:xfrm>
            <a:off x="5303520" y="1097280"/>
            <a:ext cx="3383280" cy="54864"/>
          </a:xfrm>
          <a:prstGeom prst="rect">
            <a:avLst/>
          </a:prstGeom>
          <a:solidFill>
            <a:srgbClr val="F59E0B"/>
          </a:solidFill>
          <a:ln/>
        </p:spPr>
      </p:sp>
      <p:sp>
        <p:nvSpPr>
          <p:cNvPr id="34" name="Shape 25"/>
          <p:cNvSpPr/>
          <p:nvPr/>
        </p:nvSpPr>
        <p:spPr>
          <a:xfrm>
            <a:off x="5486400" y="1234440"/>
            <a:ext cx="411480" cy="411480"/>
          </a:xfrm>
          <a:prstGeom prst="ellipse">
            <a:avLst/>
          </a:prstGeom>
          <a:solidFill>
            <a:srgbClr val="F59E0B"/>
          </a:solidFill>
          <a:ln/>
        </p:spPr>
      </p:sp>
      <p:pic>
        <p:nvPicPr>
          <p:cNvPr id="35" name="Image 7" descr="preencoded.png"/>
          <p:cNvPicPr>
            <a:picLocks noChangeAspect="1"/>
          </p:cNvPicPr>
          <p:nvPr/>
        </p:nvPicPr>
        <p:blipFill>
          <a:blip r:embed="rId10"/>
          <a:stretch>
            <a:fillRect/>
          </a:stretch>
        </p:blipFill>
        <p:spPr>
          <a:xfrm>
            <a:off x="5576926" y="1324966"/>
            <a:ext cx="230429" cy="230429"/>
          </a:xfrm>
          <a:prstGeom prst="rect">
            <a:avLst/>
          </a:prstGeom>
        </p:spPr>
      </p:pic>
      <p:sp>
        <p:nvSpPr>
          <p:cNvPr id="36" name="Text 26"/>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7"/>
          <p:cNvSpPr/>
          <p:nvPr/>
        </p:nvSpPr>
        <p:spPr>
          <a:xfrm>
            <a:off x="5486400" y="1602591"/>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Travel Booking Agent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8"/>
          <p:cNvSpPr/>
          <p:nvPr/>
        </p:nvSpPr>
        <p:spPr>
          <a:xfrm>
            <a:off x="5486400" y="1920240"/>
            <a:ext cx="3017520" cy="1645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User: "Book me a flight to Tokyo under $800."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Agent uses multiple tools: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flight_search(dest="Tokyo", max=$800)</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 Returns 3 options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compare_prices(flights=[...])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 Cheapest: $749, Narita, Delta</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check_calendar(dates="next week")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 Tuesday-Friday clear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book_flight(flight_id="DL284")</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 Confirmation #DL284-7X9</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send_confirmation(email, details)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 Email sent to user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29"/>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40" name="Shape 30"/>
          <p:cNvSpPr/>
          <p:nvPr/>
        </p:nvSpPr>
        <p:spPr>
          <a:xfrm>
            <a:off x="5303520" y="3840480"/>
            <a:ext cx="3383280" cy="54864"/>
          </a:xfrm>
          <a:prstGeom prst="rect">
            <a:avLst/>
          </a:prstGeom>
          <a:solidFill>
            <a:srgbClr val="F59E0B"/>
          </a:solidFill>
          <a:ln/>
        </p:spPr>
      </p:sp>
      <p:sp>
        <p:nvSpPr>
          <p:cNvPr id="41" name="Text 31"/>
          <p:cNvSpPr/>
          <p:nvPr/>
        </p:nvSpPr>
        <p:spPr>
          <a:xfrm>
            <a:off x="5486400" y="3931920"/>
            <a:ext cx="301752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In LangChain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2"/>
          <p:cNvSpPr/>
          <p:nvPr/>
        </p:nvSpPr>
        <p:spPr>
          <a:xfrm>
            <a:off x="5486400" y="4206240"/>
            <a:ext cx="1463040" cy="182880"/>
          </a:xfrm>
          <a:prstGeom prst="rect">
            <a:avLst/>
          </a:prstGeom>
          <a:solidFill>
            <a:srgbClr val="0F172A"/>
          </a:solidFill>
          <a:ln/>
        </p:spPr>
      </p:sp>
      <p:sp>
        <p:nvSpPr>
          <p:cNvPr id="43" name="Text 33"/>
          <p:cNvSpPr/>
          <p:nvPr/>
        </p:nvSpPr>
        <p:spPr>
          <a:xfrm>
            <a:off x="5486400" y="4206240"/>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@tool decorator</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34"/>
          <p:cNvSpPr/>
          <p:nvPr/>
        </p:nvSpPr>
        <p:spPr>
          <a:xfrm>
            <a:off x="7040880" y="4206240"/>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Define custom tools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35"/>
          <p:cNvSpPr/>
          <p:nvPr/>
        </p:nvSpPr>
        <p:spPr>
          <a:xfrm>
            <a:off x="5486400" y="4416552"/>
            <a:ext cx="1463040" cy="182880"/>
          </a:xfrm>
          <a:prstGeom prst="rect">
            <a:avLst/>
          </a:prstGeom>
          <a:solidFill>
            <a:srgbClr val="0F172A"/>
          </a:solidFill>
          <a:ln/>
        </p:spPr>
      </p:sp>
      <p:sp>
        <p:nvSpPr>
          <p:cNvPr id="46" name="Text 36"/>
          <p:cNvSpPr/>
          <p:nvPr/>
        </p:nvSpPr>
        <p:spPr>
          <a:xfrm>
            <a:off x="5486400" y="4416552"/>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Tool(name, func)</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37"/>
          <p:cNvSpPr/>
          <p:nvPr/>
        </p:nvSpPr>
        <p:spPr>
          <a:xfrm>
            <a:off x="7040880" y="4416552"/>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Manual tool creation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38"/>
          <p:cNvSpPr/>
          <p:nvPr/>
        </p:nvSpPr>
        <p:spPr>
          <a:xfrm>
            <a:off x="5486400" y="4626864"/>
            <a:ext cx="1463040" cy="182880"/>
          </a:xfrm>
          <a:prstGeom prst="rect">
            <a:avLst/>
          </a:prstGeom>
          <a:solidFill>
            <a:srgbClr val="0F172A"/>
          </a:solidFill>
          <a:ln/>
        </p:spPr>
      </p:sp>
      <p:sp>
        <p:nvSpPr>
          <p:cNvPr id="49" name="Text 39"/>
          <p:cNvSpPr/>
          <p:nvPr/>
        </p:nvSpPr>
        <p:spPr>
          <a:xfrm>
            <a:off x="5486400" y="4626864"/>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load_tools()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0"/>
          <p:cNvSpPr/>
          <p:nvPr/>
        </p:nvSpPr>
        <p:spPr>
          <a:xfrm>
            <a:off x="7040880" y="4626864"/>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Pre-built tool library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10B981"/>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4</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Memory — The Context That Persists Across Time</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234440"/>
            <a:ext cx="548640" cy="548640"/>
          </a:xfrm>
          <a:prstGeom prst="ellipse">
            <a:avLst/>
          </a:prstGeom>
          <a:solidFill>
            <a:srgbClr val="10B981"/>
          </a:solidFill>
          <a:ln/>
        </p:spPr>
      </p:sp>
      <p:pic>
        <p:nvPicPr>
          <p:cNvPr id="8" name="Image 0" descr="preencoded.png"/>
          <p:cNvPicPr>
            <a:picLocks noChangeAspect="1"/>
          </p:cNvPicPr>
          <p:nvPr/>
        </p:nvPicPr>
        <p:blipFill>
          <a:blip r:embed="rId3"/>
          <a:stretch>
            <a:fillRect/>
          </a:stretch>
        </p:blipFill>
        <p:spPr>
          <a:xfrm>
            <a:off x="760781" y="13551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What is Memory?</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Memory gives the agent the ability to retain and recall information across interactions. Without memory, every conversation starts from scratch — the agent has no idea who you are, what you discussed before, or what your preferences are. Memory transforms a stateless system into one that learns, remembers, and personalizes over time.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10B981"/>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Types of Agent Memory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Image 1" descr="preencoded.png"/>
          <p:cNvPicPr>
            <a:picLocks noChangeAspect="1"/>
          </p:cNvPicPr>
          <p:nvPr/>
        </p:nvPicPr>
        <p:blipFill>
          <a:blip r:embed="rId4"/>
          <a:stretch>
            <a:fillRect/>
          </a:stretch>
        </p:blipFill>
        <p:spPr>
          <a:xfrm>
            <a:off x="685800" y="3438144"/>
            <a:ext cx="182880" cy="182880"/>
          </a:xfrm>
          <a:prstGeom prst="rect">
            <a:avLst/>
          </a:prstGeom>
        </p:spPr>
      </p:pic>
      <p:sp>
        <p:nvSpPr>
          <p:cNvPr id="15" name="Text 11"/>
          <p:cNvSpPr/>
          <p:nvPr/>
        </p:nvSpPr>
        <p:spPr>
          <a:xfrm>
            <a:off x="960120" y="342900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Buffer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2331720" y="3429000"/>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Stores full conversation — simple but unbounded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685800" y="3721608"/>
            <a:ext cx="182880" cy="182880"/>
          </a:xfrm>
          <a:prstGeom prst="rect">
            <a:avLst/>
          </a:prstGeom>
        </p:spPr>
      </p:pic>
      <p:sp>
        <p:nvSpPr>
          <p:cNvPr id="18" name="Text 13"/>
          <p:cNvSpPr/>
          <p:nvPr/>
        </p:nvSpPr>
        <p:spPr>
          <a:xfrm>
            <a:off x="960120" y="3712464"/>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Window</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2331720" y="3712464"/>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Keeps last K messages — bounded &amp; practical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Image 3" descr="preencoded.png"/>
          <p:cNvPicPr>
            <a:picLocks noChangeAspect="1"/>
          </p:cNvPicPr>
          <p:nvPr/>
        </p:nvPicPr>
        <p:blipFill>
          <a:blip r:embed="rId6"/>
          <a:stretch>
            <a:fillRect/>
          </a:stretch>
        </p:blipFill>
        <p:spPr>
          <a:xfrm>
            <a:off x="685800" y="4005072"/>
            <a:ext cx="182880" cy="182880"/>
          </a:xfrm>
          <a:prstGeom prst="rect">
            <a:avLst/>
          </a:prstGeom>
        </p:spPr>
      </p:pic>
      <p:sp>
        <p:nvSpPr>
          <p:cNvPr id="21" name="Text 15"/>
          <p:cNvSpPr/>
          <p:nvPr/>
        </p:nvSpPr>
        <p:spPr>
          <a:xfrm>
            <a:off x="960120" y="3995928"/>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Summary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6"/>
          <p:cNvSpPr/>
          <p:nvPr/>
        </p:nvSpPr>
        <p:spPr>
          <a:xfrm>
            <a:off x="2331720" y="3995928"/>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LLM summarizes history — compact &amp; scalable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Image 4" descr="preencoded.png"/>
          <p:cNvPicPr>
            <a:picLocks noChangeAspect="1"/>
          </p:cNvPicPr>
          <p:nvPr/>
        </p:nvPicPr>
        <p:blipFill>
          <a:blip r:embed="rId7"/>
          <a:stretch>
            <a:fillRect/>
          </a:stretch>
        </p:blipFill>
        <p:spPr>
          <a:xfrm>
            <a:off x="685800" y="4288536"/>
            <a:ext cx="182880" cy="182880"/>
          </a:xfrm>
          <a:prstGeom prst="rect">
            <a:avLst/>
          </a:prstGeom>
        </p:spPr>
      </p:pic>
      <p:sp>
        <p:nvSpPr>
          <p:cNvPr id="24" name="Text 17"/>
          <p:cNvSpPr/>
          <p:nvPr/>
        </p:nvSpPr>
        <p:spPr>
          <a:xfrm>
            <a:off x="960120" y="4279392"/>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Vector Store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8"/>
          <p:cNvSpPr/>
          <p:nvPr/>
        </p:nvSpPr>
        <p:spPr>
          <a:xfrm>
            <a:off x="2331720" y="4279392"/>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Embeds &amp; retrieves relevant past context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6" name="Image 5" descr="preencoded.png"/>
          <p:cNvPicPr>
            <a:picLocks noChangeAspect="1"/>
          </p:cNvPicPr>
          <p:nvPr/>
        </p:nvPicPr>
        <p:blipFill>
          <a:blip r:embed="rId8"/>
          <a:stretch>
            <a:fillRect/>
          </a:stretch>
        </p:blipFill>
        <p:spPr>
          <a:xfrm>
            <a:off x="685800" y="4572000"/>
            <a:ext cx="182880" cy="182880"/>
          </a:xfrm>
          <a:prstGeom prst="rect">
            <a:avLst/>
          </a:prstGeom>
        </p:spPr>
      </p:pic>
      <p:sp>
        <p:nvSpPr>
          <p:cNvPr id="27" name="Text 19"/>
          <p:cNvSpPr/>
          <p:nvPr/>
        </p:nvSpPr>
        <p:spPr>
          <a:xfrm>
            <a:off x="960120" y="4562856"/>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Entity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0"/>
          <p:cNvSpPr/>
          <p:nvPr/>
        </p:nvSpPr>
        <p:spPr>
          <a:xfrm>
            <a:off x="2331720" y="4562856"/>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Tracks facts about people, projects, concepts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 name="Image 6" descr="preencoded.png"/>
          <p:cNvPicPr>
            <a:picLocks noChangeAspect="1"/>
          </p:cNvPicPr>
          <p:nvPr/>
        </p:nvPicPr>
        <p:blipFill>
          <a:blip r:embed="rId9"/>
          <a:stretch>
            <a:fillRect/>
          </a:stretch>
        </p:blipFill>
        <p:spPr>
          <a:xfrm>
            <a:off x="685800" y="4855464"/>
            <a:ext cx="182880" cy="182880"/>
          </a:xfrm>
          <a:prstGeom prst="rect">
            <a:avLst/>
          </a:prstGeom>
        </p:spPr>
      </p:pic>
      <p:sp>
        <p:nvSpPr>
          <p:cNvPr id="30" name="Text 21"/>
          <p:cNvSpPr/>
          <p:nvPr/>
        </p:nvSpPr>
        <p:spPr>
          <a:xfrm>
            <a:off x="960120" y="484632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Long-Term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2"/>
          <p:cNvSpPr/>
          <p:nvPr/>
        </p:nvSpPr>
        <p:spPr>
          <a:xfrm>
            <a:off x="2331720" y="4846320"/>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Persists across sessions via external storage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3"/>
          <p:cNvSpPr/>
          <p:nvPr/>
        </p:nvSpPr>
        <p:spPr>
          <a:xfrm>
            <a:off x="5303520" y="1097280"/>
            <a:ext cx="3383280" cy="2560320"/>
          </a:xfrm>
          <a:prstGeom prst="rect">
            <a:avLst/>
          </a:prstGeom>
          <a:solidFill>
            <a:srgbClr val="D1FAE5"/>
          </a:solidFill>
          <a:ln/>
          <a:effectLst>
            <a:outerShdw blurRad="50800" dist="25400" dir="8100000" algn="bl" rotWithShape="0">
              <a:srgbClr val="000000">
                <a:alpha val="8000"/>
              </a:srgbClr>
            </a:outerShdw>
          </a:effectLst>
        </p:spPr>
      </p:sp>
      <p:sp>
        <p:nvSpPr>
          <p:cNvPr id="33" name="Shape 24"/>
          <p:cNvSpPr/>
          <p:nvPr/>
        </p:nvSpPr>
        <p:spPr>
          <a:xfrm>
            <a:off x="5303520" y="1097280"/>
            <a:ext cx="3383280" cy="54864"/>
          </a:xfrm>
          <a:prstGeom prst="rect">
            <a:avLst/>
          </a:prstGeom>
          <a:solidFill>
            <a:srgbClr val="10B981"/>
          </a:solidFill>
          <a:ln/>
        </p:spPr>
      </p:sp>
      <p:sp>
        <p:nvSpPr>
          <p:cNvPr id="34" name="Shape 25"/>
          <p:cNvSpPr/>
          <p:nvPr/>
        </p:nvSpPr>
        <p:spPr>
          <a:xfrm>
            <a:off x="5486400" y="1234440"/>
            <a:ext cx="411480" cy="411480"/>
          </a:xfrm>
          <a:prstGeom prst="ellipse">
            <a:avLst/>
          </a:prstGeom>
          <a:solidFill>
            <a:srgbClr val="10B981"/>
          </a:solidFill>
          <a:ln/>
        </p:spPr>
      </p:sp>
      <p:pic>
        <p:nvPicPr>
          <p:cNvPr id="35" name="Image 7" descr="preencoded.png"/>
          <p:cNvPicPr>
            <a:picLocks noChangeAspect="1"/>
          </p:cNvPicPr>
          <p:nvPr/>
        </p:nvPicPr>
        <p:blipFill>
          <a:blip r:embed="rId10"/>
          <a:stretch>
            <a:fillRect/>
          </a:stretch>
        </p:blipFill>
        <p:spPr>
          <a:xfrm>
            <a:off x="5576926" y="1324966"/>
            <a:ext cx="230429" cy="230429"/>
          </a:xfrm>
          <a:prstGeom prst="rect">
            <a:avLst/>
          </a:prstGeom>
        </p:spPr>
      </p:pic>
      <p:sp>
        <p:nvSpPr>
          <p:cNvPr id="36" name="Text 26"/>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7"/>
          <p:cNvSpPr/>
          <p:nvPr/>
        </p:nvSpPr>
        <p:spPr>
          <a:xfrm>
            <a:off x="5486400" y="1645920"/>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Personal Assistant Agent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8"/>
          <p:cNvSpPr/>
          <p:nvPr/>
        </p:nvSpPr>
        <p:spPr>
          <a:xfrm>
            <a:off x="5486400" y="1920240"/>
            <a:ext cx="3017520" cy="1645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Monday: "I'm allergic to shellfish."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Wednesday: "Book dinner for 4 on Friday."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With memory, the agent: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Recalls shellfish allergy from Monday</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Searches restaurants excluding seafood-heavy menus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Remembers user prefers Italian (from 2 weeks ago)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Books Italian restaurant, requests no-shellfish prep</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Sends confirmation noting dietary accommodations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Without memory: Agent would suggest a sushi restaurant.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29"/>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40" name="Shape 30"/>
          <p:cNvSpPr/>
          <p:nvPr/>
        </p:nvSpPr>
        <p:spPr>
          <a:xfrm>
            <a:off x="5303520" y="3840480"/>
            <a:ext cx="3383280" cy="54864"/>
          </a:xfrm>
          <a:prstGeom prst="rect">
            <a:avLst/>
          </a:prstGeom>
          <a:solidFill>
            <a:srgbClr val="10B981"/>
          </a:solidFill>
          <a:ln/>
        </p:spPr>
      </p:sp>
      <p:sp>
        <p:nvSpPr>
          <p:cNvPr id="41" name="Text 31"/>
          <p:cNvSpPr/>
          <p:nvPr/>
        </p:nvSpPr>
        <p:spPr>
          <a:xfrm>
            <a:off x="5486400" y="3931920"/>
            <a:ext cx="301752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In LangChain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2"/>
          <p:cNvSpPr/>
          <p:nvPr/>
        </p:nvSpPr>
        <p:spPr>
          <a:xfrm>
            <a:off x="5486400" y="4206240"/>
            <a:ext cx="1463040" cy="182880"/>
          </a:xfrm>
          <a:prstGeom prst="rect">
            <a:avLst/>
          </a:prstGeom>
          <a:solidFill>
            <a:srgbClr val="0F172A"/>
          </a:solidFill>
          <a:ln/>
        </p:spPr>
      </p:sp>
      <p:sp>
        <p:nvSpPr>
          <p:cNvPr id="43" name="Text 33"/>
          <p:cNvSpPr/>
          <p:nvPr/>
        </p:nvSpPr>
        <p:spPr>
          <a:xfrm>
            <a:off x="5486400" y="4206240"/>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BufferMemory</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34"/>
          <p:cNvSpPr/>
          <p:nvPr/>
        </p:nvSpPr>
        <p:spPr>
          <a:xfrm>
            <a:off x="7040880" y="4206240"/>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Full conversation store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35"/>
          <p:cNvSpPr/>
          <p:nvPr/>
        </p:nvSpPr>
        <p:spPr>
          <a:xfrm>
            <a:off x="5486400" y="4416552"/>
            <a:ext cx="1463040" cy="182880"/>
          </a:xfrm>
          <a:prstGeom prst="rect">
            <a:avLst/>
          </a:prstGeom>
          <a:solidFill>
            <a:srgbClr val="0F172A"/>
          </a:solidFill>
          <a:ln/>
        </p:spPr>
      </p:sp>
      <p:sp>
        <p:nvSpPr>
          <p:cNvPr id="46" name="Text 36"/>
          <p:cNvSpPr/>
          <p:nvPr/>
        </p:nvSpPr>
        <p:spPr>
          <a:xfrm>
            <a:off x="5486400" y="4416552"/>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BufferWindowMemory</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37"/>
          <p:cNvSpPr/>
          <p:nvPr/>
        </p:nvSpPr>
        <p:spPr>
          <a:xfrm>
            <a:off x="7040880" y="4416552"/>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Last K messages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38"/>
          <p:cNvSpPr/>
          <p:nvPr/>
        </p:nvSpPr>
        <p:spPr>
          <a:xfrm>
            <a:off x="5486400" y="4626864"/>
            <a:ext cx="1463040" cy="182880"/>
          </a:xfrm>
          <a:prstGeom prst="rect">
            <a:avLst/>
          </a:prstGeom>
          <a:solidFill>
            <a:srgbClr val="0F172A"/>
          </a:solidFill>
          <a:ln/>
        </p:spPr>
      </p:sp>
      <p:sp>
        <p:nvSpPr>
          <p:cNvPr id="49" name="Text 39"/>
          <p:cNvSpPr/>
          <p:nvPr/>
        </p:nvSpPr>
        <p:spPr>
          <a:xfrm>
            <a:off x="5486400" y="4626864"/>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VectorStoreMemory</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0"/>
          <p:cNvSpPr/>
          <p:nvPr/>
        </p:nvSpPr>
        <p:spPr>
          <a:xfrm>
            <a:off x="7040880" y="4626864"/>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Semantic retrieval</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68680"/>
          </a:xfrm>
          <a:prstGeom prst="rect">
            <a:avLst/>
          </a:prstGeom>
          <a:solidFill>
            <a:srgbClr val="0F172A"/>
          </a:solidFill>
          <a:ln/>
        </p:spPr>
      </p:sp>
      <p:sp>
        <p:nvSpPr>
          <p:cNvPr id="3" name="Shape 1"/>
          <p:cNvSpPr/>
          <p:nvPr/>
        </p:nvSpPr>
        <p:spPr>
          <a:xfrm>
            <a:off x="457200" y="137160"/>
            <a:ext cx="594360" cy="594360"/>
          </a:xfrm>
          <a:prstGeom prst="ellipse">
            <a:avLst/>
          </a:prstGeom>
          <a:solidFill>
            <a:srgbClr val="EF4444"/>
          </a:solidFill>
          <a:ln/>
        </p:spPr>
      </p:sp>
      <p:sp>
        <p:nvSpPr>
          <p:cNvPr id="4" name="Text 2"/>
          <p:cNvSpPr/>
          <p:nvPr/>
        </p:nvSpPr>
        <p:spPr>
          <a:xfrm>
            <a:off x="457200" y="137160"/>
            <a:ext cx="594360" cy="5943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5</a:t>
            </a:r>
            <a:endParaRPr kumimoji="0" lang="en-US" sz="2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p:cNvSpPr/>
          <p:nvPr/>
        </p:nvSpPr>
        <p:spPr>
          <a:xfrm>
            <a:off x="1188720" y="109728"/>
            <a:ext cx="685800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The Supervisor — The Safety &amp; Quality Guardrail</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4"/>
          <p:cNvSpPr/>
          <p:nvPr/>
        </p:nvSpPr>
        <p:spPr>
          <a:xfrm>
            <a:off x="457200" y="1097280"/>
            <a:ext cx="4572000" cy="1645920"/>
          </a:xfrm>
          <a:prstGeom prst="rect">
            <a:avLst/>
          </a:prstGeom>
          <a:solidFill>
            <a:srgbClr val="FFFFFF"/>
          </a:solidFill>
          <a:ln/>
          <a:effectLst>
            <a:outerShdw blurRad="50800" dist="25400" dir="8100000" algn="bl" rotWithShape="0">
              <a:srgbClr val="000000">
                <a:alpha val="8000"/>
              </a:srgbClr>
            </a:outerShdw>
          </a:effectLst>
        </p:spPr>
      </p:sp>
      <p:sp>
        <p:nvSpPr>
          <p:cNvPr id="7" name="Shape 5"/>
          <p:cNvSpPr/>
          <p:nvPr/>
        </p:nvSpPr>
        <p:spPr>
          <a:xfrm>
            <a:off x="640080" y="1120140"/>
            <a:ext cx="548640" cy="548640"/>
          </a:xfrm>
          <a:prstGeom prst="ellipse">
            <a:avLst/>
          </a:prstGeom>
          <a:solidFill>
            <a:srgbClr val="EF4444"/>
          </a:solidFill>
          <a:ln/>
        </p:spPr>
      </p:sp>
      <p:pic>
        <p:nvPicPr>
          <p:cNvPr id="8" name="Image 0" descr="preencoded.png"/>
          <p:cNvPicPr>
            <a:picLocks noChangeAspect="1"/>
          </p:cNvPicPr>
          <p:nvPr/>
        </p:nvPicPr>
        <p:blipFill>
          <a:blip r:embed="rId3"/>
          <a:stretch>
            <a:fillRect/>
          </a:stretch>
        </p:blipFill>
        <p:spPr>
          <a:xfrm>
            <a:off x="760781" y="1240841"/>
            <a:ext cx="307238" cy="307238"/>
          </a:xfrm>
          <a:prstGeom prst="rect">
            <a:avLst/>
          </a:prstGeom>
        </p:spPr>
      </p:pic>
      <p:sp>
        <p:nvSpPr>
          <p:cNvPr id="9" name="Text 6"/>
          <p:cNvSpPr/>
          <p:nvPr/>
        </p:nvSpPr>
        <p:spPr>
          <a:xfrm>
            <a:off x="1371600" y="1188720"/>
            <a:ext cx="338328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What is the Supervisor?</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p:nvPr/>
        </p:nvSpPr>
        <p:spPr>
          <a:xfrm>
            <a:off x="640080" y="1691640"/>
            <a:ext cx="4206240" cy="9601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The Supervisor is the safety and governance layer that monitors, validates, and controls agent behavior. It ensures the agent stays within boundaries — checking outputs for quality, blocking harmful actions, enforcing permissions, logging decisions for audit, and providing human-in-the-loop checkpoints for critical actions. It's the responsible adult in the room.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457200" y="2926080"/>
            <a:ext cx="4572000" cy="1965960"/>
          </a:xfrm>
          <a:prstGeom prst="rect">
            <a:avLst/>
          </a:prstGeom>
          <a:solidFill>
            <a:srgbClr val="FFFFFF"/>
          </a:solidFill>
          <a:ln/>
          <a:effectLst>
            <a:outerShdw blurRad="50800" dist="25400" dir="8100000" algn="bl" rotWithShape="0">
              <a:srgbClr val="000000">
                <a:alpha val="8000"/>
              </a:srgbClr>
            </a:outerShdw>
          </a:effectLst>
        </p:spPr>
      </p:sp>
      <p:sp>
        <p:nvSpPr>
          <p:cNvPr id="12" name="Shape 9"/>
          <p:cNvSpPr/>
          <p:nvPr/>
        </p:nvSpPr>
        <p:spPr>
          <a:xfrm>
            <a:off x="457200" y="2926080"/>
            <a:ext cx="4572000" cy="54864"/>
          </a:xfrm>
          <a:prstGeom prst="rect">
            <a:avLst/>
          </a:prstGeom>
          <a:solidFill>
            <a:srgbClr val="EF4444"/>
          </a:solidFill>
          <a:ln/>
        </p:spPr>
      </p:sp>
      <p:sp>
        <p:nvSpPr>
          <p:cNvPr id="13" name="Text 10"/>
          <p:cNvSpPr/>
          <p:nvPr/>
        </p:nvSpPr>
        <p:spPr>
          <a:xfrm>
            <a:off x="640080" y="3063240"/>
            <a:ext cx="42062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Supervisor Responsibilities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Image 1" descr="preencoded.png"/>
          <p:cNvPicPr>
            <a:picLocks noChangeAspect="1"/>
          </p:cNvPicPr>
          <p:nvPr/>
        </p:nvPicPr>
        <p:blipFill>
          <a:blip r:embed="rId4"/>
          <a:stretch>
            <a:fillRect/>
          </a:stretch>
        </p:blipFill>
        <p:spPr>
          <a:xfrm>
            <a:off x="685800" y="3438144"/>
            <a:ext cx="182880" cy="182880"/>
          </a:xfrm>
          <a:prstGeom prst="rect">
            <a:avLst/>
          </a:prstGeom>
        </p:spPr>
      </p:pic>
      <p:sp>
        <p:nvSpPr>
          <p:cNvPr id="15" name="Text 11"/>
          <p:cNvSpPr/>
          <p:nvPr/>
        </p:nvSpPr>
        <p:spPr>
          <a:xfrm>
            <a:off x="960120" y="342900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Validation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2"/>
          <p:cNvSpPr/>
          <p:nvPr/>
        </p:nvSpPr>
        <p:spPr>
          <a:xfrm>
            <a:off x="2331720" y="3429000"/>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Checks tool inputs/outputs before execution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7" name="Image 2" descr="preencoded.png"/>
          <p:cNvPicPr>
            <a:picLocks noChangeAspect="1"/>
          </p:cNvPicPr>
          <p:nvPr/>
        </p:nvPicPr>
        <p:blipFill>
          <a:blip r:embed="rId5"/>
          <a:stretch>
            <a:fillRect/>
          </a:stretch>
        </p:blipFill>
        <p:spPr>
          <a:xfrm>
            <a:off x="685800" y="3721608"/>
            <a:ext cx="182880" cy="182880"/>
          </a:xfrm>
          <a:prstGeom prst="rect">
            <a:avLst/>
          </a:prstGeom>
        </p:spPr>
      </p:pic>
      <p:sp>
        <p:nvSpPr>
          <p:cNvPr id="18" name="Text 13"/>
          <p:cNvSpPr/>
          <p:nvPr/>
        </p:nvSpPr>
        <p:spPr>
          <a:xfrm>
            <a:off x="960120" y="3712464"/>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Safety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4"/>
          <p:cNvSpPr/>
          <p:nvPr/>
        </p:nvSpPr>
        <p:spPr>
          <a:xfrm>
            <a:off x="2331720" y="3712464"/>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Blocks harmful, unauthorized, or risky actions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 name="Image 3" descr="preencoded.png"/>
          <p:cNvPicPr>
            <a:picLocks noChangeAspect="1"/>
          </p:cNvPicPr>
          <p:nvPr/>
        </p:nvPicPr>
        <p:blipFill>
          <a:blip r:embed="rId6"/>
          <a:stretch>
            <a:fillRect/>
          </a:stretch>
        </p:blipFill>
        <p:spPr>
          <a:xfrm>
            <a:off x="685800" y="4005072"/>
            <a:ext cx="182880" cy="182880"/>
          </a:xfrm>
          <a:prstGeom prst="rect">
            <a:avLst/>
          </a:prstGeom>
        </p:spPr>
      </p:pic>
      <p:sp>
        <p:nvSpPr>
          <p:cNvPr id="21" name="Text 15"/>
          <p:cNvSpPr/>
          <p:nvPr/>
        </p:nvSpPr>
        <p:spPr>
          <a:xfrm>
            <a:off x="960120" y="3995928"/>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Quality</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6"/>
          <p:cNvSpPr/>
          <p:nvPr/>
        </p:nvSpPr>
        <p:spPr>
          <a:xfrm>
            <a:off x="2331720" y="3995928"/>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Evaluates output accuracy and relevance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3" name="Image 4" descr="preencoded.png"/>
          <p:cNvPicPr>
            <a:picLocks noChangeAspect="1"/>
          </p:cNvPicPr>
          <p:nvPr/>
        </p:nvPicPr>
        <p:blipFill>
          <a:blip r:embed="rId7"/>
          <a:stretch>
            <a:fillRect/>
          </a:stretch>
        </p:blipFill>
        <p:spPr>
          <a:xfrm>
            <a:off x="685800" y="4288536"/>
            <a:ext cx="182880" cy="182880"/>
          </a:xfrm>
          <a:prstGeom prst="rect">
            <a:avLst/>
          </a:prstGeom>
        </p:spPr>
      </p:pic>
      <p:sp>
        <p:nvSpPr>
          <p:cNvPr id="24" name="Text 17"/>
          <p:cNvSpPr/>
          <p:nvPr/>
        </p:nvSpPr>
        <p:spPr>
          <a:xfrm>
            <a:off x="960120" y="4279392"/>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Audit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18"/>
          <p:cNvSpPr/>
          <p:nvPr/>
        </p:nvSpPr>
        <p:spPr>
          <a:xfrm>
            <a:off x="2331720" y="4279392"/>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Logs every decision, tool call, and result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6" name="Image 5" descr="preencoded.png"/>
          <p:cNvPicPr>
            <a:picLocks noChangeAspect="1"/>
          </p:cNvPicPr>
          <p:nvPr/>
        </p:nvPicPr>
        <p:blipFill>
          <a:blip r:embed="rId8"/>
          <a:stretch>
            <a:fillRect/>
          </a:stretch>
        </p:blipFill>
        <p:spPr>
          <a:xfrm>
            <a:off x="685800" y="4572000"/>
            <a:ext cx="182880" cy="182880"/>
          </a:xfrm>
          <a:prstGeom prst="rect">
            <a:avLst/>
          </a:prstGeom>
        </p:spPr>
      </p:pic>
      <p:sp>
        <p:nvSpPr>
          <p:cNvPr id="27" name="Text 19"/>
          <p:cNvSpPr/>
          <p:nvPr/>
        </p:nvSpPr>
        <p:spPr>
          <a:xfrm>
            <a:off x="960120" y="4562856"/>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Human-in-Loop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0"/>
          <p:cNvSpPr/>
          <p:nvPr/>
        </p:nvSpPr>
        <p:spPr>
          <a:xfrm>
            <a:off x="2331720" y="4562856"/>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Pauses for human approval on critical steps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 name="Image 6" descr="preencoded.png"/>
          <p:cNvPicPr>
            <a:picLocks noChangeAspect="1"/>
          </p:cNvPicPr>
          <p:nvPr/>
        </p:nvPicPr>
        <p:blipFill>
          <a:blip r:embed="rId9"/>
          <a:stretch>
            <a:fillRect/>
          </a:stretch>
        </p:blipFill>
        <p:spPr>
          <a:xfrm>
            <a:off x="685800" y="4855464"/>
            <a:ext cx="182880" cy="182880"/>
          </a:xfrm>
          <a:prstGeom prst="rect">
            <a:avLst/>
          </a:prstGeom>
        </p:spPr>
      </p:pic>
      <p:sp>
        <p:nvSpPr>
          <p:cNvPr id="30" name="Text 21"/>
          <p:cNvSpPr/>
          <p:nvPr/>
        </p:nvSpPr>
        <p:spPr>
          <a:xfrm>
            <a:off x="960120" y="4846320"/>
            <a:ext cx="1371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Budget Control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2"/>
          <p:cNvSpPr/>
          <p:nvPr/>
        </p:nvSpPr>
        <p:spPr>
          <a:xfrm>
            <a:off x="2331720" y="4846320"/>
            <a:ext cx="25146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Tracks API costs, enforces spending limits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3"/>
          <p:cNvSpPr/>
          <p:nvPr/>
        </p:nvSpPr>
        <p:spPr>
          <a:xfrm>
            <a:off x="5303520" y="1097280"/>
            <a:ext cx="3383280" cy="2560320"/>
          </a:xfrm>
          <a:prstGeom prst="rect">
            <a:avLst/>
          </a:prstGeom>
          <a:solidFill>
            <a:srgbClr val="FCE7F3"/>
          </a:solidFill>
          <a:ln/>
          <a:effectLst>
            <a:outerShdw blurRad="50800" dist="25400" dir="8100000" algn="bl" rotWithShape="0">
              <a:srgbClr val="000000">
                <a:alpha val="8000"/>
              </a:srgbClr>
            </a:outerShdw>
          </a:effectLst>
        </p:spPr>
      </p:sp>
      <p:sp>
        <p:nvSpPr>
          <p:cNvPr id="33" name="Shape 24"/>
          <p:cNvSpPr/>
          <p:nvPr/>
        </p:nvSpPr>
        <p:spPr>
          <a:xfrm>
            <a:off x="5303520" y="1097280"/>
            <a:ext cx="3383280" cy="54864"/>
          </a:xfrm>
          <a:prstGeom prst="rect">
            <a:avLst/>
          </a:prstGeom>
          <a:solidFill>
            <a:srgbClr val="EF4444"/>
          </a:solidFill>
          <a:ln/>
        </p:spPr>
      </p:sp>
      <p:sp>
        <p:nvSpPr>
          <p:cNvPr id="34" name="Shape 25"/>
          <p:cNvSpPr/>
          <p:nvPr/>
        </p:nvSpPr>
        <p:spPr>
          <a:xfrm>
            <a:off x="5486400" y="1234440"/>
            <a:ext cx="411480" cy="411480"/>
          </a:xfrm>
          <a:prstGeom prst="ellipse">
            <a:avLst/>
          </a:prstGeom>
          <a:solidFill>
            <a:srgbClr val="EF4444"/>
          </a:solidFill>
          <a:ln/>
        </p:spPr>
      </p:sp>
      <p:pic>
        <p:nvPicPr>
          <p:cNvPr id="35" name="Image 7" descr="preencoded.png"/>
          <p:cNvPicPr>
            <a:picLocks noChangeAspect="1"/>
          </p:cNvPicPr>
          <p:nvPr/>
        </p:nvPicPr>
        <p:blipFill>
          <a:blip r:embed="rId10"/>
          <a:stretch>
            <a:fillRect/>
          </a:stretch>
        </p:blipFill>
        <p:spPr>
          <a:xfrm>
            <a:off x="5576926" y="1324966"/>
            <a:ext cx="230429" cy="230429"/>
          </a:xfrm>
          <a:prstGeom prst="rect">
            <a:avLst/>
          </a:prstGeom>
        </p:spPr>
      </p:pic>
      <p:sp>
        <p:nvSpPr>
          <p:cNvPr id="36" name="Text 26"/>
          <p:cNvSpPr/>
          <p:nvPr/>
        </p:nvSpPr>
        <p:spPr>
          <a:xfrm>
            <a:off x="5989320" y="1234440"/>
            <a:ext cx="24688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Real-World Example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27"/>
          <p:cNvSpPr/>
          <p:nvPr/>
        </p:nvSpPr>
        <p:spPr>
          <a:xfrm>
            <a:off x="5486400" y="1645920"/>
            <a:ext cx="30175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E293B"/>
                </a:solidFill>
                <a:effectLst/>
                <a:uLnTx/>
                <a:uFillTx/>
                <a:latin typeface="Trebuchet MS" pitchFamily="34" charset="0"/>
                <a:ea typeface="Trebuchet MS" pitchFamily="34" charset="-122"/>
                <a:cs typeface="Trebuchet MS" pitchFamily="34" charset="-120"/>
              </a:rPr>
              <a:t>Financial Transaction Agent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 28"/>
          <p:cNvSpPr/>
          <p:nvPr/>
        </p:nvSpPr>
        <p:spPr>
          <a:xfrm>
            <a:off x="5486400" y="1920240"/>
            <a:ext cx="3017520" cy="16459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User: "Transfer $50,000 to account ending 4521."</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Supervisor intervenes: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Validates: Is this a known payee? → Yes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Checks: Does user have permission for $50K? → Requires manager approval for &gt;$10K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Pauses: Sends approval request to manager</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Manager approves via Slack</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Logs: Full audit trail — who requested, who approved, timestamp, amount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 Executes: Transfer processed with complete record</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29"/>
          <p:cNvSpPr/>
          <p:nvPr/>
        </p:nvSpPr>
        <p:spPr>
          <a:xfrm>
            <a:off x="5303520" y="3840480"/>
            <a:ext cx="3383280" cy="1051560"/>
          </a:xfrm>
          <a:prstGeom prst="rect">
            <a:avLst/>
          </a:prstGeom>
          <a:solidFill>
            <a:srgbClr val="FFFFFF"/>
          </a:solidFill>
          <a:ln/>
          <a:effectLst>
            <a:outerShdw blurRad="50800" dist="25400" dir="8100000" algn="bl" rotWithShape="0">
              <a:srgbClr val="000000">
                <a:alpha val="8000"/>
              </a:srgbClr>
            </a:outerShdw>
          </a:effectLst>
        </p:spPr>
      </p:sp>
      <p:sp>
        <p:nvSpPr>
          <p:cNvPr id="40" name="Shape 30"/>
          <p:cNvSpPr/>
          <p:nvPr/>
        </p:nvSpPr>
        <p:spPr>
          <a:xfrm>
            <a:off x="5303520" y="3840480"/>
            <a:ext cx="3383280" cy="54864"/>
          </a:xfrm>
          <a:prstGeom prst="rect">
            <a:avLst/>
          </a:prstGeom>
          <a:solidFill>
            <a:srgbClr val="EF4444"/>
          </a:solidFill>
          <a:ln/>
        </p:spPr>
      </p:sp>
      <p:sp>
        <p:nvSpPr>
          <p:cNvPr id="41" name="Text 31"/>
          <p:cNvSpPr/>
          <p:nvPr/>
        </p:nvSpPr>
        <p:spPr>
          <a:xfrm>
            <a:off x="5486400" y="3931920"/>
            <a:ext cx="301752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In LangChain</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2"/>
          <p:cNvSpPr/>
          <p:nvPr/>
        </p:nvSpPr>
        <p:spPr>
          <a:xfrm>
            <a:off x="5486400" y="4206240"/>
            <a:ext cx="1463040" cy="182880"/>
          </a:xfrm>
          <a:prstGeom prst="rect">
            <a:avLst/>
          </a:prstGeom>
          <a:solidFill>
            <a:srgbClr val="0F172A"/>
          </a:solidFill>
          <a:ln/>
        </p:spPr>
      </p:sp>
      <p:sp>
        <p:nvSpPr>
          <p:cNvPr id="43" name="Text 33"/>
          <p:cNvSpPr/>
          <p:nvPr/>
        </p:nvSpPr>
        <p:spPr>
          <a:xfrm>
            <a:off x="5486400" y="4206240"/>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max_iterations=15</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34"/>
          <p:cNvSpPr/>
          <p:nvPr/>
        </p:nvSpPr>
        <p:spPr>
          <a:xfrm>
            <a:off x="7040880" y="4206240"/>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Prevent infinite loops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35"/>
          <p:cNvSpPr/>
          <p:nvPr/>
        </p:nvSpPr>
        <p:spPr>
          <a:xfrm>
            <a:off x="5486400" y="4416552"/>
            <a:ext cx="1463040" cy="182880"/>
          </a:xfrm>
          <a:prstGeom prst="rect">
            <a:avLst/>
          </a:prstGeom>
          <a:solidFill>
            <a:srgbClr val="0F172A"/>
          </a:solidFill>
          <a:ln/>
        </p:spPr>
      </p:sp>
      <p:sp>
        <p:nvSpPr>
          <p:cNvPr id="46" name="Text 36"/>
          <p:cNvSpPr/>
          <p:nvPr/>
        </p:nvSpPr>
        <p:spPr>
          <a:xfrm>
            <a:off x="5486400" y="4416552"/>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handle_parsing_errors</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Text 37"/>
          <p:cNvSpPr/>
          <p:nvPr/>
        </p:nvSpPr>
        <p:spPr>
          <a:xfrm>
            <a:off x="7040880" y="4416552"/>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Graceful error recovery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Shape 38"/>
          <p:cNvSpPr/>
          <p:nvPr/>
        </p:nvSpPr>
        <p:spPr>
          <a:xfrm>
            <a:off x="5486400" y="4626864"/>
            <a:ext cx="1463040" cy="182880"/>
          </a:xfrm>
          <a:prstGeom prst="rect">
            <a:avLst/>
          </a:prstGeom>
          <a:solidFill>
            <a:srgbClr val="0F172A"/>
          </a:solidFill>
          <a:ln/>
        </p:spPr>
      </p:sp>
      <p:sp>
        <p:nvSpPr>
          <p:cNvPr id="49" name="Text 39"/>
          <p:cNvSpPr/>
          <p:nvPr/>
        </p:nvSpPr>
        <p:spPr>
          <a:xfrm>
            <a:off x="5486400" y="4626864"/>
            <a:ext cx="14630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50" b="0" i="0" u="none" strike="noStrike" kern="1200" cap="none" spc="0" normalizeH="0" baseline="0" noProof="0" dirty="0">
                <a:ln>
                  <a:noFill/>
                </a:ln>
                <a:solidFill>
                  <a:srgbClr val="22D3EE"/>
                </a:solidFill>
                <a:effectLst/>
                <a:uLnTx/>
                <a:uFillTx/>
                <a:latin typeface="Consolas" pitchFamily="34" charset="0"/>
                <a:ea typeface="Consolas" pitchFamily="34" charset="-122"/>
                <a:cs typeface="Consolas" pitchFamily="34" charset="-120"/>
              </a:rPr>
              <a:t>LangSmith</a:t>
            </a:r>
            <a:endParaRPr kumimoji="0" lang="en-US" sz="7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Text 40"/>
          <p:cNvSpPr/>
          <p:nvPr/>
        </p:nvSpPr>
        <p:spPr>
          <a:xfrm>
            <a:off x="7040880" y="4626864"/>
            <a:ext cx="146304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Full observability platform</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sp>
      <p:sp>
        <p:nvSpPr>
          <p:cNvPr id="3" name="Text 1"/>
          <p:cNvSpPr/>
          <p:nvPr/>
        </p:nvSpPr>
        <p:spPr>
          <a:xfrm>
            <a:off x="731520" y="91440"/>
            <a:ext cx="7680960" cy="6400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How All 5 Components Work Together</a:t>
            </a:r>
            <a:endPar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3017520" y="2011680"/>
            <a:ext cx="3108960" cy="1371600"/>
          </a:xfrm>
          <a:prstGeom prst="rect">
            <a:avLst/>
          </a:prstGeom>
          <a:solidFill>
            <a:srgbClr val="DBEAFE"/>
          </a:solidFill>
          <a:ln/>
          <a:effectLst>
            <a:outerShdw blurRad="50800" dist="25400" dir="8100000" algn="bl" rotWithShape="0">
              <a:srgbClr val="000000">
                <a:alpha val="8000"/>
              </a:srgbClr>
            </a:outerShdw>
          </a:effectLst>
        </p:spPr>
      </p:sp>
      <p:sp>
        <p:nvSpPr>
          <p:cNvPr id="5" name="Shape 3"/>
          <p:cNvSpPr/>
          <p:nvPr/>
        </p:nvSpPr>
        <p:spPr>
          <a:xfrm>
            <a:off x="3017520" y="2011680"/>
            <a:ext cx="3108960" cy="54864"/>
          </a:xfrm>
          <a:prstGeom prst="rect">
            <a:avLst/>
          </a:prstGeom>
          <a:solidFill>
            <a:srgbClr val="0891B2"/>
          </a:solidFill>
          <a:ln/>
        </p:spPr>
      </p:sp>
      <p:sp>
        <p:nvSpPr>
          <p:cNvPr id="6" name="Shape 4"/>
          <p:cNvSpPr/>
          <p:nvPr/>
        </p:nvSpPr>
        <p:spPr>
          <a:xfrm>
            <a:off x="4160520" y="2194560"/>
            <a:ext cx="640080" cy="640080"/>
          </a:xfrm>
          <a:prstGeom prst="ellipse">
            <a:avLst/>
          </a:prstGeom>
          <a:solidFill>
            <a:srgbClr val="0891B2"/>
          </a:solidFill>
          <a:ln/>
        </p:spPr>
      </p:sp>
      <p:pic>
        <p:nvPicPr>
          <p:cNvPr id="7" name="Image 0" descr="preencoded.png"/>
          <p:cNvPicPr>
            <a:picLocks noChangeAspect="1"/>
          </p:cNvPicPr>
          <p:nvPr/>
        </p:nvPicPr>
        <p:blipFill>
          <a:blip r:embed="rId3"/>
          <a:stretch>
            <a:fillRect/>
          </a:stretch>
        </p:blipFill>
        <p:spPr>
          <a:xfrm>
            <a:off x="4301338" y="2335378"/>
            <a:ext cx="358445" cy="358445"/>
          </a:xfrm>
          <a:prstGeom prst="rect">
            <a:avLst/>
          </a:prstGeom>
        </p:spPr>
      </p:pic>
      <p:sp>
        <p:nvSpPr>
          <p:cNvPr id="8" name="Text 5"/>
          <p:cNvSpPr/>
          <p:nvPr/>
        </p:nvSpPr>
        <p:spPr>
          <a:xfrm>
            <a:off x="3017520" y="2926080"/>
            <a:ext cx="310896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Orchestrator</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3429000" y="960120"/>
            <a:ext cx="2286000" cy="822960"/>
          </a:xfrm>
          <a:prstGeom prst="rect">
            <a:avLst/>
          </a:prstGeom>
          <a:solidFill>
            <a:srgbClr val="EDE9FE"/>
          </a:solidFill>
          <a:ln/>
          <a:effectLst>
            <a:outerShdw blurRad="50800" dist="25400" dir="8100000" algn="bl" rotWithShape="0">
              <a:srgbClr val="000000">
                <a:alpha val="8000"/>
              </a:srgbClr>
            </a:outerShdw>
          </a:effectLst>
        </p:spPr>
      </p:sp>
      <p:sp>
        <p:nvSpPr>
          <p:cNvPr id="10" name="Shape 7"/>
          <p:cNvSpPr/>
          <p:nvPr/>
        </p:nvSpPr>
        <p:spPr>
          <a:xfrm>
            <a:off x="3520440" y="1024128"/>
            <a:ext cx="457200" cy="457200"/>
          </a:xfrm>
          <a:prstGeom prst="ellipse">
            <a:avLst/>
          </a:prstGeom>
          <a:solidFill>
            <a:srgbClr val="8B5CF6"/>
          </a:solidFill>
          <a:ln/>
        </p:spPr>
      </p:sp>
      <p:pic>
        <p:nvPicPr>
          <p:cNvPr id="11" name="Image 1" descr="preencoded.png"/>
          <p:cNvPicPr>
            <a:picLocks noChangeAspect="1"/>
          </p:cNvPicPr>
          <p:nvPr/>
        </p:nvPicPr>
        <p:blipFill>
          <a:blip r:embed="rId4"/>
          <a:stretch>
            <a:fillRect/>
          </a:stretch>
        </p:blipFill>
        <p:spPr>
          <a:xfrm>
            <a:off x="3621024" y="1124712"/>
            <a:ext cx="256032" cy="256032"/>
          </a:xfrm>
          <a:prstGeom prst="rect">
            <a:avLst/>
          </a:prstGeom>
        </p:spPr>
      </p:pic>
      <p:sp>
        <p:nvSpPr>
          <p:cNvPr id="12" name="Text 8"/>
          <p:cNvSpPr/>
          <p:nvPr/>
        </p:nvSpPr>
        <p:spPr>
          <a:xfrm>
            <a:off x="4069080" y="1051560"/>
            <a:ext cx="14630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Brain (LLM)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9"/>
          <p:cNvSpPr/>
          <p:nvPr/>
        </p:nvSpPr>
        <p:spPr>
          <a:xfrm>
            <a:off x="4069080" y="1325880"/>
            <a:ext cx="14630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Thinks &amp; decides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0"/>
          <p:cNvSpPr/>
          <p:nvPr/>
        </p:nvSpPr>
        <p:spPr>
          <a:xfrm>
            <a:off x="457200" y="2194560"/>
            <a:ext cx="2286000" cy="822960"/>
          </a:xfrm>
          <a:prstGeom prst="rect">
            <a:avLst/>
          </a:prstGeom>
          <a:solidFill>
            <a:srgbClr val="D1FAE5"/>
          </a:solidFill>
          <a:ln/>
          <a:effectLst>
            <a:outerShdw blurRad="50800" dist="25400" dir="8100000" algn="bl" rotWithShape="0">
              <a:srgbClr val="000000">
                <a:alpha val="8000"/>
              </a:srgbClr>
            </a:outerShdw>
          </a:effectLst>
        </p:spPr>
      </p:sp>
      <p:sp>
        <p:nvSpPr>
          <p:cNvPr id="15" name="Shape 11"/>
          <p:cNvSpPr/>
          <p:nvPr/>
        </p:nvSpPr>
        <p:spPr>
          <a:xfrm>
            <a:off x="548640" y="2258568"/>
            <a:ext cx="457200" cy="457200"/>
          </a:xfrm>
          <a:prstGeom prst="ellipse">
            <a:avLst/>
          </a:prstGeom>
          <a:solidFill>
            <a:srgbClr val="10B981"/>
          </a:solidFill>
          <a:ln/>
        </p:spPr>
      </p:sp>
      <p:pic>
        <p:nvPicPr>
          <p:cNvPr id="16" name="Image 2" descr="preencoded.png"/>
          <p:cNvPicPr>
            <a:picLocks noChangeAspect="1"/>
          </p:cNvPicPr>
          <p:nvPr/>
        </p:nvPicPr>
        <p:blipFill>
          <a:blip r:embed="rId5"/>
          <a:stretch>
            <a:fillRect/>
          </a:stretch>
        </p:blipFill>
        <p:spPr>
          <a:xfrm>
            <a:off x="649224" y="2359152"/>
            <a:ext cx="256032" cy="256032"/>
          </a:xfrm>
          <a:prstGeom prst="rect">
            <a:avLst/>
          </a:prstGeom>
        </p:spPr>
      </p:pic>
      <p:sp>
        <p:nvSpPr>
          <p:cNvPr id="17" name="Text 12"/>
          <p:cNvSpPr/>
          <p:nvPr/>
        </p:nvSpPr>
        <p:spPr>
          <a:xfrm>
            <a:off x="1097280" y="2286000"/>
            <a:ext cx="14630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Memory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3"/>
          <p:cNvSpPr/>
          <p:nvPr/>
        </p:nvSpPr>
        <p:spPr>
          <a:xfrm>
            <a:off x="1097280" y="2560320"/>
            <a:ext cx="14630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Stores context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4"/>
          <p:cNvSpPr/>
          <p:nvPr/>
        </p:nvSpPr>
        <p:spPr>
          <a:xfrm>
            <a:off x="6400800" y="2194560"/>
            <a:ext cx="2286000" cy="822960"/>
          </a:xfrm>
          <a:prstGeom prst="rect">
            <a:avLst/>
          </a:prstGeom>
          <a:solidFill>
            <a:srgbClr val="FEF3C7"/>
          </a:solidFill>
          <a:ln/>
          <a:effectLst>
            <a:outerShdw blurRad="50800" dist="25400" dir="8100000" algn="bl" rotWithShape="0">
              <a:srgbClr val="000000">
                <a:alpha val="8000"/>
              </a:srgbClr>
            </a:outerShdw>
          </a:effectLst>
        </p:spPr>
      </p:sp>
      <p:sp>
        <p:nvSpPr>
          <p:cNvPr id="20" name="Shape 15"/>
          <p:cNvSpPr/>
          <p:nvPr/>
        </p:nvSpPr>
        <p:spPr>
          <a:xfrm>
            <a:off x="6492240" y="2258568"/>
            <a:ext cx="457200" cy="457200"/>
          </a:xfrm>
          <a:prstGeom prst="ellipse">
            <a:avLst/>
          </a:prstGeom>
          <a:solidFill>
            <a:srgbClr val="F59E0B"/>
          </a:solidFill>
          <a:ln/>
        </p:spPr>
      </p:sp>
      <p:pic>
        <p:nvPicPr>
          <p:cNvPr id="21" name="Image 3" descr="preencoded.png"/>
          <p:cNvPicPr>
            <a:picLocks noChangeAspect="1"/>
          </p:cNvPicPr>
          <p:nvPr/>
        </p:nvPicPr>
        <p:blipFill>
          <a:blip r:embed="rId6"/>
          <a:stretch>
            <a:fillRect/>
          </a:stretch>
        </p:blipFill>
        <p:spPr>
          <a:xfrm>
            <a:off x="6592824" y="2359152"/>
            <a:ext cx="256032" cy="256032"/>
          </a:xfrm>
          <a:prstGeom prst="rect">
            <a:avLst/>
          </a:prstGeom>
        </p:spPr>
      </p:pic>
      <p:sp>
        <p:nvSpPr>
          <p:cNvPr id="22" name="Text 16"/>
          <p:cNvSpPr/>
          <p:nvPr/>
        </p:nvSpPr>
        <p:spPr>
          <a:xfrm>
            <a:off x="7040880" y="2286000"/>
            <a:ext cx="14630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Tools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7"/>
          <p:cNvSpPr/>
          <p:nvPr/>
        </p:nvSpPr>
        <p:spPr>
          <a:xfrm>
            <a:off x="7040880" y="2560320"/>
            <a:ext cx="146304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Executes actions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Shape 18"/>
          <p:cNvSpPr/>
          <p:nvPr/>
        </p:nvSpPr>
        <p:spPr>
          <a:xfrm>
            <a:off x="3017520" y="3657600"/>
            <a:ext cx="3108960" cy="822960"/>
          </a:xfrm>
          <a:prstGeom prst="rect">
            <a:avLst/>
          </a:prstGeom>
          <a:solidFill>
            <a:srgbClr val="FCE7F3"/>
          </a:solidFill>
          <a:ln/>
          <a:effectLst>
            <a:outerShdw blurRad="50800" dist="25400" dir="8100000" algn="bl" rotWithShape="0">
              <a:srgbClr val="000000">
                <a:alpha val="8000"/>
              </a:srgbClr>
            </a:outerShdw>
          </a:effectLst>
        </p:spPr>
      </p:sp>
      <p:sp>
        <p:nvSpPr>
          <p:cNvPr id="25" name="Shape 19"/>
          <p:cNvSpPr/>
          <p:nvPr/>
        </p:nvSpPr>
        <p:spPr>
          <a:xfrm>
            <a:off x="3108960" y="3721608"/>
            <a:ext cx="457200" cy="457200"/>
          </a:xfrm>
          <a:prstGeom prst="ellipse">
            <a:avLst/>
          </a:prstGeom>
          <a:solidFill>
            <a:srgbClr val="EF4444"/>
          </a:solidFill>
          <a:ln/>
        </p:spPr>
      </p:sp>
      <p:pic>
        <p:nvPicPr>
          <p:cNvPr id="26" name="Image 4" descr="preencoded.png"/>
          <p:cNvPicPr>
            <a:picLocks noChangeAspect="1"/>
          </p:cNvPicPr>
          <p:nvPr/>
        </p:nvPicPr>
        <p:blipFill>
          <a:blip r:embed="rId7"/>
          <a:stretch>
            <a:fillRect/>
          </a:stretch>
        </p:blipFill>
        <p:spPr>
          <a:xfrm>
            <a:off x="3209544" y="3822192"/>
            <a:ext cx="256032" cy="256032"/>
          </a:xfrm>
          <a:prstGeom prst="rect">
            <a:avLst/>
          </a:prstGeom>
        </p:spPr>
      </p:pic>
      <p:sp>
        <p:nvSpPr>
          <p:cNvPr id="27" name="Text 20"/>
          <p:cNvSpPr/>
          <p:nvPr/>
        </p:nvSpPr>
        <p:spPr>
          <a:xfrm>
            <a:off x="3657600" y="3749040"/>
            <a:ext cx="22860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Supervisor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1"/>
          <p:cNvSpPr/>
          <p:nvPr/>
        </p:nvSpPr>
        <p:spPr>
          <a:xfrm>
            <a:off x="3657600" y="4023360"/>
            <a:ext cx="228600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334155"/>
                </a:solidFill>
                <a:effectLst/>
                <a:uLnTx/>
                <a:uFillTx/>
                <a:latin typeface="Calibri" pitchFamily="34" charset="0"/>
                <a:ea typeface="Calibri" pitchFamily="34" charset="-122"/>
                <a:cs typeface="Calibri" pitchFamily="34" charset="-120"/>
              </a:rPr>
              <a:t>Validates, audits &amp; controls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 name="Image 5" descr="preencoded.png"/>
          <p:cNvPicPr>
            <a:picLocks noChangeAspect="1"/>
          </p:cNvPicPr>
          <p:nvPr/>
        </p:nvPicPr>
        <p:blipFill>
          <a:blip r:embed="rId8"/>
          <a:stretch>
            <a:fillRect/>
          </a:stretch>
        </p:blipFill>
        <p:spPr>
          <a:xfrm>
            <a:off x="4434840" y="1783080"/>
            <a:ext cx="228600" cy="228600"/>
          </a:xfrm>
          <a:prstGeom prst="rect">
            <a:avLst/>
          </a:prstGeom>
        </p:spPr>
      </p:pic>
      <p:pic>
        <p:nvPicPr>
          <p:cNvPr id="30" name="Image 6" descr="preencoded.png"/>
          <p:cNvPicPr>
            <a:picLocks noChangeAspect="1"/>
          </p:cNvPicPr>
          <p:nvPr/>
        </p:nvPicPr>
        <p:blipFill>
          <a:blip r:embed="rId8"/>
          <a:stretch>
            <a:fillRect/>
          </a:stretch>
        </p:blipFill>
        <p:spPr>
          <a:xfrm>
            <a:off x="2788920" y="2514600"/>
            <a:ext cx="228600" cy="228600"/>
          </a:xfrm>
          <a:prstGeom prst="rect">
            <a:avLst/>
          </a:prstGeom>
        </p:spPr>
      </p:pic>
      <p:pic>
        <p:nvPicPr>
          <p:cNvPr id="31" name="Image 7" descr="preencoded.png"/>
          <p:cNvPicPr>
            <a:picLocks noChangeAspect="1"/>
          </p:cNvPicPr>
          <p:nvPr/>
        </p:nvPicPr>
        <p:blipFill>
          <a:blip r:embed="rId8"/>
          <a:stretch>
            <a:fillRect/>
          </a:stretch>
        </p:blipFill>
        <p:spPr>
          <a:xfrm>
            <a:off x="6126480" y="2514600"/>
            <a:ext cx="228600" cy="228600"/>
          </a:xfrm>
          <a:prstGeom prst="rect">
            <a:avLst/>
          </a:prstGeom>
        </p:spPr>
      </p:pic>
      <p:pic>
        <p:nvPicPr>
          <p:cNvPr id="32" name="Image 8" descr="preencoded.png"/>
          <p:cNvPicPr>
            <a:picLocks noChangeAspect="1"/>
          </p:cNvPicPr>
          <p:nvPr/>
        </p:nvPicPr>
        <p:blipFill>
          <a:blip r:embed="rId8"/>
          <a:stretch>
            <a:fillRect/>
          </a:stretch>
        </p:blipFill>
        <p:spPr>
          <a:xfrm>
            <a:off x="4434840" y="3429000"/>
            <a:ext cx="228600" cy="228600"/>
          </a:xfrm>
          <a:prstGeom prst="rect">
            <a:avLst/>
          </a:prstGeom>
        </p:spPr>
      </p:pic>
      <p:sp>
        <p:nvSpPr>
          <p:cNvPr id="33" name="Shape 22"/>
          <p:cNvSpPr/>
          <p:nvPr/>
        </p:nvSpPr>
        <p:spPr>
          <a:xfrm>
            <a:off x="457200" y="4617720"/>
            <a:ext cx="8229600" cy="411480"/>
          </a:xfrm>
          <a:prstGeom prst="rect">
            <a:avLst/>
          </a:prstGeom>
          <a:solidFill>
            <a:srgbClr val="0F172A"/>
          </a:solidFill>
          <a:ln/>
        </p:spPr>
      </p:sp>
      <p:sp>
        <p:nvSpPr>
          <p:cNvPr id="34" name="Text 23"/>
          <p:cNvSpPr/>
          <p:nvPr/>
        </p:nvSpPr>
        <p:spPr>
          <a:xfrm>
            <a:off x="640080" y="4617720"/>
            <a:ext cx="7863840" cy="4114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22D3EE"/>
                </a:solidFill>
                <a:effectLst/>
                <a:uLnTx/>
                <a:uFillTx/>
                <a:latin typeface="Calibri" pitchFamily="34" charset="0"/>
                <a:ea typeface="Calibri" pitchFamily="34" charset="-122"/>
                <a:cs typeface="Calibri" pitchFamily="34" charset="-120"/>
              </a:rPr>
              <a:t>User Request → Brain reasons → Orchestrator loops → Tools execute → Memory stores → Supervisor validates → Result delivered</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sp>
      <p:sp>
        <p:nvSpPr>
          <p:cNvPr id="3" name="Text 1"/>
          <p:cNvSpPr/>
          <p:nvPr/>
        </p:nvSpPr>
        <p:spPr>
          <a:xfrm>
            <a:off x="457200" y="274320"/>
            <a:ext cx="8229600"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6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The 5 Components of Agentic AI — At a Glance</a:t>
            </a:r>
            <a:endPar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hape 2"/>
          <p:cNvSpPr/>
          <p:nvPr/>
        </p:nvSpPr>
        <p:spPr>
          <a:xfrm>
            <a:off x="228600" y="1005840"/>
            <a:ext cx="1645920" cy="3291840"/>
          </a:xfrm>
          <a:prstGeom prst="rect">
            <a:avLst/>
          </a:prstGeom>
          <a:solidFill>
            <a:srgbClr val="1E293B"/>
          </a:solidFill>
          <a:ln/>
          <a:effectLst>
            <a:outerShdw blurRad="50800" dist="25400" dir="8100000" algn="bl" rotWithShape="0">
              <a:srgbClr val="000000">
                <a:alpha val="8000"/>
              </a:srgbClr>
            </a:outerShdw>
          </a:effectLst>
        </p:spPr>
      </p:sp>
      <p:sp>
        <p:nvSpPr>
          <p:cNvPr id="5" name="Shape 3"/>
          <p:cNvSpPr/>
          <p:nvPr/>
        </p:nvSpPr>
        <p:spPr>
          <a:xfrm>
            <a:off x="228600" y="1005840"/>
            <a:ext cx="1645920" cy="54864"/>
          </a:xfrm>
          <a:prstGeom prst="rect">
            <a:avLst/>
          </a:prstGeom>
          <a:solidFill>
            <a:srgbClr val="8B5CF6"/>
          </a:solidFill>
          <a:ln/>
        </p:spPr>
      </p:sp>
      <p:sp>
        <p:nvSpPr>
          <p:cNvPr id="6" name="Shape 4"/>
          <p:cNvSpPr/>
          <p:nvPr/>
        </p:nvSpPr>
        <p:spPr>
          <a:xfrm>
            <a:off x="685800" y="1188720"/>
            <a:ext cx="640080" cy="640080"/>
          </a:xfrm>
          <a:prstGeom prst="ellipse">
            <a:avLst/>
          </a:prstGeom>
          <a:solidFill>
            <a:srgbClr val="8B5CF6"/>
          </a:solidFill>
          <a:ln/>
        </p:spPr>
      </p:sp>
      <p:pic>
        <p:nvPicPr>
          <p:cNvPr id="7" name="Image 0" descr="preencoded.png"/>
          <p:cNvPicPr>
            <a:picLocks noChangeAspect="1"/>
          </p:cNvPicPr>
          <p:nvPr/>
        </p:nvPicPr>
        <p:blipFill>
          <a:blip r:embed="rId3"/>
          <a:stretch>
            <a:fillRect/>
          </a:stretch>
        </p:blipFill>
        <p:spPr>
          <a:xfrm>
            <a:off x="826618" y="1329538"/>
            <a:ext cx="358445" cy="358445"/>
          </a:xfrm>
          <a:prstGeom prst="rect">
            <a:avLst/>
          </a:prstGeom>
        </p:spPr>
      </p:pic>
      <p:sp>
        <p:nvSpPr>
          <p:cNvPr id="8" name="Text 5"/>
          <p:cNvSpPr/>
          <p:nvPr/>
        </p:nvSpPr>
        <p:spPr>
          <a:xfrm>
            <a:off x="228600" y="1965960"/>
            <a:ext cx="16459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8B5CF6"/>
                </a:solidFill>
                <a:effectLst/>
                <a:uLnTx/>
                <a:uFillTx/>
                <a:latin typeface="Trebuchet MS" pitchFamily="34" charset="0"/>
                <a:ea typeface="Trebuchet MS" pitchFamily="34" charset="-122"/>
                <a:cs typeface="Trebuchet MS" pitchFamily="34" charset="-120"/>
              </a:rPr>
              <a:t>Brain (LLM)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p:nvPr/>
        </p:nvSpPr>
        <p:spPr>
          <a:xfrm>
            <a:off x="320040" y="2331720"/>
            <a:ext cx="14630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The reasoning engine.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Interprets, plans, and decides.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365760" y="3108960"/>
            <a:ext cx="1371600" cy="320040"/>
          </a:xfrm>
          <a:prstGeom prst="rect">
            <a:avLst/>
          </a:prstGeom>
          <a:solidFill>
            <a:srgbClr val="8B5CF6"/>
          </a:solidFill>
          <a:ln/>
        </p:spPr>
      </p:sp>
      <p:sp>
        <p:nvSpPr>
          <p:cNvPr id="11" name="Text 8"/>
          <p:cNvSpPr/>
          <p:nvPr/>
        </p:nvSpPr>
        <p:spPr>
          <a:xfrm>
            <a:off x="365760" y="3108960"/>
            <a:ext cx="13716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Like the CEO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2011680" y="1005840"/>
            <a:ext cx="1645920" cy="3291840"/>
          </a:xfrm>
          <a:prstGeom prst="rect">
            <a:avLst/>
          </a:prstGeom>
          <a:solidFill>
            <a:srgbClr val="1E293B"/>
          </a:solidFill>
          <a:ln/>
          <a:effectLst>
            <a:outerShdw blurRad="50800" dist="25400" dir="8100000" algn="bl" rotWithShape="0">
              <a:srgbClr val="000000">
                <a:alpha val="8000"/>
              </a:srgbClr>
            </a:outerShdw>
          </a:effectLst>
        </p:spPr>
      </p:sp>
      <p:sp>
        <p:nvSpPr>
          <p:cNvPr id="13" name="Shape 10"/>
          <p:cNvSpPr/>
          <p:nvPr/>
        </p:nvSpPr>
        <p:spPr>
          <a:xfrm>
            <a:off x="2011680" y="1005840"/>
            <a:ext cx="1645920" cy="54864"/>
          </a:xfrm>
          <a:prstGeom prst="rect">
            <a:avLst/>
          </a:prstGeom>
          <a:solidFill>
            <a:srgbClr val="0891B2"/>
          </a:solidFill>
          <a:ln/>
        </p:spPr>
      </p:sp>
      <p:sp>
        <p:nvSpPr>
          <p:cNvPr id="14" name="Shape 11"/>
          <p:cNvSpPr/>
          <p:nvPr/>
        </p:nvSpPr>
        <p:spPr>
          <a:xfrm>
            <a:off x="2468880" y="1188720"/>
            <a:ext cx="640080" cy="640080"/>
          </a:xfrm>
          <a:prstGeom prst="ellipse">
            <a:avLst/>
          </a:prstGeom>
          <a:solidFill>
            <a:srgbClr val="0891B2"/>
          </a:solidFill>
          <a:ln/>
        </p:spPr>
      </p:sp>
      <p:pic>
        <p:nvPicPr>
          <p:cNvPr id="15" name="Image 1" descr="preencoded.png"/>
          <p:cNvPicPr>
            <a:picLocks noChangeAspect="1"/>
          </p:cNvPicPr>
          <p:nvPr/>
        </p:nvPicPr>
        <p:blipFill>
          <a:blip r:embed="rId4"/>
          <a:stretch>
            <a:fillRect/>
          </a:stretch>
        </p:blipFill>
        <p:spPr>
          <a:xfrm>
            <a:off x="2609698" y="1329538"/>
            <a:ext cx="358445" cy="358445"/>
          </a:xfrm>
          <a:prstGeom prst="rect">
            <a:avLst/>
          </a:prstGeom>
        </p:spPr>
      </p:pic>
      <p:sp>
        <p:nvSpPr>
          <p:cNvPr id="16" name="Text 12"/>
          <p:cNvSpPr/>
          <p:nvPr/>
        </p:nvSpPr>
        <p:spPr>
          <a:xfrm>
            <a:off x="2011680" y="1965960"/>
            <a:ext cx="16459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891B2"/>
                </a:solidFill>
                <a:effectLst/>
                <a:uLnTx/>
                <a:uFillTx/>
                <a:latin typeface="Trebuchet MS" pitchFamily="34" charset="0"/>
                <a:ea typeface="Trebuchet MS" pitchFamily="34" charset="-122"/>
                <a:cs typeface="Trebuchet MS" pitchFamily="34" charset="-120"/>
              </a:rPr>
              <a:t>Orchestrator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3"/>
          <p:cNvSpPr/>
          <p:nvPr/>
        </p:nvSpPr>
        <p:spPr>
          <a:xfrm>
            <a:off x="2103120" y="2331720"/>
            <a:ext cx="14630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The execution engine.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Manages the agent loop.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4"/>
          <p:cNvSpPr/>
          <p:nvPr/>
        </p:nvSpPr>
        <p:spPr>
          <a:xfrm>
            <a:off x="2148840" y="3108960"/>
            <a:ext cx="1371600" cy="320040"/>
          </a:xfrm>
          <a:prstGeom prst="rect">
            <a:avLst/>
          </a:prstGeom>
          <a:solidFill>
            <a:srgbClr val="0891B2"/>
          </a:solidFill>
          <a:ln/>
        </p:spPr>
      </p:sp>
      <p:sp>
        <p:nvSpPr>
          <p:cNvPr id="19" name="Text 15"/>
          <p:cNvSpPr/>
          <p:nvPr/>
        </p:nvSpPr>
        <p:spPr>
          <a:xfrm>
            <a:off x="2148840" y="3108960"/>
            <a:ext cx="13716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Like the COO</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Shape 16"/>
          <p:cNvSpPr/>
          <p:nvPr/>
        </p:nvSpPr>
        <p:spPr>
          <a:xfrm>
            <a:off x="3794760" y="1005840"/>
            <a:ext cx="1645920" cy="3291840"/>
          </a:xfrm>
          <a:prstGeom prst="rect">
            <a:avLst/>
          </a:prstGeom>
          <a:solidFill>
            <a:srgbClr val="1E293B"/>
          </a:solidFill>
          <a:ln/>
          <a:effectLst>
            <a:outerShdw blurRad="50800" dist="25400" dir="8100000" algn="bl" rotWithShape="0">
              <a:srgbClr val="000000">
                <a:alpha val="8000"/>
              </a:srgbClr>
            </a:outerShdw>
          </a:effectLst>
        </p:spPr>
      </p:sp>
      <p:sp>
        <p:nvSpPr>
          <p:cNvPr id="21" name="Shape 17"/>
          <p:cNvSpPr/>
          <p:nvPr/>
        </p:nvSpPr>
        <p:spPr>
          <a:xfrm>
            <a:off x="3794760" y="1005840"/>
            <a:ext cx="1645920" cy="54864"/>
          </a:xfrm>
          <a:prstGeom prst="rect">
            <a:avLst/>
          </a:prstGeom>
          <a:solidFill>
            <a:srgbClr val="F59E0B"/>
          </a:solidFill>
          <a:ln/>
        </p:spPr>
      </p:sp>
      <p:sp>
        <p:nvSpPr>
          <p:cNvPr id="22" name="Shape 18"/>
          <p:cNvSpPr/>
          <p:nvPr/>
        </p:nvSpPr>
        <p:spPr>
          <a:xfrm>
            <a:off x="4251960" y="1188720"/>
            <a:ext cx="640080" cy="640080"/>
          </a:xfrm>
          <a:prstGeom prst="ellipse">
            <a:avLst/>
          </a:prstGeom>
          <a:solidFill>
            <a:srgbClr val="F59E0B"/>
          </a:solidFill>
          <a:ln/>
        </p:spPr>
      </p:sp>
      <p:pic>
        <p:nvPicPr>
          <p:cNvPr id="23" name="Image 2" descr="preencoded.png"/>
          <p:cNvPicPr>
            <a:picLocks noChangeAspect="1"/>
          </p:cNvPicPr>
          <p:nvPr/>
        </p:nvPicPr>
        <p:blipFill>
          <a:blip r:embed="rId5"/>
          <a:stretch>
            <a:fillRect/>
          </a:stretch>
        </p:blipFill>
        <p:spPr>
          <a:xfrm>
            <a:off x="4392778" y="1329538"/>
            <a:ext cx="358445" cy="358445"/>
          </a:xfrm>
          <a:prstGeom prst="rect">
            <a:avLst/>
          </a:prstGeom>
        </p:spPr>
      </p:pic>
      <p:sp>
        <p:nvSpPr>
          <p:cNvPr id="24" name="Text 19"/>
          <p:cNvSpPr/>
          <p:nvPr/>
        </p:nvSpPr>
        <p:spPr>
          <a:xfrm>
            <a:off x="3794760" y="1965960"/>
            <a:ext cx="16459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F59E0B"/>
                </a:solidFill>
                <a:effectLst/>
                <a:uLnTx/>
                <a:uFillTx/>
                <a:latin typeface="Trebuchet MS" pitchFamily="34" charset="0"/>
                <a:ea typeface="Trebuchet MS" pitchFamily="34" charset="-122"/>
                <a:cs typeface="Trebuchet MS" pitchFamily="34" charset="-120"/>
              </a:rPr>
              <a:t>Tools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0"/>
          <p:cNvSpPr/>
          <p:nvPr/>
        </p:nvSpPr>
        <p:spPr>
          <a:xfrm>
            <a:off x="3886200" y="2331720"/>
            <a:ext cx="14630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The action layer.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Connects to the real world.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Shape 21"/>
          <p:cNvSpPr/>
          <p:nvPr/>
        </p:nvSpPr>
        <p:spPr>
          <a:xfrm>
            <a:off x="3931920" y="3108960"/>
            <a:ext cx="1371600" cy="320040"/>
          </a:xfrm>
          <a:prstGeom prst="rect">
            <a:avLst/>
          </a:prstGeom>
          <a:solidFill>
            <a:srgbClr val="F59E0B"/>
          </a:solidFill>
          <a:ln/>
        </p:spPr>
      </p:sp>
      <p:sp>
        <p:nvSpPr>
          <p:cNvPr id="27" name="Text 22"/>
          <p:cNvSpPr/>
          <p:nvPr/>
        </p:nvSpPr>
        <p:spPr>
          <a:xfrm>
            <a:off x="3931920" y="3108960"/>
            <a:ext cx="13716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Like the employees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Shape 23"/>
          <p:cNvSpPr/>
          <p:nvPr/>
        </p:nvSpPr>
        <p:spPr>
          <a:xfrm>
            <a:off x="5577840" y="1005840"/>
            <a:ext cx="1645920" cy="3291840"/>
          </a:xfrm>
          <a:prstGeom prst="rect">
            <a:avLst/>
          </a:prstGeom>
          <a:solidFill>
            <a:srgbClr val="1E293B"/>
          </a:solidFill>
          <a:ln/>
          <a:effectLst>
            <a:outerShdw blurRad="50800" dist="25400" dir="8100000" algn="bl" rotWithShape="0">
              <a:srgbClr val="000000">
                <a:alpha val="8000"/>
              </a:srgbClr>
            </a:outerShdw>
          </a:effectLst>
        </p:spPr>
      </p:sp>
      <p:sp>
        <p:nvSpPr>
          <p:cNvPr id="29" name="Shape 24"/>
          <p:cNvSpPr/>
          <p:nvPr/>
        </p:nvSpPr>
        <p:spPr>
          <a:xfrm>
            <a:off x="5577840" y="1005840"/>
            <a:ext cx="1645920" cy="54864"/>
          </a:xfrm>
          <a:prstGeom prst="rect">
            <a:avLst/>
          </a:prstGeom>
          <a:solidFill>
            <a:srgbClr val="10B981"/>
          </a:solidFill>
          <a:ln/>
        </p:spPr>
      </p:sp>
      <p:sp>
        <p:nvSpPr>
          <p:cNvPr id="30" name="Shape 25"/>
          <p:cNvSpPr/>
          <p:nvPr/>
        </p:nvSpPr>
        <p:spPr>
          <a:xfrm>
            <a:off x="6035040" y="1188720"/>
            <a:ext cx="640080" cy="640080"/>
          </a:xfrm>
          <a:prstGeom prst="ellipse">
            <a:avLst/>
          </a:prstGeom>
          <a:solidFill>
            <a:srgbClr val="10B981"/>
          </a:solidFill>
          <a:ln/>
        </p:spPr>
      </p:sp>
      <p:pic>
        <p:nvPicPr>
          <p:cNvPr id="31" name="Image 3" descr="preencoded.png"/>
          <p:cNvPicPr>
            <a:picLocks noChangeAspect="1"/>
          </p:cNvPicPr>
          <p:nvPr/>
        </p:nvPicPr>
        <p:blipFill>
          <a:blip r:embed="rId6"/>
          <a:stretch>
            <a:fillRect/>
          </a:stretch>
        </p:blipFill>
        <p:spPr>
          <a:xfrm>
            <a:off x="6175858" y="1329538"/>
            <a:ext cx="358445" cy="358445"/>
          </a:xfrm>
          <a:prstGeom prst="rect">
            <a:avLst/>
          </a:prstGeom>
        </p:spPr>
      </p:pic>
      <p:sp>
        <p:nvSpPr>
          <p:cNvPr id="32" name="Text 26"/>
          <p:cNvSpPr/>
          <p:nvPr/>
        </p:nvSpPr>
        <p:spPr>
          <a:xfrm>
            <a:off x="5577840" y="1965960"/>
            <a:ext cx="16459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0B981"/>
                </a:solidFill>
                <a:effectLst/>
                <a:uLnTx/>
                <a:uFillTx/>
                <a:latin typeface="Trebuchet MS" pitchFamily="34" charset="0"/>
                <a:ea typeface="Trebuchet MS" pitchFamily="34" charset="-122"/>
                <a:cs typeface="Trebuchet MS" pitchFamily="34" charset="-120"/>
              </a:rPr>
              <a:t>Memory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7"/>
          <p:cNvSpPr/>
          <p:nvPr/>
        </p:nvSpPr>
        <p:spPr>
          <a:xfrm>
            <a:off x="5669280" y="2331720"/>
            <a:ext cx="14630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The knowledge base.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Retains context over time.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8"/>
          <p:cNvSpPr/>
          <p:nvPr/>
        </p:nvSpPr>
        <p:spPr>
          <a:xfrm>
            <a:off x="5715000" y="3108960"/>
            <a:ext cx="1371600" cy="320040"/>
          </a:xfrm>
          <a:prstGeom prst="rect">
            <a:avLst/>
          </a:prstGeom>
          <a:solidFill>
            <a:srgbClr val="10B981"/>
          </a:solidFill>
          <a:ln/>
        </p:spPr>
      </p:sp>
      <p:sp>
        <p:nvSpPr>
          <p:cNvPr id="35" name="Text 29"/>
          <p:cNvSpPr/>
          <p:nvPr/>
        </p:nvSpPr>
        <p:spPr>
          <a:xfrm>
            <a:off x="5715000" y="3108960"/>
            <a:ext cx="13716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Like the filing cabinet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Shape 30"/>
          <p:cNvSpPr/>
          <p:nvPr/>
        </p:nvSpPr>
        <p:spPr>
          <a:xfrm>
            <a:off x="7360920" y="1005840"/>
            <a:ext cx="1645920" cy="3291840"/>
          </a:xfrm>
          <a:prstGeom prst="rect">
            <a:avLst/>
          </a:prstGeom>
          <a:solidFill>
            <a:srgbClr val="1E293B"/>
          </a:solidFill>
          <a:ln/>
          <a:effectLst>
            <a:outerShdw blurRad="50800" dist="25400" dir="8100000" algn="bl" rotWithShape="0">
              <a:srgbClr val="000000">
                <a:alpha val="8000"/>
              </a:srgbClr>
            </a:outerShdw>
          </a:effectLst>
        </p:spPr>
      </p:sp>
      <p:sp>
        <p:nvSpPr>
          <p:cNvPr id="37" name="Shape 31"/>
          <p:cNvSpPr/>
          <p:nvPr/>
        </p:nvSpPr>
        <p:spPr>
          <a:xfrm>
            <a:off x="7360920" y="1005840"/>
            <a:ext cx="1645920" cy="54864"/>
          </a:xfrm>
          <a:prstGeom prst="rect">
            <a:avLst/>
          </a:prstGeom>
          <a:solidFill>
            <a:srgbClr val="EF4444"/>
          </a:solidFill>
          <a:ln/>
        </p:spPr>
      </p:sp>
      <p:sp>
        <p:nvSpPr>
          <p:cNvPr id="38" name="Shape 32"/>
          <p:cNvSpPr/>
          <p:nvPr/>
        </p:nvSpPr>
        <p:spPr>
          <a:xfrm>
            <a:off x="7818120" y="1188720"/>
            <a:ext cx="640080" cy="640080"/>
          </a:xfrm>
          <a:prstGeom prst="ellipse">
            <a:avLst/>
          </a:prstGeom>
          <a:solidFill>
            <a:srgbClr val="EF4444"/>
          </a:solidFill>
          <a:ln/>
        </p:spPr>
      </p:sp>
      <p:pic>
        <p:nvPicPr>
          <p:cNvPr id="39" name="Image 4" descr="preencoded.png"/>
          <p:cNvPicPr>
            <a:picLocks noChangeAspect="1"/>
          </p:cNvPicPr>
          <p:nvPr/>
        </p:nvPicPr>
        <p:blipFill>
          <a:blip r:embed="rId7"/>
          <a:stretch>
            <a:fillRect/>
          </a:stretch>
        </p:blipFill>
        <p:spPr>
          <a:xfrm>
            <a:off x="7958938" y="1329538"/>
            <a:ext cx="358445" cy="358445"/>
          </a:xfrm>
          <a:prstGeom prst="rect">
            <a:avLst/>
          </a:prstGeom>
        </p:spPr>
      </p:pic>
      <p:sp>
        <p:nvSpPr>
          <p:cNvPr id="40" name="Text 33"/>
          <p:cNvSpPr/>
          <p:nvPr/>
        </p:nvSpPr>
        <p:spPr>
          <a:xfrm>
            <a:off x="7360920" y="1965960"/>
            <a:ext cx="164592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EF4444"/>
                </a:solidFill>
                <a:effectLst/>
                <a:uLnTx/>
                <a:uFillTx/>
                <a:latin typeface="Trebuchet MS" pitchFamily="34" charset="0"/>
                <a:ea typeface="Trebuchet MS" pitchFamily="34" charset="-122"/>
                <a:cs typeface="Trebuchet MS" pitchFamily="34" charset="-120"/>
              </a:rPr>
              <a:t>Supervisor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4"/>
          <p:cNvSpPr/>
          <p:nvPr/>
        </p:nvSpPr>
        <p:spPr>
          <a:xfrm>
            <a:off x="7452360" y="2331720"/>
            <a:ext cx="1463040"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The safety layer.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94A3B8"/>
                </a:solidFill>
                <a:effectLst/>
                <a:uLnTx/>
                <a:uFillTx/>
                <a:latin typeface="Calibri" pitchFamily="34" charset="0"/>
                <a:ea typeface="Calibri" pitchFamily="34" charset="-122"/>
                <a:cs typeface="Calibri" pitchFamily="34" charset="-120"/>
              </a:rPr>
              <a:t>Validates and controls.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Shape 35"/>
          <p:cNvSpPr/>
          <p:nvPr/>
        </p:nvSpPr>
        <p:spPr>
          <a:xfrm>
            <a:off x="7498080" y="3108960"/>
            <a:ext cx="1371600" cy="320040"/>
          </a:xfrm>
          <a:prstGeom prst="rect">
            <a:avLst/>
          </a:prstGeom>
          <a:solidFill>
            <a:srgbClr val="EF4444"/>
          </a:solidFill>
          <a:ln/>
        </p:spPr>
      </p:sp>
      <p:sp>
        <p:nvSpPr>
          <p:cNvPr id="43" name="Text 36"/>
          <p:cNvSpPr/>
          <p:nvPr/>
        </p:nvSpPr>
        <p:spPr>
          <a:xfrm>
            <a:off x="7498080" y="3108960"/>
            <a:ext cx="1371600" cy="3200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dirty="0">
                <a:ln>
                  <a:noFill/>
                </a:ln>
                <a:solidFill>
                  <a:srgbClr val="FFFFFF"/>
                </a:solidFill>
                <a:effectLst/>
                <a:uLnTx/>
                <a:uFillTx/>
                <a:latin typeface="Trebuchet MS" pitchFamily="34" charset="0"/>
                <a:ea typeface="Trebuchet MS" pitchFamily="34" charset="-122"/>
                <a:cs typeface="Trebuchet MS" pitchFamily="34" charset="-120"/>
              </a:rPr>
              <a:t>Like the compliance team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37"/>
          <p:cNvSpPr/>
          <p:nvPr/>
        </p:nvSpPr>
        <p:spPr>
          <a:xfrm>
            <a:off x="731520" y="4572000"/>
            <a:ext cx="768096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1" u="none" strike="noStrike" kern="1200" cap="none" spc="0" normalizeH="0" baseline="0" noProof="0" dirty="0">
                <a:ln>
                  <a:noFill/>
                </a:ln>
                <a:solidFill>
                  <a:srgbClr val="22D3EE"/>
                </a:solidFill>
                <a:effectLst/>
                <a:uLnTx/>
                <a:uFillTx/>
                <a:latin typeface="Calibri" pitchFamily="34" charset="0"/>
                <a:ea typeface="Calibri" pitchFamily="34" charset="-122"/>
                <a:cs typeface="Calibri" pitchFamily="34" charset="-120"/>
              </a:rPr>
              <a:t>Remove any one component and the system breaks. Together, they create truly autonomous AI.</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38"/>
          <p:cNvSpPr/>
          <p:nvPr/>
        </p:nvSpPr>
        <p:spPr>
          <a:xfrm>
            <a:off x="0" y="5070348"/>
            <a:ext cx="9144000" cy="73152"/>
          </a:xfrm>
          <a:prstGeom prst="rect">
            <a:avLst/>
          </a:prstGeom>
          <a:solidFill>
            <a:srgbClr val="0891B2"/>
          </a:solidFill>
          <a:ln/>
        </p:spPr>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AI Agents vs Agentic AI — What's the Difference?</a:t>
            </a:r>
            <a:endParaRPr lang="en-US" sz="2200" dirty="0"/>
          </a:p>
        </p:txBody>
      </p:sp>
      <p:sp>
        <p:nvSpPr>
          <p:cNvPr id="4" name="Shape 2"/>
          <p:cNvSpPr/>
          <p:nvPr/>
        </p:nvSpPr>
        <p:spPr>
          <a:xfrm>
            <a:off x="731520" y="1097280"/>
            <a:ext cx="3657600" cy="3474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2194560" y="1280160"/>
            <a:ext cx="640080" cy="640080"/>
          </a:xfrm>
          <a:prstGeom prst="ellipse">
            <a:avLst/>
          </a:prstGeom>
          <a:solidFill>
            <a:srgbClr val="0891B2"/>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2335378" y="1420978"/>
            <a:ext cx="358445" cy="358445"/>
          </a:xfrm>
          <a:prstGeom prst="rect">
            <a:avLst/>
          </a:prstGeom>
        </p:spPr>
      </p:pic>
      <p:sp>
        <p:nvSpPr>
          <p:cNvPr id="7" name="Text 4"/>
          <p:cNvSpPr/>
          <p:nvPr/>
        </p:nvSpPr>
        <p:spPr>
          <a:xfrm>
            <a:off x="731520" y="2103120"/>
            <a:ext cx="3657600" cy="365760"/>
          </a:xfrm>
          <a:prstGeom prst="rect">
            <a:avLst/>
          </a:prstGeom>
          <a:noFill/>
          <a:ln/>
        </p:spPr>
        <p:txBody>
          <a:bodyPr wrap="square" lIns="0" tIns="0" rIns="0" bIns="0" rtlCol="0" anchor="ctr"/>
          <a:lstStyle/>
          <a:p>
            <a:pPr marL="0" indent="0" algn="ctr">
              <a:buNone/>
            </a:pPr>
            <a:r>
              <a:rPr lang="en-US" sz="1800" b="1" dirty="0">
                <a:solidFill>
                  <a:srgbClr val="0891B2"/>
                </a:solidFill>
                <a:latin typeface="Trebuchet MS" pitchFamily="34" charset="0"/>
                <a:ea typeface="Trebuchet MS" pitchFamily="34" charset="-122"/>
                <a:cs typeface="Trebuchet MS" pitchFamily="34" charset="-120"/>
              </a:rPr>
              <a:t>AI Agents</a:t>
            </a:r>
            <a:endParaRPr lang="en-US" sz="1800" dirty="0"/>
          </a:p>
        </p:txBody>
      </p:sp>
      <p:pic>
        <p:nvPicPr>
          <p:cNvPr id="8" name="Image 1" descr="preencoded.png"/>
          <p:cNvPicPr>
            <a:picLocks noChangeAspect="1"/>
          </p:cNvPicPr>
          <p:nvPr/>
        </p:nvPicPr>
        <p:blipFill>
          <a:blip r:embed="rId4"/>
          <a:stretch>
            <a:fillRect/>
          </a:stretch>
        </p:blipFill>
        <p:spPr>
          <a:xfrm>
            <a:off x="914400" y="2606040"/>
            <a:ext cx="201168" cy="201168"/>
          </a:xfrm>
          <a:prstGeom prst="rect">
            <a:avLst/>
          </a:prstGeom>
        </p:spPr>
      </p:pic>
      <p:sp>
        <p:nvSpPr>
          <p:cNvPr id="9" name="Text 5"/>
          <p:cNvSpPr/>
          <p:nvPr/>
        </p:nvSpPr>
        <p:spPr>
          <a:xfrm>
            <a:off x="1234440" y="2606040"/>
            <a:ext cx="292608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 specific software entity that acts autonomously</a:t>
            </a:r>
            <a:endParaRPr lang="en-US" sz="1100" dirty="0"/>
          </a:p>
        </p:txBody>
      </p:sp>
      <p:pic>
        <p:nvPicPr>
          <p:cNvPr id="10" name="Image 2" descr="preencoded.png"/>
          <p:cNvPicPr>
            <a:picLocks noChangeAspect="1"/>
          </p:cNvPicPr>
          <p:nvPr/>
        </p:nvPicPr>
        <p:blipFill>
          <a:blip r:embed="rId4"/>
          <a:stretch>
            <a:fillRect/>
          </a:stretch>
        </p:blipFill>
        <p:spPr>
          <a:xfrm>
            <a:off x="914400" y="3017520"/>
            <a:ext cx="201168" cy="201168"/>
          </a:xfrm>
          <a:prstGeom prst="rect">
            <a:avLst/>
          </a:prstGeom>
        </p:spPr>
      </p:pic>
      <p:sp>
        <p:nvSpPr>
          <p:cNvPr id="11" name="Text 6"/>
          <p:cNvSpPr/>
          <p:nvPr/>
        </p:nvSpPr>
        <p:spPr>
          <a:xfrm>
            <a:off x="1234440" y="3017520"/>
            <a:ext cx="292608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Has defined tools, memory, and goals</a:t>
            </a:r>
            <a:endParaRPr lang="en-US" sz="1100" dirty="0"/>
          </a:p>
        </p:txBody>
      </p:sp>
      <p:pic>
        <p:nvPicPr>
          <p:cNvPr id="12" name="Image 3" descr="preencoded.png"/>
          <p:cNvPicPr>
            <a:picLocks noChangeAspect="1"/>
          </p:cNvPicPr>
          <p:nvPr/>
        </p:nvPicPr>
        <p:blipFill>
          <a:blip r:embed="rId4"/>
          <a:stretch>
            <a:fillRect/>
          </a:stretch>
        </p:blipFill>
        <p:spPr>
          <a:xfrm>
            <a:off x="914400" y="3429000"/>
            <a:ext cx="201168" cy="201168"/>
          </a:xfrm>
          <a:prstGeom prst="rect">
            <a:avLst/>
          </a:prstGeom>
        </p:spPr>
      </p:pic>
      <p:sp>
        <p:nvSpPr>
          <p:cNvPr id="13" name="Text 7"/>
          <p:cNvSpPr/>
          <p:nvPr/>
        </p:nvSpPr>
        <p:spPr>
          <a:xfrm>
            <a:off x="1234440" y="3429000"/>
            <a:ext cx="292608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Executes a concrete task end-to-end</a:t>
            </a:r>
            <a:endParaRPr lang="en-US" sz="1100" dirty="0"/>
          </a:p>
        </p:txBody>
      </p:sp>
      <p:pic>
        <p:nvPicPr>
          <p:cNvPr id="14" name="Image 4" descr="preencoded.png"/>
          <p:cNvPicPr>
            <a:picLocks noChangeAspect="1"/>
          </p:cNvPicPr>
          <p:nvPr/>
        </p:nvPicPr>
        <p:blipFill>
          <a:blip r:embed="rId4"/>
          <a:stretch>
            <a:fillRect/>
          </a:stretch>
        </p:blipFill>
        <p:spPr>
          <a:xfrm>
            <a:off x="914400" y="3840480"/>
            <a:ext cx="201168" cy="201168"/>
          </a:xfrm>
          <a:prstGeom prst="rect">
            <a:avLst/>
          </a:prstGeom>
        </p:spPr>
      </p:pic>
      <p:sp>
        <p:nvSpPr>
          <p:cNvPr id="15" name="Text 8"/>
          <p:cNvSpPr/>
          <p:nvPr/>
        </p:nvSpPr>
        <p:spPr>
          <a:xfrm>
            <a:off x="1234440" y="3840480"/>
            <a:ext cx="292608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Example: A LangChain agent that books flights</a:t>
            </a:r>
            <a:endParaRPr lang="en-US" sz="1100" dirty="0"/>
          </a:p>
        </p:txBody>
      </p:sp>
      <p:pic>
        <p:nvPicPr>
          <p:cNvPr id="16" name="Image 5" descr="preencoded.png"/>
          <p:cNvPicPr>
            <a:picLocks noChangeAspect="1"/>
          </p:cNvPicPr>
          <p:nvPr/>
        </p:nvPicPr>
        <p:blipFill>
          <a:blip r:embed="rId4"/>
          <a:stretch>
            <a:fillRect/>
          </a:stretch>
        </p:blipFill>
        <p:spPr>
          <a:xfrm>
            <a:off x="914400" y="4251960"/>
            <a:ext cx="201168" cy="201168"/>
          </a:xfrm>
          <a:prstGeom prst="rect">
            <a:avLst/>
          </a:prstGeom>
        </p:spPr>
      </p:pic>
      <p:sp>
        <p:nvSpPr>
          <p:cNvPr id="17" name="Text 9"/>
          <p:cNvSpPr/>
          <p:nvPr/>
        </p:nvSpPr>
        <p:spPr>
          <a:xfrm>
            <a:off x="1234440" y="4251960"/>
            <a:ext cx="292608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The 'what' — the individual autonomous unit</a:t>
            </a:r>
            <a:endParaRPr lang="en-US" sz="1100" dirty="0"/>
          </a:p>
        </p:txBody>
      </p:sp>
      <p:sp>
        <p:nvSpPr>
          <p:cNvPr id="18" name="Shape 10"/>
          <p:cNvSpPr/>
          <p:nvPr/>
        </p:nvSpPr>
        <p:spPr>
          <a:xfrm>
            <a:off x="4754880" y="1097280"/>
            <a:ext cx="3840480" cy="3474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9" name="Shape 11"/>
          <p:cNvSpPr/>
          <p:nvPr/>
        </p:nvSpPr>
        <p:spPr>
          <a:xfrm>
            <a:off x="6309360" y="1280160"/>
            <a:ext cx="640080" cy="640080"/>
          </a:xfrm>
          <a:prstGeom prst="ellipse">
            <a:avLst/>
          </a:prstGeom>
          <a:solidFill>
            <a:srgbClr val="F59E0B"/>
          </a:solidFill>
          <a:ln/>
        </p:spPr>
        <p:txBody>
          <a:bodyPr/>
          <a:lstStyle/>
          <a:p>
            <a:endParaRPr lang="en-US" dirty="0"/>
          </a:p>
        </p:txBody>
      </p:sp>
      <p:pic>
        <p:nvPicPr>
          <p:cNvPr id="20" name="Image 6" descr="preencoded.png"/>
          <p:cNvPicPr>
            <a:picLocks noChangeAspect="1"/>
          </p:cNvPicPr>
          <p:nvPr/>
        </p:nvPicPr>
        <p:blipFill>
          <a:blip r:embed="rId5"/>
          <a:stretch>
            <a:fillRect/>
          </a:stretch>
        </p:blipFill>
        <p:spPr>
          <a:xfrm>
            <a:off x="6450178" y="1420978"/>
            <a:ext cx="358445" cy="358445"/>
          </a:xfrm>
          <a:prstGeom prst="rect">
            <a:avLst/>
          </a:prstGeom>
        </p:spPr>
      </p:pic>
      <p:sp>
        <p:nvSpPr>
          <p:cNvPr id="21" name="Text 12"/>
          <p:cNvSpPr/>
          <p:nvPr/>
        </p:nvSpPr>
        <p:spPr>
          <a:xfrm>
            <a:off x="4754880" y="2103120"/>
            <a:ext cx="3840480" cy="365760"/>
          </a:xfrm>
          <a:prstGeom prst="rect">
            <a:avLst/>
          </a:prstGeom>
          <a:noFill/>
          <a:ln/>
        </p:spPr>
        <p:txBody>
          <a:bodyPr wrap="square" lIns="0" tIns="0" rIns="0" bIns="0" rtlCol="0" anchor="ctr"/>
          <a:lstStyle/>
          <a:p>
            <a:pPr marL="0" indent="0" algn="ctr">
              <a:buNone/>
            </a:pPr>
            <a:r>
              <a:rPr lang="en-US" sz="1800" b="1" dirty="0">
                <a:solidFill>
                  <a:srgbClr val="F59E0B"/>
                </a:solidFill>
                <a:latin typeface="Trebuchet MS" pitchFamily="34" charset="0"/>
                <a:ea typeface="Trebuchet MS" pitchFamily="34" charset="-122"/>
                <a:cs typeface="Trebuchet MS" pitchFamily="34" charset="-120"/>
              </a:rPr>
              <a:t>Agentic AI</a:t>
            </a:r>
            <a:endParaRPr lang="en-US" sz="1800" dirty="0"/>
          </a:p>
        </p:txBody>
      </p:sp>
      <p:pic>
        <p:nvPicPr>
          <p:cNvPr id="22" name="Image 7" descr="preencoded.png"/>
          <p:cNvPicPr>
            <a:picLocks noChangeAspect="1"/>
          </p:cNvPicPr>
          <p:nvPr/>
        </p:nvPicPr>
        <p:blipFill>
          <a:blip r:embed="rId6"/>
          <a:stretch>
            <a:fillRect/>
          </a:stretch>
        </p:blipFill>
        <p:spPr>
          <a:xfrm>
            <a:off x="4937760" y="2606040"/>
            <a:ext cx="201168" cy="201168"/>
          </a:xfrm>
          <a:prstGeom prst="rect">
            <a:avLst/>
          </a:prstGeom>
        </p:spPr>
      </p:pic>
      <p:sp>
        <p:nvSpPr>
          <p:cNvPr id="23" name="Text 13"/>
          <p:cNvSpPr/>
          <p:nvPr/>
        </p:nvSpPr>
        <p:spPr>
          <a:xfrm>
            <a:off x="5257800" y="2606040"/>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 design paradigm for building AI systems</a:t>
            </a:r>
            <a:endParaRPr lang="en-US" sz="1100" dirty="0"/>
          </a:p>
        </p:txBody>
      </p:sp>
      <p:pic>
        <p:nvPicPr>
          <p:cNvPr id="24" name="Image 8" descr="preencoded.png"/>
          <p:cNvPicPr>
            <a:picLocks noChangeAspect="1"/>
          </p:cNvPicPr>
          <p:nvPr/>
        </p:nvPicPr>
        <p:blipFill>
          <a:blip r:embed="rId6"/>
          <a:stretch>
            <a:fillRect/>
          </a:stretch>
        </p:blipFill>
        <p:spPr>
          <a:xfrm>
            <a:off x="4937760" y="3017520"/>
            <a:ext cx="201168" cy="201168"/>
          </a:xfrm>
          <a:prstGeom prst="rect">
            <a:avLst/>
          </a:prstGeom>
        </p:spPr>
      </p:pic>
      <p:sp>
        <p:nvSpPr>
          <p:cNvPr id="25" name="Text 14"/>
          <p:cNvSpPr/>
          <p:nvPr/>
        </p:nvSpPr>
        <p:spPr>
          <a:xfrm>
            <a:off x="5257800" y="3017520"/>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Emphasizes autonomy, adaptability, goal-pursuit</a:t>
            </a:r>
            <a:endParaRPr lang="en-US" sz="1100" dirty="0"/>
          </a:p>
        </p:txBody>
      </p:sp>
      <p:pic>
        <p:nvPicPr>
          <p:cNvPr id="26" name="Image 9" descr="preencoded.png"/>
          <p:cNvPicPr>
            <a:picLocks noChangeAspect="1"/>
          </p:cNvPicPr>
          <p:nvPr/>
        </p:nvPicPr>
        <p:blipFill>
          <a:blip r:embed="rId6"/>
          <a:stretch>
            <a:fillRect/>
          </a:stretch>
        </p:blipFill>
        <p:spPr>
          <a:xfrm>
            <a:off x="4937760" y="3429000"/>
            <a:ext cx="201168" cy="201168"/>
          </a:xfrm>
          <a:prstGeom prst="rect">
            <a:avLst/>
          </a:prstGeom>
        </p:spPr>
      </p:pic>
      <p:sp>
        <p:nvSpPr>
          <p:cNvPr id="27" name="Text 15"/>
          <p:cNvSpPr/>
          <p:nvPr/>
        </p:nvSpPr>
        <p:spPr>
          <a:xfrm>
            <a:off x="5257800" y="3429000"/>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May involve multiple agents collaborating</a:t>
            </a:r>
            <a:endParaRPr lang="en-US" sz="1100" dirty="0"/>
          </a:p>
        </p:txBody>
      </p:sp>
      <p:pic>
        <p:nvPicPr>
          <p:cNvPr id="28" name="Image 10" descr="preencoded.png"/>
          <p:cNvPicPr>
            <a:picLocks noChangeAspect="1"/>
          </p:cNvPicPr>
          <p:nvPr/>
        </p:nvPicPr>
        <p:blipFill>
          <a:blip r:embed="rId6"/>
          <a:stretch>
            <a:fillRect/>
          </a:stretch>
        </p:blipFill>
        <p:spPr>
          <a:xfrm>
            <a:off x="4937760" y="3840480"/>
            <a:ext cx="201168" cy="201168"/>
          </a:xfrm>
          <a:prstGeom prst="rect">
            <a:avLst/>
          </a:prstGeom>
        </p:spPr>
      </p:pic>
      <p:sp>
        <p:nvSpPr>
          <p:cNvPr id="29" name="Text 16"/>
          <p:cNvSpPr/>
          <p:nvPr/>
        </p:nvSpPr>
        <p:spPr>
          <a:xfrm>
            <a:off x="5257800" y="3840480"/>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Example: An agentic workflow orchestrating research</a:t>
            </a:r>
            <a:endParaRPr lang="en-US" sz="1100" dirty="0"/>
          </a:p>
        </p:txBody>
      </p:sp>
      <p:pic>
        <p:nvPicPr>
          <p:cNvPr id="30" name="Image 11" descr="preencoded.png"/>
          <p:cNvPicPr>
            <a:picLocks noChangeAspect="1"/>
          </p:cNvPicPr>
          <p:nvPr/>
        </p:nvPicPr>
        <p:blipFill>
          <a:blip r:embed="rId6"/>
          <a:stretch>
            <a:fillRect/>
          </a:stretch>
        </p:blipFill>
        <p:spPr>
          <a:xfrm>
            <a:off x="4937760" y="4251960"/>
            <a:ext cx="201168" cy="201168"/>
          </a:xfrm>
          <a:prstGeom prst="rect">
            <a:avLst/>
          </a:prstGeom>
        </p:spPr>
      </p:pic>
      <p:sp>
        <p:nvSpPr>
          <p:cNvPr id="31" name="Text 17"/>
          <p:cNvSpPr/>
          <p:nvPr/>
        </p:nvSpPr>
        <p:spPr>
          <a:xfrm>
            <a:off x="5257800" y="4251960"/>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The 'how' — the architectural philosophy</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Single-Agent vs Multi-Agent Systems</a:t>
            </a:r>
            <a:endParaRPr lang="en-US" sz="2200" dirty="0"/>
          </a:p>
        </p:txBody>
      </p:sp>
      <p:sp>
        <p:nvSpPr>
          <p:cNvPr id="4" name="Shape 2"/>
          <p:cNvSpPr/>
          <p:nvPr/>
        </p:nvSpPr>
        <p:spPr>
          <a:xfrm>
            <a:off x="731520" y="1097280"/>
            <a:ext cx="365760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2194560" y="1280160"/>
            <a:ext cx="640080" cy="640080"/>
          </a:xfrm>
          <a:prstGeom prst="ellipse">
            <a:avLst/>
          </a:prstGeom>
          <a:solidFill>
            <a:srgbClr val="0891B2"/>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2335378" y="1420978"/>
            <a:ext cx="358445" cy="358445"/>
          </a:xfrm>
          <a:prstGeom prst="rect">
            <a:avLst/>
          </a:prstGeom>
        </p:spPr>
      </p:pic>
      <p:sp>
        <p:nvSpPr>
          <p:cNvPr id="7" name="Text 4"/>
          <p:cNvSpPr/>
          <p:nvPr/>
        </p:nvSpPr>
        <p:spPr>
          <a:xfrm>
            <a:off x="731520" y="2103120"/>
            <a:ext cx="3657600" cy="365760"/>
          </a:xfrm>
          <a:prstGeom prst="rect">
            <a:avLst/>
          </a:prstGeom>
          <a:noFill/>
          <a:ln/>
        </p:spPr>
        <p:txBody>
          <a:bodyPr wrap="square" lIns="0" tIns="0" rIns="0" bIns="0" rtlCol="0" anchor="ctr"/>
          <a:lstStyle/>
          <a:p>
            <a:pPr marL="0" indent="0" algn="ctr">
              <a:buNone/>
            </a:pPr>
            <a:r>
              <a:rPr lang="en-US" sz="1600" b="1" dirty="0">
                <a:solidFill>
                  <a:srgbClr val="0891B2"/>
                </a:solidFill>
                <a:latin typeface="Trebuchet MS" pitchFamily="34" charset="0"/>
                <a:ea typeface="Trebuchet MS" pitchFamily="34" charset="-122"/>
                <a:cs typeface="Trebuchet MS" pitchFamily="34" charset="-120"/>
              </a:rPr>
              <a:t>Single Agent</a:t>
            </a:r>
            <a:endParaRPr lang="en-US" sz="1600" dirty="0"/>
          </a:p>
        </p:txBody>
      </p:sp>
      <p:sp>
        <p:nvSpPr>
          <p:cNvPr id="8" name="Text 5"/>
          <p:cNvSpPr/>
          <p:nvPr/>
        </p:nvSpPr>
        <p:spPr>
          <a:xfrm>
            <a:off x="1005840" y="2560320"/>
            <a:ext cx="3108960" cy="320040"/>
          </a:xfrm>
          <a:prstGeom prst="rect">
            <a:avLst/>
          </a:prstGeom>
          <a:noFill/>
          <a:ln/>
        </p:spPr>
        <p:txBody>
          <a:bodyPr wrap="square" lIns="0" tIns="0" rIns="0" bIns="0" rtlCol="0" anchor="ctr"/>
          <a:lstStyle/>
          <a:p>
            <a:pPr marL="0" indent="0">
              <a:buNone/>
            </a:pPr>
            <a:r>
              <a:rPr lang="en-US" sz="1200" dirty="0">
                <a:solidFill>
                  <a:srgbClr val="0891B2"/>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One LLM handles all reasoning</a:t>
            </a:r>
            <a:endParaRPr lang="en-US" sz="1200" dirty="0"/>
          </a:p>
        </p:txBody>
      </p:sp>
      <p:sp>
        <p:nvSpPr>
          <p:cNvPr id="9" name="Text 6"/>
          <p:cNvSpPr/>
          <p:nvPr/>
        </p:nvSpPr>
        <p:spPr>
          <a:xfrm>
            <a:off x="1005840" y="2971800"/>
            <a:ext cx="3108960" cy="320040"/>
          </a:xfrm>
          <a:prstGeom prst="rect">
            <a:avLst/>
          </a:prstGeom>
          <a:noFill/>
          <a:ln/>
        </p:spPr>
        <p:txBody>
          <a:bodyPr wrap="square" lIns="0" tIns="0" rIns="0" bIns="0" rtlCol="0" anchor="ctr"/>
          <a:lstStyle/>
          <a:p>
            <a:pPr marL="0" indent="0">
              <a:buNone/>
            </a:pPr>
            <a:r>
              <a:rPr lang="en-US" sz="1200" dirty="0">
                <a:solidFill>
                  <a:srgbClr val="0891B2"/>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Simpler to build and debug</a:t>
            </a:r>
            <a:endParaRPr lang="en-US" sz="1200" dirty="0"/>
          </a:p>
        </p:txBody>
      </p:sp>
      <p:sp>
        <p:nvSpPr>
          <p:cNvPr id="10" name="Text 7"/>
          <p:cNvSpPr/>
          <p:nvPr/>
        </p:nvSpPr>
        <p:spPr>
          <a:xfrm>
            <a:off x="1005840" y="3383280"/>
            <a:ext cx="3108960" cy="320040"/>
          </a:xfrm>
          <a:prstGeom prst="rect">
            <a:avLst/>
          </a:prstGeom>
          <a:noFill/>
          <a:ln/>
        </p:spPr>
        <p:txBody>
          <a:bodyPr wrap="square" lIns="0" tIns="0" rIns="0" bIns="0" rtlCol="0" anchor="ctr"/>
          <a:lstStyle/>
          <a:p>
            <a:pPr marL="0" indent="0">
              <a:buNone/>
            </a:pPr>
            <a:r>
              <a:rPr lang="en-US" sz="1200" dirty="0">
                <a:solidFill>
                  <a:srgbClr val="0891B2"/>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Best for focused, well-defined tasks</a:t>
            </a:r>
            <a:endParaRPr lang="en-US" sz="1200" dirty="0"/>
          </a:p>
        </p:txBody>
      </p:sp>
      <p:sp>
        <p:nvSpPr>
          <p:cNvPr id="11" name="Text 8"/>
          <p:cNvSpPr/>
          <p:nvPr/>
        </p:nvSpPr>
        <p:spPr>
          <a:xfrm>
            <a:off x="1005840" y="3794760"/>
            <a:ext cx="3108960" cy="320040"/>
          </a:xfrm>
          <a:prstGeom prst="rect">
            <a:avLst/>
          </a:prstGeom>
          <a:noFill/>
          <a:ln/>
        </p:spPr>
        <p:txBody>
          <a:bodyPr wrap="square" lIns="0" tIns="0" rIns="0" bIns="0" rtlCol="0" anchor="ctr"/>
          <a:lstStyle/>
          <a:p>
            <a:pPr marL="0" indent="0">
              <a:buNone/>
            </a:pPr>
            <a:r>
              <a:rPr lang="en-US" sz="1200" dirty="0">
                <a:solidFill>
                  <a:srgbClr val="0891B2"/>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Limited by single context window</a:t>
            </a:r>
            <a:endParaRPr lang="en-US" sz="1200" dirty="0"/>
          </a:p>
        </p:txBody>
      </p:sp>
      <p:sp>
        <p:nvSpPr>
          <p:cNvPr id="12" name="Shape 9"/>
          <p:cNvSpPr/>
          <p:nvPr/>
        </p:nvSpPr>
        <p:spPr>
          <a:xfrm>
            <a:off x="4754880" y="1097280"/>
            <a:ext cx="384048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3" name="Shape 10"/>
          <p:cNvSpPr/>
          <p:nvPr/>
        </p:nvSpPr>
        <p:spPr>
          <a:xfrm>
            <a:off x="6309360" y="1280160"/>
            <a:ext cx="640080" cy="640080"/>
          </a:xfrm>
          <a:prstGeom prst="ellipse">
            <a:avLst/>
          </a:prstGeom>
          <a:solidFill>
            <a:srgbClr val="F59E0B"/>
          </a:solidFill>
          <a:ln/>
        </p:spPr>
        <p:txBody>
          <a:bodyPr/>
          <a:lstStyle/>
          <a:p>
            <a:endParaRPr lang="en-US" dirty="0"/>
          </a:p>
        </p:txBody>
      </p:sp>
      <p:pic>
        <p:nvPicPr>
          <p:cNvPr id="14" name="Image 1" descr="preencoded.png"/>
          <p:cNvPicPr>
            <a:picLocks noChangeAspect="1"/>
          </p:cNvPicPr>
          <p:nvPr/>
        </p:nvPicPr>
        <p:blipFill>
          <a:blip r:embed="rId4"/>
          <a:stretch>
            <a:fillRect/>
          </a:stretch>
        </p:blipFill>
        <p:spPr>
          <a:xfrm>
            <a:off x="6450178" y="1420978"/>
            <a:ext cx="358445" cy="358445"/>
          </a:xfrm>
          <a:prstGeom prst="rect">
            <a:avLst/>
          </a:prstGeom>
        </p:spPr>
      </p:pic>
      <p:sp>
        <p:nvSpPr>
          <p:cNvPr id="15" name="Text 11"/>
          <p:cNvSpPr/>
          <p:nvPr/>
        </p:nvSpPr>
        <p:spPr>
          <a:xfrm>
            <a:off x="4754880" y="2103120"/>
            <a:ext cx="3840480" cy="365760"/>
          </a:xfrm>
          <a:prstGeom prst="rect">
            <a:avLst/>
          </a:prstGeom>
          <a:noFill/>
          <a:ln/>
        </p:spPr>
        <p:txBody>
          <a:bodyPr wrap="square" lIns="0" tIns="0" rIns="0" bIns="0" rtlCol="0" anchor="ctr"/>
          <a:lstStyle/>
          <a:p>
            <a:pPr marL="0" indent="0" algn="ctr">
              <a:buNone/>
            </a:pPr>
            <a:r>
              <a:rPr lang="en-US" sz="1600" b="1" dirty="0">
                <a:solidFill>
                  <a:srgbClr val="F59E0B"/>
                </a:solidFill>
                <a:latin typeface="Trebuchet MS" pitchFamily="34" charset="0"/>
                <a:ea typeface="Trebuchet MS" pitchFamily="34" charset="-122"/>
                <a:cs typeface="Trebuchet MS" pitchFamily="34" charset="-120"/>
              </a:rPr>
              <a:t>Multi-Agent</a:t>
            </a:r>
            <a:endParaRPr lang="en-US" sz="1600" dirty="0"/>
          </a:p>
        </p:txBody>
      </p:sp>
      <p:sp>
        <p:nvSpPr>
          <p:cNvPr id="16" name="Text 12"/>
          <p:cNvSpPr/>
          <p:nvPr/>
        </p:nvSpPr>
        <p:spPr>
          <a:xfrm>
            <a:off x="5029200" y="2560320"/>
            <a:ext cx="3291840" cy="320040"/>
          </a:xfrm>
          <a:prstGeom prst="rect">
            <a:avLst/>
          </a:prstGeom>
          <a:noFill/>
          <a:ln/>
        </p:spPr>
        <p:txBody>
          <a:bodyPr wrap="square" lIns="0" tIns="0" rIns="0" bIns="0" rtlCol="0" anchor="ctr"/>
          <a:lstStyle/>
          <a:p>
            <a:pPr marL="0" indent="0">
              <a:buNone/>
            </a:pPr>
            <a:r>
              <a:rPr lang="en-US" sz="1200" dirty="0">
                <a:solidFill>
                  <a:srgbClr val="F59E0B"/>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Specialized agents collaborate</a:t>
            </a:r>
            <a:endParaRPr lang="en-US" sz="1200" dirty="0"/>
          </a:p>
        </p:txBody>
      </p:sp>
      <p:sp>
        <p:nvSpPr>
          <p:cNvPr id="17" name="Text 13"/>
          <p:cNvSpPr/>
          <p:nvPr/>
        </p:nvSpPr>
        <p:spPr>
          <a:xfrm>
            <a:off x="5029200" y="2971800"/>
            <a:ext cx="3291840" cy="320040"/>
          </a:xfrm>
          <a:prstGeom prst="rect">
            <a:avLst/>
          </a:prstGeom>
          <a:noFill/>
          <a:ln/>
        </p:spPr>
        <p:txBody>
          <a:bodyPr wrap="square" lIns="0" tIns="0" rIns="0" bIns="0" rtlCol="0" anchor="ctr"/>
          <a:lstStyle/>
          <a:p>
            <a:pPr marL="0" indent="0">
              <a:buNone/>
            </a:pPr>
            <a:r>
              <a:rPr lang="en-US" sz="1200" dirty="0">
                <a:solidFill>
                  <a:srgbClr val="F59E0B"/>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Each agent has domain expertise</a:t>
            </a:r>
            <a:endParaRPr lang="en-US" sz="1200" dirty="0"/>
          </a:p>
        </p:txBody>
      </p:sp>
      <p:sp>
        <p:nvSpPr>
          <p:cNvPr id="18" name="Text 14"/>
          <p:cNvSpPr/>
          <p:nvPr/>
        </p:nvSpPr>
        <p:spPr>
          <a:xfrm>
            <a:off x="5029200" y="3383280"/>
            <a:ext cx="3291840" cy="320040"/>
          </a:xfrm>
          <a:prstGeom prst="rect">
            <a:avLst/>
          </a:prstGeom>
          <a:noFill/>
          <a:ln/>
        </p:spPr>
        <p:txBody>
          <a:bodyPr wrap="square" lIns="0" tIns="0" rIns="0" bIns="0" rtlCol="0" anchor="ctr"/>
          <a:lstStyle/>
          <a:p>
            <a:pPr marL="0" indent="0">
              <a:buNone/>
            </a:pPr>
            <a:r>
              <a:rPr lang="en-US" sz="1200" dirty="0">
                <a:solidFill>
                  <a:srgbClr val="F59E0B"/>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Complex workflows with handoffs</a:t>
            </a:r>
            <a:endParaRPr lang="en-US" sz="1200" dirty="0"/>
          </a:p>
        </p:txBody>
      </p:sp>
      <p:sp>
        <p:nvSpPr>
          <p:cNvPr id="19" name="Text 15"/>
          <p:cNvSpPr/>
          <p:nvPr/>
        </p:nvSpPr>
        <p:spPr>
          <a:xfrm>
            <a:off x="5029200" y="3794760"/>
            <a:ext cx="3291840" cy="320040"/>
          </a:xfrm>
          <a:prstGeom prst="rect">
            <a:avLst/>
          </a:prstGeom>
          <a:noFill/>
          <a:ln/>
        </p:spPr>
        <p:txBody>
          <a:bodyPr wrap="square" lIns="0" tIns="0" rIns="0" bIns="0" rtlCol="0" anchor="ctr"/>
          <a:lstStyle/>
          <a:p>
            <a:pPr marL="0" indent="0">
              <a:buNone/>
            </a:pPr>
            <a:r>
              <a:rPr lang="en-US" sz="1200" dirty="0">
                <a:solidFill>
                  <a:srgbClr val="F59E0B"/>
                </a:solidFill>
                <a:latin typeface="Calibri" pitchFamily="34" charset="0"/>
                <a:ea typeface="Calibri" pitchFamily="34" charset="-122"/>
                <a:cs typeface="Calibri" pitchFamily="34" charset="-120"/>
              </a:rPr>
              <a:t>•  </a:t>
            </a:r>
            <a:r>
              <a:rPr lang="en-US" sz="1200" dirty="0">
                <a:solidFill>
                  <a:srgbClr val="334155"/>
                </a:solidFill>
                <a:latin typeface="Calibri" pitchFamily="34" charset="0"/>
                <a:ea typeface="Calibri" pitchFamily="34" charset="-122"/>
                <a:cs typeface="Calibri" pitchFamily="34" charset="-120"/>
              </a:rPr>
              <a:t>Built with LangGraph for state mgmt</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Types of AI Agents</a:t>
            </a:r>
            <a:endParaRPr lang="en-US" sz="2200" dirty="0"/>
          </a:p>
        </p:txBody>
      </p:sp>
      <p:sp>
        <p:nvSpPr>
          <p:cNvPr id="4" name="Shape 2"/>
          <p:cNvSpPr/>
          <p:nvPr/>
        </p:nvSpPr>
        <p:spPr>
          <a:xfrm>
            <a:off x="457200" y="1097280"/>
            <a:ext cx="1554480" cy="3108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868680" y="1280160"/>
            <a:ext cx="640080" cy="640080"/>
          </a:xfrm>
          <a:prstGeom prst="ellipse">
            <a:avLst/>
          </a:prstGeom>
          <a:solidFill>
            <a:srgbClr val="94A3B8"/>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1009498" y="1420978"/>
            <a:ext cx="358445" cy="358445"/>
          </a:xfrm>
          <a:prstGeom prst="rect">
            <a:avLst/>
          </a:prstGeom>
        </p:spPr>
      </p:pic>
      <p:sp>
        <p:nvSpPr>
          <p:cNvPr id="7" name="Text 4"/>
          <p:cNvSpPr/>
          <p:nvPr/>
        </p:nvSpPr>
        <p:spPr>
          <a:xfrm>
            <a:off x="457200" y="2103120"/>
            <a:ext cx="1554480" cy="457200"/>
          </a:xfrm>
          <a:prstGeom prst="rect">
            <a:avLst/>
          </a:prstGeom>
          <a:noFill/>
          <a:ln/>
        </p:spPr>
        <p:txBody>
          <a:bodyPr wrap="square" lIns="0" tIns="0" rIns="0" bIns="0"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Simple Reflex</a:t>
            </a:r>
            <a:endParaRPr lang="en-US" sz="1200" dirty="0"/>
          </a:p>
        </p:txBody>
      </p:sp>
      <p:sp>
        <p:nvSpPr>
          <p:cNvPr id="8" name="Text 5"/>
          <p:cNvSpPr/>
          <p:nvPr/>
        </p:nvSpPr>
        <p:spPr>
          <a:xfrm>
            <a:off x="548640" y="2606040"/>
            <a:ext cx="1371600" cy="1280160"/>
          </a:xfrm>
          <a:prstGeom prst="rect">
            <a:avLst/>
          </a:prstGeom>
          <a:noFill/>
          <a:ln/>
        </p:spPr>
        <p:txBody>
          <a:bodyPr wrap="square" lIns="0" tIns="0" rIns="0" bIns="0"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Reacts to current input only. No memory or planning. Example: basic chatbot.</a:t>
            </a:r>
            <a:endParaRPr lang="en-US" sz="1000" dirty="0"/>
          </a:p>
        </p:txBody>
      </p:sp>
      <p:sp>
        <p:nvSpPr>
          <p:cNvPr id="9" name="Shape 6"/>
          <p:cNvSpPr/>
          <p:nvPr/>
        </p:nvSpPr>
        <p:spPr>
          <a:xfrm>
            <a:off x="2148840" y="1097280"/>
            <a:ext cx="1554480" cy="3108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0" name="Shape 7"/>
          <p:cNvSpPr/>
          <p:nvPr/>
        </p:nvSpPr>
        <p:spPr>
          <a:xfrm>
            <a:off x="2560320" y="1280160"/>
            <a:ext cx="640080" cy="640080"/>
          </a:xfrm>
          <a:prstGeom prst="ellipse">
            <a:avLst/>
          </a:prstGeom>
          <a:solidFill>
            <a:srgbClr val="0891B2"/>
          </a:solidFill>
          <a:ln/>
        </p:spPr>
        <p:txBody>
          <a:bodyPr/>
          <a:lstStyle/>
          <a:p>
            <a:endParaRPr lang="en-US" dirty="0"/>
          </a:p>
        </p:txBody>
      </p:sp>
      <p:pic>
        <p:nvPicPr>
          <p:cNvPr id="11" name="Image 1" descr="preencoded.png"/>
          <p:cNvPicPr>
            <a:picLocks noChangeAspect="1"/>
          </p:cNvPicPr>
          <p:nvPr/>
        </p:nvPicPr>
        <p:blipFill>
          <a:blip r:embed="rId4"/>
          <a:stretch>
            <a:fillRect/>
          </a:stretch>
        </p:blipFill>
        <p:spPr>
          <a:xfrm>
            <a:off x="2701138" y="1420978"/>
            <a:ext cx="358445" cy="358445"/>
          </a:xfrm>
          <a:prstGeom prst="rect">
            <a:avLst/>
          </a:prstGeom>
        </p:spPr>
      </p:pic>
      <p:sp>
        <p:nvSpPr>
          <p:cNvPr id="12" name="Text 8"/>
          <p:cNvSpPr/>
          <p:nvPr/>
        </p:nvSpPr>
        <p:spPr>
          <a:xfrm>
            <a:off x="2148840" y="2103120"/>
            <a:ext cx="1554480" cy="457200"/>
          </a:xfrm>
          <a:prstGeom prst="rect">
            <a:avLst/>
          </a:prstGeom>
          <a:noFill/>
          <a:ln/>
        </p:spPr>
        <p:txBody>
          <a:bodyPr wrap="square" lIns="0" tIns="0" rIns="0" bIns="0"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Model-Based</a:t>
            </a:r>
            <a:endParaRPr lang="en-US" sz="1200" dirty="0"/>
          </a:p>
        </p:txBody>
      </p:sp>
      <p:sp>
        <p:nvSpPr>
          <p:cNvPr id="13" name="Text 9"/>
          <p:cNvSpPr/>
          <p:nvPr/>
        </p:nvSpPr>
        <p:spPr>
          <a:xfrm>
            <a:off x="2240280" y="2606040"/>
            <a:ext cx="1371600" cy="1280160"/>
          </a:xfrm>
          <a:prstGeom prst="rect">
            <a:avLst/>
          </a:prstGeom>
          <a:noFill/>
          <a:ln/>
        </p:spPr>
        <p:txBody>
          <a:bodyPr wrap="square" lIns="0" tIns="0" rIns="0" bIns="0"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Maintains internal state about the world. Tracks changes over time.</a:t>
            </a:r>
            <a:endParaRPr lang="en-US" sz="1000" dirty="0"/>
          </a:p>
        </p:txBody>
      </p:sp>
      <p:sp>
        <p:nvSpPr>
          <p:cNvPr id="14" name="Shape 10"/>
          <p:cNvSpPr/>
          <p:nvPr/>
        </p:nvSpPr>
        <p:spPr>
          <a:xfrm>
            <a:off x="3840480" y="1097280"/>
            <a:ext cx="1554480" cy="3108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5" name="Shape 11"/>
          <p:cNvSpPr/>
          <p:nvPr/>
        </p:nvSpPr>
        <p:spPr>
          <a:xfrm>
            <a:off x="4251960" y="1280160"/>
            <a:ext cx="640080" cy="640080"/>
          </a:xfrm>
          <a:prstGeom prst="ellipse">
            <a:avLst/>
          </a:prstGeom>
          <a:solidFill>
            <a:srgbClr val="F59E0B"/>
          </a:solidFill>
          <a:ln/>
        </p:spPr>
        <p:txBody>
          <a:bodyPr/>
          <a:lstStyle/>
          <a:p>
            <a:endParaRPr lang="en-US" dirty="0"/>
          </a:p>
        </p:txBody>
      </p:sp>
      <p:pic>
        <p:nvPicPr>
          <p:cNvPr id="16" name="Image 2" descr="preencoded.png"/>
          <p:cNvPicPr>
            <a:picLocks noChangeAspect="1"/>
          </p:cNvPicPr>
          <p:nvPr/>
        </p:nvPicPr>
        <p:blipFill>
          <a:blip r:embed="rId5"/>
          <a:stretch>
            <a:fillRect/>
          </a:stretch>
        </p:blipFill>
        <p:spPr>
          <a:xfrm>
            <a:off x="4392778" y="1420978"/>
            <a:ext cx="358445" cy="358445"/>
          </a:xfrm>
          <a:prstGeom prst="rect">
            <a:avLst/>
          </a:prstGeom>
        </p:spPr>
      </p:pic>
      <p:sp>
        <p:nvSpPr>
          <p:cNvPr id="17" name="Text 12"/>
          <p:cNvSpPr/>
          <p:nvPr/>
        </p:nvSpPr>
        <p:spPr>
          <a:xfrm>
            <a:off x="3840480" y="2103120"/>
            <a:ext cx="1554480" cy="457200"/>
          </a:xfrm>
          <a:prstGeom prst="rect">
            <a:avLst/>
          </a:prstGeom>
          <a:noFill/>
          <a:ln/>
        </p:spPr>
        <p:txBody>
          <a:bodyPr wrap="square" lIns="0" tIns="0" rIns="0" bIns="0"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Goal-Based</a:t>
            </a:r>
            <a:endParaRPr lang="en-US" sz="1200" dirty="0"/>
          </a:p>
        </p:txBody>
      </p:sp>
      <p:sp>
        <p:nvSpPr>
          <p:cNvPr id="18" name="Text 13"/>
          <p:cNvSpPr/>
          <p:nvPr/>
        </p:nvSpPr>
        <p:spPr>
          <a:xfrm>
            <a:off x="3931920" y="2606040"/>
            <a:ext cx="1371600" cy="1280160"/>
          </a:xfrm>
          <a:prstGeom prst="rect">
            <a:avLst/>
          </a:prstGeom>
          <a:noFill/>
          <a:ln/>
        </p:spPr>
        <p:txBody>
          <a:bodyPr wrap="square" lIns="0" tIns="0" rIns="0" bIns="0"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Works toward specific objectives. Plans actions to achieve goals.</a:t>
            </a:r>
            <a:endParaRPr lang="en-US" sz="1000" dirty="0"/>
          </a:p>
        </p:txBody>
      </p:sp>
      <p:sp>
        <p:nvSpPr>
          <p:cNvPr id="19" name="Shape 14"/>
          <p:cNvSpPr/>
          <p:nvPr/>
        </p:nvSpPr>
        <p:spPr>
          <a:xfrm>
            <a:off x="5532120" y="1097280"/>
            <a:ext cx="1554480" cy="3108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0" name="Shape 15"/>
          <p:cNvSpPr/>
          <p:nvPr/>
        </p:nvSpPr>
        <p:spPr>
          <a:xfrm>
            <a:off x="5943600" y="1280160"/>
            <a:ext cx="640080" cy="640080"/>
          </a:xfrm>
          <a:prstGeom prst="ellipse">
            <a:avLst/>
          </a:prstGeom>
          <a:solidFill>
            <a:srgbClr val="10B981"/>
          </a:solidFill>
          <a:ln/>
        </p:spPr>
        <p:txBody>
          <a:bodyPr/>
          <a:lstStyle/>
          <a:p>
            <a:endParaRPr lang="en-US" dirty="0"/>
          </a:p>
        </p:txBody>
      </p:sp>
      <p:pic>
        <p:nvPicPr>
          <p:cNvPr id="21" name="Image 3" descr="preencoded.png"/>
          <p:cNvPicPr>
            <a:picLocks noChangeAspect="1"/>
          </p:cNvPicPr>
          <p:nvPr/>
        </p:nvPicPr>
        <p:blipFill>
          <a:blip r:embed="rId6"/>
          <a:stretch>
            <a:fillRect/>
          </a:stretch>
        </p:blipFill>
        <p:spPr>
          <a:xfrm>
            <a:off x="6084418" y="1420978"/>
            <a:ext cx="358445" cy="358445"/>
          </a:xfrm>
          <a:prstGeom prst="rect">
            <a:avLst/>
          </a:prstGeom>
        </p:spPr>
      </p:pic>
      <p:sp>
        <p:nvSpPr>
          <p:cNvPr id="22" name="Text 16"/>
          <p:cNvSpPr/>
          <p:nvPr/>
        </p:nvSpPr>
        <p:spPr>
          <a:xfrm>
            <a:off x="5532120" y="2103120"/>
            <a:ext cx="1554480" cy="457200"/>
          </a:xfrm>
          <a:prstGeom prst="rect">
            <a:avLst/>
          </a:prstGeom>
          <a:noFill/>
          <a:ln/>
        </p:spPr>
        <p:txBody>
          <a:bodyPr wrap="square" lIns="0" tIns="0" rIns="0" bIns="0"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Utility-Based</a:t>
            </a:r>
            <a:endParaRPr lang="en-US" sz="1200" dirty="0"/>
          </a:p>
        </p:txBody>
      </p:sp>
      <p:sp>
        <p:nvSpPr>
          <p:cNvPr id="23" name="Text 17"/>
          <p:cNvSpPr/>
          <p:nvPr/>
        </p:nvSpPr>
        <p:spPr>
          <a:xfrm>
            <a:off x="5623560" y="2606040"/>
            <a:ext cx="1371600" cy="1280160"/>
          </a:xfrm>
          <a:prstGeom prst="rect">
            <a:avLst/>
          </a:prstGeom>
          <a:noFill/>
          <a:ln/>
        </p:spPr>
        <p:txBody>
          <a:bodyPr wrap="square" lIns="0" tIns="0" rIns="0" bIns="0"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Optimizes for best outcome among alternatives. Weighs trade-offs.</a:t>
            </a:r>
            <a:endParaRPr lang="en-US" sz="1000" dirty="0"/>
          </a:p>
        </p:txBody>
      </p:sp>
      <p:sp>
        <p:nvSpPr>
          <p:cNvPr id="24" name="Shape 18"/>
          <p:cNvSpPr/>
          <p:nvPr/>
        </p:nvSpPr>
        <p:spPr>
          <a:xfrm>
            <a:off x="7223760" y="1097280"/>
            <a:ext cx="1554480" cy="31089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5" name="Shape 19"/>
          <p:cNvSpPr/>
          <p:nvPr/>
        </p:nvSpPr>
        <p:spPr>
          <a:xfrm>
            <a:off x="7635240" y="1280160"/>
            <a:ext cx="640080" cy="640080"/>
          </a:xfrm>
          <a:prstGeom prst="ellipse">
            <a:avLst/>
          </a:prstGeom>
          <a:solidFill>
            <a:srgbClr val="8B5CF6"/>
          </a:solidFill>
          <a:ln/>
        </p:spPr>
        <p:txBody>
          <a:bodyPr/>
          <a:lstStyle/>
          <a:p>
            <a:endParaRPr lang="en-US" dirty="0"/>
          </a:p>
        </p:txBody>
      </p:sp>
      <p:pic>
        <p:nvPicPr>
          <p:cNvPr id="26" name="Image 4" descr="preencoded.png"/>
          <p:cNvPicPr>
            <a:picLocks noChangeAspect="1"/>
          </p:cNvPicPr>
          <p:nvPr/>
        </p:nvPicPr>
        <p:blipFill>
          <a:blip r:embed="rId7"/>
          <a:stretch>
            <a:fillRect/>
          </a:stretch>
        </p:blipFill>
        <p:spPr>
          <a:xfrm>
            <a:off x="7776058" y="1420978"/>
            <a:ext cx="358445" cy="358445"/>
          </a:xfrm>
          <a:prstGeom prst="rect">
            <a:avLst/>
          </a:prstGeom>
        </p:spPr>
      </p:pic>
      <p:sp>
        <p:nvSpPr>
          <p:cNvPr id="27" name="Text 20"/>
          <p:cNvSpPr/>
          <p:nvPr/>
        </p:nvSpPr>
        <p:spPr>
          <a:xfrm>
            <a:off x="7223760" y="2103120"/>
            <a:ext cx="1554480" cy="457200"/>
          </a:xfrm>
          <a:prstGeom prst="rect">
            <a:avLst/>
          </a:prstGeom>
          <a:noFill/>
          <a:ln/>
        </p:spPr>
        <p:txBody>
          <a:bodyPr wrap="square" lIns="0" tIns="0" rIns="0" bIns="0" rtlCol="0" anchor="ctr"/>
          <a:lstStyle/>
          <a:p>
            <a:pPr marL="0" indent="0" algn="ctr">
              <a:buNone/>
            </a:pPr>
            <a:r>
              <a:rPr lang="en-US" sz="1200" b="1" dirty="0">
                <a:solidFill>
                  <a:srgbClr val="1E293B"/>
                </a:solidFill>
                <a:latin typeface="Trebuchet MS" pitchFamily="34" charset="0"/>
                <a:ea typeface="Trebuchet MS" pitchFamily="34" charset="-122"/>
                <a:cs typeface="Trebuchet MS" pitchFamily="34" charset="-120"/>
              </a:rPr>
              <a:t>Learning Agent</a:t>
            </a:r>
            <a:endParaRPr lang="en-US" sz="1200" dirty="0"/>
          </a:p>
        </p:txBody>
      </p:sp>
      <p:sp>
        <p:nvSpPr>
          <p:cNvPr id="28" name="Text 21"/>
          <p:cNvSpPr/>
          <p:nvPr/>
        </p:nvSpPr>
        <p:spPr>
          <a:xfrm>
            <a:off x="7315200" y="2606040"/>
            <a:ext cx="1371600" cy="1280160"/>
          </a:xfrm>
          <a:prstGeom prst="rect">
            <a:avLst/>
          </a:prstGeom>
          <a:noFill/>
          <a:ln/>
        </p:spPr>
        <p:txBody>
          <a:bodyPr wrap="square" lIns="0" tIns="0" rIns="0" bIns="0" rtlCol="0" anchor="ctr"/>
          <a:lstStyle/>
          <a:p>
            <a:pPr marL="0" indent="0" algn="ctr">
              <a:buNone/>
            </a:pPr>
            <a:r>
              <a:rPr lang="en-US" sz="1000" dirty="0">
                <a:solidFill>
                  <a:srgbClr val="334155"/>
                </a:solidFill>
                <a:latin typeface="Calibri" pitchFamily="34" charset="0"/>
                <a:ea typeface="Calibri" pitchFamily="34" charset="-122"/>
                <a:cs typeface="Calibri" pitchFamily="34" charset="-120"/>
              </a:rPr>
              <a:t>Improves performance from experience. Adapts strategies over time.</a:t>
            </a:r>
            <a:endParaRPr lang="en-US" sz="1000" dirty="0"/>
          </a:p>
        </p:txBody>
      </p:sp>
      <p:sp>
        <p:nvSpPr>
          <p:cNvPr id="29" name="Text 22"/>
          <p:cNvSpPr/>
          <p:nvPr/>
        </p:nvSpPr>
        <p:spPr>
          <a:xfrm>
            <a:off x="731520" y="4434840"/>
            <a:ext cx="7680960" cy="365760"/>
          </a:xfrm>
          <a:prstGeom prst="rect">
            <a:avLst/>
          </a:prstGeom>
          <a:noFill/>
          <a:ln/>
        </p:spPr>
        <p:txBody>
          <a:bodyPr wrap="square" lIns="0" tIns="0" rIns="0" bIns="0" rtlCol="0" anchor="ctr"/>
          <a:lstStyle/>
          <a:p>
            <a:pPr marL="0" indent="0" algn="ctr">
              <a:buNone/>
            </a:pPr>
            <a:r>
              <a:rPr lang="en-US" sz="1200" i="1" dirty="0">
                <a:solidFill>
                  <a:srgbClr val="0891B2"/>
                </a:solidFill>
                <a:latin typeface="Calibri" pitchFamily="34" charset="0"/>
                <a:ea typeface="Calibri" pitchFamily="34" charset="-122"/>
                <a:cs typeface="Calibri" pitchFamily="34" charset="-120"/>
              </a:rPr>
              <a:t>LangChain agents are typically Goal-Based or Learning Agents, powered by LLMs as the reasoning core.</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The ReAct Pattern: Reasoning + Acting</a:t>
            </a:r>
            <a:endParaRPr lang="en-US" sz="2200" dirty="0"/>
          </a:p>
        </p:txBody>
      </p:sp>
      <p:sp>
        <p:nvSpPr>
          <p:cNvPr id="4" name="Shape 2"/>
          <p:cNvSpPr/>
          <p:nvPr/>
        </p:nvSpPr>
        <p:spPr>
          <a:xfrm>
            <a:off x="731520" y="1097280"/>
            <a:ext cx="4389120" cy="3474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Text 3"/>
          <p:cNvSpPr/>
          <p:nvPr/>
        </p:nvSpPr>
        <p:spPr>
          <a:xfrm>
            <a:off x="914400" y="1188720"/>
            <a:ext cx="4023360" cy="365760"/>
          </a:xfrm>
          <a:prstGeom prst="rect">
            <a:avLst/>
          </a:prstGeom>
          <a:noFill/>
          <a:ln/>
        </p:spPr>
        <p:txBody>
          <a:bodyPr wrap="square" lIns="0" tIns="0" rIns="0" bIns="0" rtlCol="0" anchor="ctr"/>
          <a:lstStyle/>
          <a:p>
            <a:pPr marL="0" indent="0">
              <a:buNone/>
            </a:pPr>
            <a:r>
              <a:rPr lang="en-US" sz="1600" b="1" dirty="0">
                <a:solidFill>
                  <a:srgbClr val="0891B2"/>
                </a:solidFill>
                <a:latin typeface="Trebuchet MS" pitchFamily="34" charset="0"/>
                <a:ea typeface="Trebuchet MS" pitchFamily="34" charset="-122"/>
                <a:cs typeface="Trebuchet MS" pitchFamily="34" charset="-120"/>
              </a:rPr>
              <a:t>ReAct Framework</a:t>
            </a:r>
            <a:endParaRPr lang="en-US" sz="1600" dirty="0"/>
          </a:p>
        </p:txBody>
      </p:sp>
      <p:sp>
        <p:nvSpPr>
          <p:cNvPr id="6" name="Text 4"/>
          <p:cNvSpPr/>
          <p:nvPr/>
        </p:nvSpPr>
        <p:spPr>
          <a:xfrm>
            <a:off x="1005840" y="1691640"/>
            <a:ext cx="1280160" cy="320040"/>
          </a:xfrm>
          <a:prstGeom prst="rect">
            <a:avLst/>
          </a:prstGeom>
          <a:noFill/>
          <a:ln/>
        </p:spPr>
        <p:txBody>
          <a:bodyPr wrap="square" lIns="0" tIns="0" rIns="0" bIns="0" rtlCol="0" anchor="ctr"/>
          <a:lstStyle/>
          <a:p>
            <a:pPr marL="0" indent="0">
              <a:buNone/>
            </a:pPr>
            <a:r>
              <a:rPr lang="en-US" sz="1100" b="1" dirty="0">
                <a:solidFill>
                  <a:srgbClr val="0891B2"/>
                </a:solidFill>
                <a:latin typeface="Consolas" pitchFamily="34" charset="0"/>
                <a:ea typeface="Consolas" pitchFamily="34" charset="-122"/>
                <a:cs typeface="Consolas" pitchFamily="34" charset="-120"/>
              </a:rPr>
              <a:t>Thought:</a:t>
            </a:r>
            <a:endParaRPr lang="en-US" sz="1100" dirty="0"/>
          </a:p>
        </p:txBody>
      </p:sp>
      <p:sp>
        <p:nvSpPr>
          <p:cNvPr id="7" name="Text 5"/>
          <p:cNvSpPr/>
          <p:nvPr/>
        </p:nvSpPr>
        <p:spPr>
          <a:xfrm>
            <a:off x="2286000" y="1691640"/>
            <a:ext cx="2651760" cy="320040"/>
          </a:xfrm>
          <a:prstGeom prst="rect">
            <a:avLst/>
          </a:prstGeom>
          <a:noFill/>
          <a:ln/>
        </p:spPr>
        <p:txBody>
          <a:bodyPr wrap="square" lIns="0" tIns="0" rIns="0" bIns="0"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I need to find the current weather in Paris</a:t>
            </a:r>
            <a:endParaRPr lang="en-US" sz="1100" dirty="0"/>
          </a:p>
        </p:txBody>
      </p:sp>
      <p:sp>
        <p:nvSpPr>
          <p:cNvPr id="8" name="Text 6"/>
          <p:cNvSpPr/>
          <p:nvPr/>
        </p:nvSpPr>
        <p:spPr>
          <a:xfrm>
            <a:off x="1005840" y="2221992"/>
            <a:ext cx="1280160" cy="320040"/>
          </a:xfrm>
          <a:prstGeom prst="rect">
            <a:avLst/>
          </a:prstGeom>
          <a:noFill/>
          <a:ln/>
        </p:spPr>
        <p:txBody>
          <a:bodyPr wrap="square" lIns="0" tIns="0" rIns="0" bIns="0" rtlCol="0" anchor="ctr"/>
          <a:lstStyle/>
          <a:p>
            <a:pPr marL="0" indent="0">
              <a:buNone/>
            </a:pPr>
            <a:r>
              <a:rPr lang="en-US" sz="1100" b="1" dirty="0">
                <a:solidFill>
                  <a:srgbClr val="F59E0B"/>
                </a:solidFill>
                <a:latin typeface="Consolas" pitchFamily="34" charset="0"/>
                <a:ea typeface="Consolas" pitchFamily="34" charset="-122"/>
                <a:cs typeface="Consolas" pitchFamily="34" charset="-120"/>
              </a:rPr>
              <a:t>Action:</a:t>
            </a:r>
            <a:endParaRPr lang="en-US" sz="1100" dirty="0"/>
          </a:p>
        </p:txBody>
      </p:sp>
      <p:sp>
        <p:nvSpPr>
          <p:cNvPr id="9" name="Text 7"/>
          <p:cNvSpPr/>
          <p:nvPr/>
        </p:nvSpPr>
        <p:spPr>
          <a:xfrm>
            <a:off x="2286000" y="2221992"/>
            <a:ext cx="2651760" cy="320040"/>
          </a:xfrm>
          <a:prstGeom prst="rect">
            <a:avLst/>
          </a:prstGeom>
          <a:noFill/>
          <a:ln/>
        </p:spPr>
        <p:txBody>
          <a:bodyPr wrap="square" lIns="0" tIns="0" rIns="0" bIns="0"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search_weather(city='Paris')</a:t>
            </a:r>
            <a:endParaRPr lang="en-US" sz="1100" dirty="0"/>
          </a:p>
        </p:txBody>
      </p:sp>
      <p:sp>
        <p:nvSpPr>
          <p:cNvPr id="10" name="Text 8"/>
          <p:cNvSpPr/>
          <p:nvPr/>
        </p:nvSpPr>
        <p:spPr>
          <a:xfrm>
            <a:off x="1005840" y="2752344"/>
            <a:ext cx="1280160" cy="320040"/>
          </a:xfrm>
          <a:prstGeom prst="rect">
            <a:avLst/>
          </a:prstGeom>
          <a:noFill/>
          <a:ln/>
        </p:spPr>
        <p:txBody>
          <a:bodyPr wrap="square" lIns="0" tIns="0" rIns="0" bIns="0" rtlCol="0" anchor="ctr"/>
          <a:lstStyle/>
          <a:p>
            <a:pPr marL="0" indent="0">
              <a:buNone/>
            </a:pPr>
            <a:r>
              <a:rPr lang="en-US" sz="1100" b="1" dirty="0">
                <a:solidFill>
                  <a:srgbClr val="10B981"/>
                </a:solidFill>
                <a:latin typeface="Consolas" pitchFamily="34" charset="0"/>
                <a:ea typeface="Consolas" pitchFamily="34" charset="-122"/>
                <a:cs typeface="Consolas" pitchFamily="34" charset="-120"/>
              </a:rPr>
              <a:t>Observation:</a:t>
            </a:r>
            <a:endParaRPr lang="en-US" sz="1100" dirty="0"/>
          </a:p>
        </p:txBody>
      </p:sp>
      <p:sp>
        <p:nvSpPr>
          <p:cNvPr id="11" name="Text 9"/>
          <p:cNvSpPr/>
          <p:nvPr/>
        </p:nvSpPr>
        <p:spPr>
          <a:xfrm>
            <a:off x="2286000" y="2752344"/>
            <a:ext cx="2651760" cy="320040"/>
          </a:xfrm>
          <a:prstGeom prst="rect">
            <a:avLst/>
          </a:prstGeom>
          <a:noFill/>
          <a:ln/>
        </p:spPr>
        <p:txBody>
          <a:bodyPr wrap="square" lIns="0" tIns="0" rIns="0" bIns="0"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Paris: 22°C, partly cloudy</a:t>
            </a:r>
            <a:endParaRPr lang="en-US" sz="1100" dirty="0"/>
          </a:p>
        </p:txBody>
      </p:sp>
      <p:sp>
        <p:nvSpPr>
          <p:cNvPr id="12" name="Text 10"/>
          <p:cNvSpPr/>
          <p:nvPr/>
        </p:nvSpPr>
        <p:spPr>
          <a:xfrm>
            <a:off x="1005840" y="3282696"/>
            <a:ext cx="1280160" cy="320040"/>
          </a:xfrm>
          <a:prstGeom prst="rect">
            <a:avLst/>
          </a:prstGeom>
          <a:noFill/>
          <a:ln/>
        </p:spPr>
        <p:txBody>
          <a:bodyPr wrap="square" lIns="0" tIns="0" rIns="0" bIns="0" rtlCol="0" anchor="ctr"/>
          <a:lstStyle/>
          <a:p>
            <a:pPr marL="0" indent="0">
              <a:buNone/>
            </a:pPr>
            <a:r>
              <a:rPr lang="en-US" sz="1100" b="1" dirty="0">
                <a:solidFill>
                  <a:srgbClr val="0891B2"/>
                </a:solidFill>
                <a:latin typeface="Consolas" pitchFamily="34" charset="0"/>
                <a:ea typeface="Consolas" pitchFamily="34" charset="-122"/>
                <a:cs typeface="Consolas" pitchFamily="34" charset="-120"/>
              </a:rPr>
              <a:t>Thought:</a:t>
            </a:r>
            <a:endParaRPr lang="en-US" sz="1100" dirty="0"/>
          </a:p>
        </p:txBody>
      </p:sp>
      <p:sp>
        <p:nvSpPr>
          <p:cNvPr id="13" name="Text 11"/>
          <p:cNvSpPr/>
          <p:nvPr/>
        </p:nvSpPr>
        <p:spPr>
          <a:xfrm>
            <a:off x="2286000" y="3282696"/>
            <a:ext cx="2651760" cy="320040"/>
          </a:xfrm>
          <a:prstGeom prst="rect">
            <a:avLst/>
          </a:prstGeom>
          <a:noFill/>
          <a:ln/>
        </p:spPr>
        <p:txBody>
          <a:bodyPr wrap="square" lIns="0" tIns="0" rIns="0" bIns="0"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I now have the answer for the user</a:t>
            </a:r>
            <a:endParaRPr lang="en-US" sz="1100" dirty="0"/>
          </a:p>
        </p:txBody>
      </p:sp>
      <p:sp>
        <p:nvSpPr>
          <p:cNvPr id="14" name="Text 12"/>
          <p:cNvSpPr/>
          <p:nvPr/>
        </p:nvSpPr>
        <p:spPr>
          <a:xfrm>
            <a:off x="1005840" y="3813048"/>
            <a:ext cx="1280160" cy="320040"/>
          </a:xfrm>
          <a:prstGeom prst="rect">
            <a:avLst/>
          </a:prstGeom>
          <a:noFill/>
          <a:ln/>
        </p:spPr>
        <p:txBody>
          <a:bodyPr wrap="square" lIns="0" tIns="0" rIns="0" bIns="0" rtlCol="0" anchor="ctr"/>
          <a:lstStyle/>
          <a:p>
            <a:pPr marL="0" indent="0">
              <a:buNone/>
            </a:pPr>
            <a:r>
              <a:rPr lang="en-US" sz="1100" b="1" dirty="0">
                <a:solidFill>
                  <a:srgbClr val="1E293B"/>
                </a:solidFill>
                <a:latin typeface="Consolas" pitchFamily="34" charset="0"/>
                <a:ea typeface="Consolas" pitchFamily="34" charset="-122"/>
                <a:cs typeface="Consolas" pitchFamily="34" charset="-120"/>
              </a:rPr>
              <a:t>Final Answer:</a:t>
            </a:r>
            <a:endParaRPr lang="en-US" sz="1100" dirty="0"/>
          </a:p>
        </p:txBody>
      </p:sp>
      <p:sp>
        <p:nvSpPr>
          <p:cNvPr id="15" name="Text 13"/>
          <p:cNvSpPr/>
          <p:nvPr/>
        </p:nvSpPr>
        <p:spPr>
          <a:xfrm>
            <a:off x="2286000" y="3813048"/>
            <a:ext cx="2651760" cy="320040"/>
          </a:xfrm>
          <a:prstGeom prst="rect">
            <a:avLst/>
          </a:prstGeom>
          <a:noFill/>
          <a:ln/>
        </p:spPr>
        <p:txBody>
          <a:bodyPr wrap="square" lIns="0" tIns="0" rIns="0" bIns="0" rtlCol="0" anchor="ctr"/>
          <a:lstStyle/>
          <a:p>
            <a:pPr marL="0" indent="0">
              <a:buNone/>
            </a:pPr>
            <a:r>
              <a:rPr lang="en-US" sz="1100" dirty="0">
                <a:solidFill>
                  <a:srgbClr val="334155"/>
                </a:solidFill>
                <a:latin typeface="Consolas" pitchFamily="34" charset="0"/>
                <a:ea typeface="Consolas" pitchFamily="34" charset="-122"/>
                <a:cs typeface="Consolas" pitchFamily="34" charset="-120"/>
              </a:rPr>
              <a:t>It's 22°C and partly cloudy in Paris.</a:t>
            </a:r>
            <a:endParaRPr lang="en-US" sz="1100" dirty="0"/>
          </a:p>
        </p:txBody>
      </p:sp>
      <p:sp>
        <p:nvSpPr>
          <p:cNvPr id="16" name="Shape 14"/>
          <p:cNvSpPr/>
          <p:nvPr/>
        </p:nvSpPr>
        <p:spPr>
          <a:xfrm>
            <a:off x="5486400" y="1097280"/>
            <a:ext cx="3108960" cy="3474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7" name="Text 15"/>
          <p:cNvSpPr/>
          <p:nvPr/>
        </p:nvSpPr>
        <p:spPr>
          <a:xfrm>
            <a:off x="5669280" y="1188720"/>
            <a:ext cx="274320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Why ReAct?</a:t>
            </a:r>
            <a:endParaRPr lang="en-US" sz="1600" dirty="0"/>
          </a:p>
        </p:txBody>
      </p:sp>
      <p:pic>
        <p:nvPicPr>
          <p:cNvPr id="18" name="Image 0" descr="preencoded.png"/>
          <p:cNvPicPr>
            <a:picLocks noChangeAspect="1"/>
          </p:cNvPicPr>
          <p:nvPr/>
        </p:nvPicPr>
        <p:blipFill>
          <a:blip r:embed="rId3"/>
          <a:stretch>
            <a:fillRect/>
          </a:stretch>
        </p:blipFill>
        <p:spPr>
          <a:xfrm>
            <a:off x="5715000" y="1737360"/>
            <a:ext cx="274320" cy="274320"/>
          </a:xfrm>
          <a:prstGeom prst="rect">
            <a:avLst/>
          </a:prstGeom>
        </p:spPr>
      </p:pic>
      <p:sp>
        <p:nvSpPr>
          <p:cNvPr id="19" name="Text 16"/>
          <p:cNvSpPr/>
          <p:nvPr/>
        </p:nvSpPr>
        <p:spPr>
          <a:xfrm>
            <a:off x="6080760" y="1691640"/>
            <a:ext cx="2331720" cy="4114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Transparent reasoning — see the agent's thought process</a:t>
            </a:r>
            <a:endParaRPr lang="en-US" sz="1100" dirty="0"/>
          </a:p>
        </p:txBody>
      </p:sp>
      <p:pic>
        <p:nvPicPr>
          <p:cNvPr id="20" name="Image 1" descr="preencoded.png"/>
          <p:cNvPicPr>
            <a:picLocks noChangeAspect="1"/>
          </p:cNvPicPr>
          <p:nvPr/>
        </p:nvPicPr>
        <p:blipFill>
          <a:blip r:embed="rId3"/>
          <a:stretch>
            <a:fillRect/>
          </a:stretch>
        </p:blipFill>
        <p:spPr>
          <a:xfrm>
            <a:off x="5715000" y="2377440"/>
            <a:ext cx="274320" cy="274320"/>
          </a:xfrm>
          <a:prstGeom prst="rect">
            <a:avLst/>
          </a:prstGeom>
        </p:spPr>
      </p:pic>
      <p:sp>
        <p:nvSpPr>
          <p:cNvPr id="21" name="Text 17"/>
          <p:cNvSpPr/>
          <p:nvPr/>
        </p:nvSpPr>
        <p:spPr>
          <a:xfrm>
            <a:off x="6080760" y="2331720"/>
            <a:ext cx="2331720" cy="4114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Grounded actions — decisions based on real observations</a:t>
            </a:r>
            <a:endParaRPr lang="en-US" sz="1100" dirty="0"/>
          </a:p>
        </p:txBody>
      </p:sp>
      <p:pic>
        <p:nvPicPr>
          <p:cNvPr id="22" name="Image 2" descr="preencoded.png"/>
          <p:cNvPicPr>
            <a:picLocks noChangeAspect="1"/>
          </p:cNvPicPr>
          <p:nvPr/>
        </p:nvPicPr>
        <p:blipFill>
          <a:blip r:embed="rId3"/>
          <a:stretch>
            <a:fillRect/>
          </a:stretch>
        </p:blipFill>
        <p:spPr>
          <a:xfrm>
            <a:off x="5715000" y="3017520"/>
            <a:ext cx="274320" cy="274320"/>
          </a:xfrm>
          <a:prstGeom prst="rect">
            <a:avLst/>
          </a:prstGeom>
        </p:spPr>
      </p:pic>
      <p:sp>
        <p:nvSpPr>
          <p:cNvPr id="23" name="Text 18"/>
          <p:cNvSpPr/>
          <p:nvPr/>
        </p:nvSpPr>
        <p:spPr>
          <a:xfrm>
            <a:off x="6080760" y="2971800"/>
            <a:ext cx="2331720" cy="4114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Error recovery — agent can re-plan when actions fail</a:t>
            </a:r>
            <a:endParaRPr lang="en-US" sz="1100" dirty="0"/>
          </a:p>
        </p:txBody>
      </p:sp>
      <p:pic>
        <p:nvPicPr>
          <p:cNvPr id="24" name="Image 3" descr="preencoded.png"/>
          <p:cNvPicPr>
            <a:picLocks noChangeAspect="1"/>
          </p:cNvPicPr>
          <p:nvPr/>
        </p:nvPicPr>
        <p:blipFill>
          <a:blip r:embed="rId3"/>
          <a:stretch>
            <a:fillRect/>
          </a:stretch>
        </p:blipFill>
        <p:spPr>
          <a:xfrm>
            <a:off x="5715000" y="3657600"/>
            <a:ext cx="274320" cy="274320"/>
          </a:xfrm>
          <a:prstGeom prst="rect">
            <a:avLst/>
          </a:prstGeom>
        </p:spPr>
      </p:pic>
      <p:sp>
        <p:nvSpPr>
          <p:cNvPr id="25" name="Text 19"/>
          <p:cNvSpPr/>
          <p:nvPr/>
        </p:nvSpPr>
        <p:spPr>
          <a:xfrm>
            <a:off x="6080760" y="3611880"/>
            <a:ext cx="2331720" cy="4114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Human-debuggable — trace every decision step</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What Standard LLMs Can't Do (That Agents Can)</a:t>
            </a:r>
            <a:endParaRPr lang="en-US" sz="2200" dirty="0"/>
          </a:p>
        </p:txBody>
      </p:sp>
      <p:sp>
        <p:nvSpPr>
          <p:cNvPr id="4" name="Shape 2"/>
          <p:cNvSpPr/>
          <p:nvPr/>
        </p:nvSpPr>
        <p:spPr>
          <a:xfrm>
            <a:off x="731520" y="1097280"/>
            <a:ext cx="365760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Text 3"/>
          <p:cNvSpPr/>
          <p:nvPr/>
        </p:nvSpPr>
        <p:spPr>
          <a:xfrm>
            <a:off x="914400" y="1188720"/>
            <a:ext cx="3291840" cy="365760"/>
          </a:xfrm>
          <a:prstGeom prst="rect">
            <a:avLst/>
          </a:prstGeom>
          <a:noFill/>
          <a:ln/>
        </p:spPr>
        <p:txBody>
          <a:bodyPr wrap="square" lIns="0" tIns="0" rIns="0" bIns="0" rtlCol="0" anchor="ctr"/>
          <a:lstStyle/>
          <a:p>
            <a:pPr marL="0" indent="0">
              <a:buNone/>
            </a:pPr>
            <a:r>
              <a:rPr lang="en-US" sz="1600" b="1" dirty="0">
                <a:solidFill>
                  <a:srgbClr val="EF4444"/>
                </a:solidFill>
                <a:latin typeface="Trebuchet MS" pitchFamily="34" charset="0"/>
                <a:ea typeface="Trebuchet MS" pitchFamily="34" charset="-122"/>
                <a:cs typeface="Trebuchet MS" pitchFamily="34" charset="-120"/>
              </a:rPr>
              <a:t>LLM Limitations</a:t>
            </a:r>
            <a:endParaRPr lang="en-US" sz="1600" dirty="0"/>
          </a:p>
        </p:txBody>
      </p:sp>
      <p:pic>
        <p:nvPicPr>
          <p:cNvPr id="6" name="Image 0" descr="preencoded.png"/>
          <p:cNvPicPr>
            <a:picLocks noChangeAspect="1"/>
          </p:cNvPicPr>
          <p:nvPr/>
        </p:nvPicPr>
        <p:blipFill>
          <a:blip r:embed="rId3"/>
          <a:stretch>
            <a:fillRect/>
          </a:stretch>
        </p:blipFill>
        <p:spPr>
          <a:xfrm>
            <a:off x="1005840" y="1691640"/>
            <a:ext cx="228600" cy="228600"/>
          </a:xfrm>
          <a:prstGeom prst="rect">
            <a:avLst/>
          </a:prstGeom>
        </p:spPr>
      </p:pic>
      <p:sp>
        <p:nvSpPr>
          <p:cNvPr id="7" name="Text 4"/>
          <p:cNvSpPr/>
          <p:nvPr/>
        </p:nvSpPr>
        <p:spPr>
          <a:xfrm>
            <a:off x="1325880" y="1691640"/>
            <a:ext cx="283464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No access to real-time data</a:t>
            </a:r>
            <a:endParaRPr lang="en-US" sz="1200" dirty="0"/>
          </a:p>
        </p:txBody>
      </p:sp>
      <p:pic>
        <p:nvPicPr>
          <p:cNvPr id="8" name="Image 1" descr="preencoded.png"/>
          <p:cNvPicPr>
            <a:picLocks noChangeAspect="1"/>
          </p:cNvPicPr>
          <p:nvPr/>
        </p:nvPicPr>
        <p:blipFill>
          <a:blip r:embed="rId3"/>
          <a:stretch>
            <a:fillRect/>
          </a:stretch>
        </p:blipFill>
        <p:spPr>
          <a:xfrm>
            <a:off x="1005840" y="2103120"/>
            <a:ext cx="228600" cy="228600"/>
          </a:xfrm>
          <a:prstGeom prst="rect">
            <a:avLst/>
          </a:prstGeom>
        </p:spPr>
      </p:pic>
      <p:sp>
        <p:nvSpPr>
          <p:cNvPr id="9" name="Text 5"/>
          <p:cNvSpPr/>
          <p:nvPr/>
        </p:nvSpPr>
        <p:spPr>
          <a:xfrm>
            <a:off x="1325880" y="2103120"/>
            <a:ext cx="283464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Can't execute code or call APIs</a:t>
            </a:r>
            <a:endParaRPr lang="en-US" sz="1200" dirty="0"/>
          </a:p>
        </p:txBody>
      </p:sp>
      <p:pic>
        <p:nvPicPr>
          <p:cNvPr id="10" name="Image 2" descr="preencoded.png"/>
          <p:cNvPicPr>
            <a:picLocks noChangeAspect="1"/>
          </p:cNvPicPr>
          <p:nvPr/>
        </p:nvPicPr>
        <p:blipFill>
          <a:blip r:embed="rId3"/>
          <a:stretch>
            <a:fillRect/>
          </a:stretch>
        </p:blipFill>
        <p:spPr>
          <a:xfrm>
            <a:off x="1005840" y="2514600"/>
            <a:ext cx="228600" cy="228600"/>
          </a:xfrm>
          <a:prstGeom prst="rect">
            <a:avLst/>
          </a:prstGeom>
        </p:spPr>
      </p:pic>
      <p:sp>
        <p:nvSpPr>
          <p:cNvPr id="11" name="Text 6"/>
          <p:cNvSpPr/>
          <p:nvPr/>
        </p:nvSpPr>
        <p:spPr>
          <a:xfrm>
            <a:off x="1325880" y="2514600"/>
            <a:ext cx="283464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No persistent memory across sessions</a:t>
            </a:r>
            <a:endParaRPr lang="en-US" sz="1200" dirty="0"/>
          </a:p>
        </p:txBody>
      </p:sp>
      <p:pic>
        <p:nvPicPr>
          <p:cNvPr id="12" name="Image 3" descr="preencoded.png"/>
          <p:cNvPicPr>
            <a:picLocks noChangeAspect="1"/>
          </p:cNvPicPr>
          <p:nvPr/>
        </p:nvPicPr>
        <p:blipFill>
          <a:blip r:embed="rId3"/>
          <a:stretch>
            <a:fillRect/>
          </a:stretch>
        </p:blipFill>
        <p:spPr>
          <a:xfrm>
            <a:off x="1005840" y="2926080"/>
            <a:ext cx="228600" cy="228600"/>
          </a:xfrm>
          <a:prstGeom prst="rect">
            <a:avLst/>
          </a:prstGeom>
        </p:spPr>
      </p:pic>
      <p:sp>
        <p:nvSpPr>
          <p:cNvPr id="13" name="Text 7"/>
          <p:cNvSpPr/>
          <p:nvPr/>
        </p:nvSpPr>
        <p:spPr>
          <a:xfrm>
            <a:off x="1325880" y="2926080"/>
            <a:ext cx="283464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Can't break down multi-step tasks</a:t>
            </a:r>
            <a:endParaRPr lang="en-US" sz="1200" dirty="0"/>
          </a:p>
        </p:txBody>
      </p:sp>
      <p:pic>
        <p:nvPicPr>
          <p:cNvPr id="14" name="Image 4" descr="preencoded.png"/>
          <p:cNvPicPr>
            <a:picLocks noChangeAspect="1"/>
          </p:cNvPicPr>
          <p:nvPr/>
        </p:nvPicPr>
        <p:blipFill>
          <a:blip r:embed="rId3"/>
          <a:stretch>
            <a:fillRect/>
          </a:stretch>
        </p:blipFill>
        <p:spPr>
          <a:xfrm>
            <a:off x="1005840" y="3337560"/>
            <a:ext cx="228600" cy="228600"/>
          </a:xfrm>
          <a:prstGeom prst="rect">
            <a:avLst/>
          </a:prstGeom>
        </p:spPr>
      </p:pic>
      <p:sp>
        <p:nvSpPr>
          <p:cNvPr id="15" name="Text 8"/>
          <p:cNvSpPr/>
          <p:nvPr/>
        </p:nvSpPr>
        <p:spPr>
          <a:xfrm>
            <a:off x="1325880" y="3337560"/>
            <a:ext cx="283464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Hallucinate when unsure</a:t>
            </a:r>
            <a:endParaRPr lang="en-US" sz="1200" dirty="0"/>
          </a:p>
        </p:txBody>
      </p:sp>
      <p:pic>
        <p:nvPicPr>
          <p:cNvPr id="16" name="Image 5" descr="preencoded.png"/>
          <p:cNvPicPr>
            <a:picLocks noChangeAspect="1"/>
          </p:cNvPicPr>
          <p:nvPr/>
        </p:nvPicPr>
        <p:blipFill>
          <a:blip r:embed="rId3"/>
          <a:stretch>
            <a:fillRect/>
          </a:stretch>
        </p:blipFill>
        <p:spPr>
          <a:xfrm>
            <a:off x="1005840" y="3749040"/>
            <a:ext cx="228600" cy="228600"/>
          </a:xfrm>
          <a:prstGeom prst="rect">
            <a:avLst/>
          </a:prstGeom>
        </p:spPr>
      </p:pic>
      <p:sp>
        <p:nvSpPr>
          <p:cNvPr id="17" name="Text 9"/>
          <p:cNvSpPr/>
          <p:nvPr/>
        </p:nvSpPr>
        <p:spPr>
          <a:xfrm>
            <a:off x="1325880" y="3749040"/>
            <a:ext cx="283464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Static — one response, no iteration</a:t>
            </a:r>
            <a:endParaRPr lang="en-US" sz="1200" dirty="0"/>
          </a:p>
        </p:txBody>
      </p:sp>
      <p:sp>
        <p:nvSpPr>
          <p:cNvPr id="18" name="Shape 10"/>
          <p:cNvSpPr/>
          <p:nvPr/>
        </p:nvSpPr>
        <p:spPr>
          <a:xfrm>
            <a:off x="4754880" y="1097280"/>
            <a:ext cx="3840480" cy="329184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9" name="Text 11"/>
          <p:cNvSpPr/>
          <p:nvPr/>
        </p:nvSpPr>
        <p:spPr>
          <a:xfrm>
            <a:off x="4937760" y="1188720"/>
            <a:ext cx="3474720" cy="365760"/>
          </a:xfrm>
          <a:prstGeom prst="rect">
            <a:avLst/>
          </a:prstGeom>
          <a:noFill/>
          <a:ln/>
        </p:spPr>
        <p:txBody>
          <a:bodyPr wrap="square" lIns="0" tIns="0" rIns="0" bIns="0" rtlCol="0" anchor="ctr"/>
          <a:lstStyle/>
          <a:p>
            <a:pPr marL="0" indent="0">
              <a:buNone/>
            </a:pPr>
            <a:r>
              <a:rPr lang="en-US" sz="1600" b="1" dirty="0">
                <a:solidFill>
                  <a:srgbClr val="10B981"/>
                </a:solidFill>
                <a:latin typeface="Trebuchet MS" pitchFamily="34" charset="0"/>
                <a:ea typeface="Trebuchet MS" pitchFamily="34" charset="-122"/>
                <a:cs typeface="Trebuchet MS" pitchFamily="34" charset="-120"/>
              </a:rPr>
              <a:t>Agent Solutions</a:t>
            </a:r>
            <a:endParaRPr lang="en-US" sz="1600" dirty="0"/>
          </a:p>
        </p:txBody>
      </p:sp>
      <p:pic>
        <p:nvPicPr>
          <p:cNvPr id="20" name="Image 6" descr="preencoded.png"/>
          <p:cNvPicPr>
            <a:picLocks noChangeAspect="1"/>
          </p:cNvPicPr>
          <p:nvPr/>
        </p:nvPicPr>
        <p:blipFill>
          <a:blip r:embed="rId4"/>
          <a:stretch>
            <a:fillRect/>
          </a:stretch>
        </p:blipFill>
        <p:spPr>
          <a:xfrm>
            <a:off x="5029200" y="1691640"/>
            <a:ext cx="228600" cy="228600"/>
          </a:xfrm>
          <a:prstGeom prst="rect">
            <a:avLst/>
          </a:prstGeom>
        </p:spPr>
      </p:pic>
      <p:sp>
        <p:nvSpPr>
          <p:cNvPr id="21" name="Text 12"/>
          <p:cNvSpPr/>
          <p:nvPr/>
        </p:nvSpPr>
        <p:spPr>
          <a:xfrm>
            <a:off x="5349240" y="1691640"/>
            <a:ext cx="30175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Web search &amp; API integration</a:t>
            </a:r>
            <a:endParaRPr lang="en-US" sz="1200" dirty="0"/>
          </a:p>
        </p:txBody>
      </p:sp>
      <p:pic>
        <p:nvPicPr>
          <p:cNvPr id="22" name="Image 7" descr="preencoded.png"/>
          <p:cNvPicPr>
            <a:picLocks noChangeAspect="1"/>
          </p:cNvPicPr>
          <p:nvPr/>
        </p:nvPicPr>
        <p:blipFill>
          <a:blip r:embed="rId4"/>
          <a:stretch>
            <a:fillRect/>
          </a:stretch>
        </p:blipFill>
        <p:spPr>
          <a:xfrm>
            <a:off x="5029200" y="2103120"/>
            <a:ext cx="228600" cy="228600"/>
          </a:xfrm>
          <a:prstGeom prst="rect">
            <a:avLst/>
          </a:prstGeom>
        </p:spPr>
      </p:pic>
      <p:sp>
        <p:nvSpPr>
          <p:cNvPr id="23" name="Text 13"/>
          <p:cNvSpPr/>
          <p:nvPr/>
        </p:nvSpPr>
        <p:spPr>
          <a:xfrm>
            <a:off x="5349240" y="2103120"/>
            <a:ext cx="30175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Tool calling &amp; code execution</a:t>
            </a:r>
            <a:endParaRPr lang="en-US" sz="1200" dirty="0"/>
          </a:p>
        </p:txBody>
      </p:sp>
      <p:pic>
        <p:nvPicPr>
          <p:cNvPr id="24" name="Image 8" descr="preencoded.png"/>
          <p:cNvPicPr>
            <a:picLocks noChangeAspect="1"/>
          </p:cNvPicPr>
          <p:nvPr/>
        </p:nvPicPr>
        <p:blipFill>
          <a:blip r:embed="rId4"/>
          <a:stretch>
            <a:fillRect/>
          </a:stretch>
        </p:blipFill>
        <p:spPr>
          <a:xfrm>
            <a:off x="5029200" y="2514600"/>
            <a:ext cx="228600" cy="228600"/>
          </a:xfrm>
          <a:prstGeom prst="rect">
            <a:avLst/>
          </a:prstGeom>
        </p:spPr>
      </p:pic>
      <p:sp>
        <p:nvSpPr>
          <p:cNvPr id="25" name="Text 14"/>
          <p:cNvSpPr/>
          <p:nvPr/>
        </p:nvSpPr>
        <p:spPr>
          <a:xfrm>
            <a:off x="5349240" y="2514600"/>
            <a:ext cx="30175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Vector stores &amp; conversation memory</a:t>
            </a:r>
            <a:endParaRPr lang="en-US" sz="1200" dirty="0"/>
          </a:p>
        </p:txBody>
      </p:sp>
      <p:pic>
        <p:nvPicPr>
          <p:cNvPr id="26" name="Image 9" descr="preencoded.png"/>
          <p:cNvPicPr>
            <a:picLocks noChangeAspect="1"/>
          </p:cNvPicPr>
          <p:nvPr/>
        </p:nvPicPr>
        <p:blipFill>
          <a:blip r:embed="rId4"/>
          <a:stretch>
            <a:fillRect/>
          </a:stretch>
        </p:blipFill>
        <p:spPr>
          <a:xfrm>
            <a:off x="5029200" y="2926080"/>
            <a:ext cx="228600" cy="228600"/>
          </a:xfrm>
          <a:prstGeom prst="rect">
            <a:avLst/>
          </a:prstGeom>
        </p:spPr>
      </p:pic>
      <p:sp>
        <p:nvSpPr>
          <p:cNvPr id="27" name="Text 15"/>
          <p:cNvSpPr/>
          <p:nvPr/>
        </p:nvSpPr>
        <p:spPr>
          <a:xfrm>
            <a:off x="5349240" y="2926080"/>
            <a:ext cx="30175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Task decomposition &amp; planning</a:t>
            </a:r>
            <a:endParaRPr lang="en-US" sz="1200" dirty="0"/>
          </a:p>
        </p:txBody>
      </p:sp>
      <p:pic>
        <p:nvPicPr>
          <p:cNvPr id="28" name="Image 10" descr="preencoded.png"/>
          <p:cNvPicPr>
            <a:picLocks noChangeAspect="1"/>
          </p:cNvPicPr>
          <p:nvPr/>
        </p:nvPicPr>
        <p:blipFill>
          <a:blip r:embed="rId4"/>
          <a:stretch>
            <a:fillRect/>
          </a:stretch>
        </p:blipFill>
        <p:spPr>
          <a:xfrm>
            <a:off x="5029200" y="3337560"/>
            <a:ext cx="228600" cy="228600"/>
          </a:xfrm>
          <a:prstGeom prst="rect">
            <a:avLst/>
          </a:prstGeom>
        </p:spPr>
      </p:pic>
      <p:sp>
        <p:nvSpPr>
          <p:cNvPr id="29" name="Text 16"/>
          <p:cNvSpPr/>
          <p:nvPr/>
        </p:nvSpPr>
        <p:spPr>
          <a:xfrm>
            <a:off x="5349240" y="3337560"/>
            <a:ext cx="30175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Fact-checking via tool verification</a:t>
            </a:r>
            <a:endParaRPr lang="en-US" sz="1200" dirty="0"/>
          </a:p>
        </p:txBody>
      </p:sp>
      <p:pic>
        <p:nvPicPr>
          <p:cNvPr id="30" name="Image 11" descr="preencoded.png"/>
          <p:cNvPicPr>
            <a:picLocks noChangeAspect="1"/>
          </p:cNvPicPr>
          <p:nvPr/>
        </p:nvPicPr>
        <p:blipFill>
          <a:blip r:embed="rId4"/>
          <a:stretch>
            <a:fillRect/>
          </a:stretch>
        </p:blipFill>
        <p:spPr>
          <a:xfrm>
            <a:off x="5029200" y="3749040"/>
            <a:ext cx="228600" cy="228600"/>
          </a:xfrm>
          <a:prstGeom prst="rect">
            <a:avLst/>
          </a:prstGeom>
        </p:spPr>
      </p:pic>
      <p:sp>
        <p:nvSpPr>
          <p:cNvPr id="31" name="Text 17"/>
          <p:cNvSpPr/>
          <p:nvPr/>
        </p:nvSpPr>
        <p:spPr>
          <a:xfrm>
            <a:off x="5349240" y="3749040"/>
            <a:ext cx="3017520" cy="27432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Iterative refinement loops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Real-World Use Cases of AI Agents</a:t>
            </a:r>
            <a:endParaRPr lang="en-US" sz="2200" dirty="0"/>
          </a:p>
        </p:txBody>
      </p:sp>
      <p:sp>
        <p:nvSpPr>
          <p:cNvPr id="4" name="Shape 2"/>
          <p:cNvSpPr/>
          <p:nvPr/>
        </p:nvSpPr>
        <p:spPr>
          <a:xfrm>
            <a:off x="457200" y="10972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594360" y="1234440"/>
            <a:ext cx="457200" cy="457200"/>
          </a:xfrm>
          <a:prstGeom prst="ellipse">
            <a:avLst/>
          </a:prstGeom>
          <a:solidFill>
            <a:srgbClr val="0891B2"/>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694944" y="1335024"/>
            <a:ext cx="256032" cy="256032"/>
          </a:xfrm>
          <a:prstGeom prst="rect">
            <a:avLst/>
          </a:prstGeom>
        </p:spPr>
      </p:pic>
      <p:sp>
        <p:nvSpPr>
          <p:cNvPr id="7" name="Text 4"/>
          <p:cNvSpPr/>
          <p:nvPr/>
        </p:nvSpPr>
        <p:spPr>
          <a:xfrm>
            <a:off x="1188720" y="12070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Customer Support</a:t>
            </a:r>
            <a:endParaRPr lang="en-US" sz="1300" dirty="0"/>
          </a:p>
        </p:txBody>
      </p:sp>
      <p:sp>
        <p:nvSpPr>
          <p:cNvPr id="8" name="Text 5"/>
          <p:cNvSpPr/>
          <p:nvPr/>
        </p:nvSpPr>
        <p:spPr>
          <a:xfrm>
            <a:off x="594360" y="16459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Autonomous ticket resolution — diagnose issue, search KB, escalate if needed</a:t>
            </a:r>
            <a:endParaRPr lang="en-US" sz="1000" dirty="0"/>
          </a:p>
        </p:txBody>
      </p:sp>
      <p:sp>
        <p:nvSpPr>
          <p:cNvPr id="9" name="Shape 6"/>
          <p:cNvSpPr/>
          <p:nvPr/>
        </p:nvSpPr>
        <p:spPr>
          <a:xfrm>
            <a:off x="3337560" y="10972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0" name="Shape 7"/>
          <p:cNvSpPr/>
          <p:nvPr/>
        </p:nvSpPr>
        <p:spPr>
          <a:xfrm>
            <a:off x="3474720" y="1234440"/>
            <a:ext cx="457200" cy="457200"/>
          </a:xfrm>
          <a:prstGeom prst="ellipse">
            <a:avLst/>
          </a:prstGeom>
          <a:solidFill>
            <a:srgbClr val="F59E0B"/>
          </a:solidFill>
          <a:ln/>
        </p:spPr>
        <p:txBody>
          <a:bodyPr/>
          <a:lstStyle/>
          <a:p>
            <a:endParaRPr lang="en-US" dirty="0"/>
          </a:p>
        </p:txBody>
      </p:sp>
      <p:pic>
        <p:nvPicPr>
          <p:cNvPr id="11" name="Image 1" descr="preencoded.png"/>
          <p:cNvPicPr>
            <a:picLocks noChangeAspect="1"/>
          </p:cNvPicPr>
          <p:nvPr/>
        </p:nvPicPr>
        <p:blipFill>
          <a:blip r:embed="rId4"/>
          <a:stretch>
            <a:fillRect/>
          </a:stretch>
        </p:blipFill>
        <p:spPr>
          <a:xfrm>
            <a:off x="3575304" y="1335024"/>
            <a:ext cx="256032" cy="256032"/>
          </a:xfrm>
          <a:prstGeom prst="rect">
            <a:avLst/>
          </a:prstGeom>
        </p:spPr>
      </p:pic>
      <p:sp>
        <p:nvSpPr>
          <p:cNvPr id="12" name="Text 8"/>
          <p:cNvSpPr/>
          <p:nvPr/>
        </p:nvSpPr>
        <p:spPr>
          <a:xfrm>
            <a:off x="4069080" y="12070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Data Analysis</a:t>
            </a:r>
            <a:endParaRPr lang="en-US" sz="1300" dirty="0"/>
          </a:p>
        </p:txBody>
      </p:sp>
      <p:sp>
        <p:nvSpPr>
          <p:cNvPr id="13" name="Text 9"/>
          <p:cNvSpPr/>
          <p:nvPr/>
        </p:nvSpPr>
        <p:spPr>
          <a:xfrm>
            <a:off x="3474720" y="16459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Analyze datasets, write SQL queries, generate visualizations, produce reports</a:t>
            </a:r>
            <a:endParaRPr lang="en-US" sz="1000" dirty="0"/>
          </a:p>
        </p:txBody>
      </p:sp>
      <p:sp>
        <p:nvSpPr>
          <p:cNvPr id="14" name="Shape 10"/>
          <p:cNvSpPr/>
          <p:nvPr/>
        </p:nvSpPr>
        <p:spPr>
          <a:xfrm>
            <a:off x="6217920" y="10972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5" name="Shape 11"/>
          <p:cNvSpPr/>
          <p:nvPr/>
        </p:nvSpPr>
        <p:spPr>
          <a:xfrm>
            <a:off x="6355080" y="1234440"/>
            <a:ext cx="457200" cy="457200"/>
          </a:xfrm>
          <a:prstGeom prst="ellipse">
            <a:avLst/>
          </a:prstGeom>
          <a:solidFill>
            <a:srgbClr val="10B981"/>
          </a:solidFill>
          <a:ln/>
        </p:spPr>
        <p:txBody>
          <a:bodyPr/>
          <a:lstStyle/>
          <a:p>
            <a:endParaRPr lang="en-US" dirty="0"/>
          </a:p>
        </p:txBody>
      </p:sp>
      <p:pic>
        <p:nvPicPr>
          <p:cNvPr id="16" name="Image 2" descr="preencoded.png"/>
          <p:cNvPicPr>
            <a:picLocks noChangeAspect="1"/>
          </p:cNvPicPr>
          <p:nvPr/>
        </p:nvPicPr>
        <p:blipFill>
          <a:blip r:embed="rId5"/>
          <a:stretch>
            <a:fillRect/>
          </a:stretch>
        </p:blipFill>
        <p:spPr>
          <a:xfrm>
            <a:off x="6455664" y="1335024"/>
            <a:ext cx="256032" cy="256032"/>
          </a:xfrm>
          <a:prstGeom prst="rect">
            <a:avLst/>
          </a:prstGeom>
        </p:spPr>
      </p:pic>
      <p:sp>
        <p:nvSpPr>
          <p:cNvPr id="17" name="Text 12"/>
          <p:cNvSpPr/>
          <p:nvPr/>
        </p:nvSpPr>
        <p:spPr>
          <a:xfrm>
            <a:off x="6949440" y="12070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Software Dev</a:t>
            </a:r>
            <a:endParaRPr lang="en-US" sz="1300" dirty="0"/>
          </a:p>
        </p:txBody>
      </p:sp>
      <p:sp>
        <p:nvSpPr>
          <p:cNvPr id="18" name="Text 13"/>
          <p:cNvSpPr/>
          <p:nvPr/>
        </p:nvSpPr>
        <p:spPr>
          <a:xfrm>
            <a:off x="6355080" y="16459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Debug code, write tests, review PRs, deploy — all via natural language</a:t>
            </a:r>
            <a:endParaRPr lang="en-US" sz="1000" dirty="0"/>
          </a:p>
        </p:txBody>
      </p:sp>
      <p:sp>
        <p:nvSpPr>
          <p:cNvPr id="19" name="Shape 14"/>
          <p:cNvSpPr/>
          <p:nvPr/>
        </p:nvSpPr>
        <p:spPr>
          <a:xfrm>
            <a:off x="457200" y="29260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0" name="Shape 15"/>
          <p:cNvSpPr/>
          <p:nvPr/>
        </p:nvSpPr>
        <p:spPr>
          <a:xfrm>
            <a:off x="594360" y="3063240"/>
            <a:ext cx="457200" cy="457200"/>
          </a:xfrm>
          <a:prstGeom prst="ellipse">
            <a:avLst/>
          </a:prstGeom>
          <a:solidFill>
            <a:srgbClr val="8B5CF6"/>
          </a:solidFill>
          <a:ln/>
        </p:spPr>
        <p:txBody>
          <a:bodyPr/>
          <a:lstStyle/>
          <a:p>
            <a:endParaRPr lang="en-US" dirty="0"/>
          </a:p>
        </p:txBody>
      </p:sp>
      <p:pic>
        <p:nvPicPr>
          <p:cNvPr id="21" name="Image 3" descr="preencoded.png"/>
          <p:cNvPicPr>
            <a:picLocks noChangeAspect="1"/>
          </p:cNvPicPr>
          <p:nvPr/>
        </p:nvPicPr>
        <p:blipFill>
          <a:blip r:embed="rId6"/>
          <a:stretch>
            <a:fillRect/>
          </a:stretch>
        </p:blipFill>
        <p:spPr>
          <a:xfrm>
            <a:off x="694944" y="3163824"/>
            <a:ext cx="256032" cy="256032"/>
          </a:xfrm>
          <a:prstGeom prst="rect">
            <a:avLst/>
          </a:prstGeom>
        </p:spPr>
      </p:pic>
      <p:sp>
        <p:nvSpPr>
          <p:cNvPr id="22" name="Text 16"/>
          <p:cNvSpPr/>
          <p:nvPr/>
        </p:nvSpPr>
        <p:spPr>
          <a:xfrm>
            <a:off x="1188720" y="30358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Research</a:t>
            </a:r>
            <a:endParaRPr lang="en-US" sz="1300" dirty="0"/>
          </a:p>
        </p:txBody>
      </p:sp>
      <p:sp>
        <p:nvSpPr>
          <p:cNvPr id="23" name="Text 17"/>
          <p:cNvSpPr/>
          <p:nvPr/>
        </p:nvSpPr>
        <p:spPr>
          <a:xfrm>
            <a:off x="594360" y="34747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Search papers, summarize findings, compare methodologies, generate hypotheses</a:t>
            </a:r>
            <a:endParaRPr lang="en-US" sz="1000" dirty="0"/>
          </a:p>
        </p:txBody>
      </p:sp>
      <p:sp>
        <p:nvSpPr>
          <p:cNvPr id="24" name="Shape 18"/>
          <p:cNvSpPr/>
          <p:nvPr/>
        </p:nvSpPr>
        <p:spPr>
          <a:xfrm>
            <a:off x="3337560" y="29260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5" name="Shape 19"/>
          <p:cNvSpPr/>
          <p:nvPr/>
        </p:nvSpPr>
        <p:spPr>
          <a:xfrm>
            <a:off x="3474720" y="3063240"/>
            <a:ext cx="457200" cy="457200"/>
          </a:xfrm>
          <a:prstGeom prst="ellipse">
            <a:avLst/>
          </a:prstGeom>
          <a:solidFill>
            <a:srgbClr val="F97316"/>
          </a:solidFill>
          <a:ln/>
        </p:spPr>
        <p:txBody>
          <a:bodyPr/>
          <a:lstStyle/>
          <a:p>
            <a:endParaRPr lang="en-US" dirty="0"/>
          </a:p>
        </p:txBody>
      </p:sp>
      <p:pic>
        <p:nvPicPr>
          <p:cNvPr id="26" name="Image 4" descr="preencoded.png"/>
          <p:cNvPicPr>
            <a:picLocks noChangeAspect="1"/>
          </p:cNvPicPr>
          <p:nvPr/>
        </p:nvPicPr>
        <p:blipFill>
          <a:blip r:embed="rId7"/>
          <a:stretch>
            <a:fillRect/>
          </a:stretch>
        </p:blipFill>
        <p:spPr>
          <a:xfrm>
            <a:off x="3575304" y="3163824"/>
            <a:ext cx="256032" cy="256032"/>
          </a:xfrm>
          <a:prstGeom prst="rect">
            <a:avLst/>
          </a:prstGeom>
        </p:spPr>
      </p:pic>
      <p:sp>
        <p:nvSpPr>
          <p:cNvPr id="27" name="Text 20"/>
          <p:cNvSpPr/>
          <p:nvPr/>
        </p:nvSpPr>
        <p:spPr>
          <a:xfrm>
            <a:off x="4069080" y="30358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Operations</a:t>
            </a:r>
            <a:endParaRPr lang="en-US" sz="1300" dirty="0"/>
          </a:p>
        </p:txBody>
      </p:sp>
      <p:sp>
        <p:nvSpPr>
          <p:cNvPr id="28" name="Text 21"/>
          <p:cNvSpPr/>
          <p:nvPr/>
        </p:nvSpPr>
        <p:spPr>
          <a:xfrm>
            <a:off x="3474720" y="34747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Monitor systems, detect anomalies, trigger alerts, execute runbooks</a:t>
            </a:r>
            <a:endParaRPr lang="en-US" sz="1000" dirty="0"/>
          </a:p>
        </p:txBody>
      </p:sp>
      <p:sp>
        <p:nvSpPr>
          <p:cNvPr id="29" name="Shape 22"/>
          <p:cNvSpPr/>
          <p:nvPr/>
        </p:nvSpPr>
        <p:spPr>
          <a:xfrm>
            <a:off x="6217920" y="29260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30" name="Shape 23"/>
          <p:cNvSpPr/>
          <p:nvPr/>
        </p:nvSpPr>
        <p:spPr>
          <a:xfrm>
            <a:off x="6355080" y="3063240"/>
            <a:ext cx="457200" cy="457200"/>
          </a:xfrm>
          <a:prstGeom prst="ellipse">
            <a:avLst/>
          </a:prstGeom>
          <a:solidFill>
            <a:srgbClr val="0891B2"/>
          </a:solidFill>
          <a:ln/>
        </p:spPr>
        <p:txBody>
          <a:bodyPr/>
          <a:lstStyle/>
          <a:p>
            <a:endParaRPr lang="en-US" dirty="0"/>
          </a:p>
        </p:txBody>
      </p:sp>
      <p:pic>
        <p:nvPicPr>
          <p:cNvPr id="31" name="Image 5" descr="preencoded.png"/>
          <p:cNvPicPr>
            <a:picLocks noChangeAspect="1"/>
          </p:cNvPicPr>
          <p:nvPr/>
        </p:nvPicPr>
        <p:blipFill>
          <a:blip r:embed="rId8"/>
          <a:stretch>
            <a:fillRect/>
          </a:stretch>
        </p:blipFill>
        <p:spPr>
          <a:xfrm>
            <a:off x="6455664" y="3163824"/>
            <a:ext cx="256032" cy="256032"/>
          </a:xfrm>
          <a:prstGeom prst="rect">
            <a:avLst/>
          </a:prstGeom>
        </p:spPr>
      </p:pic>
      <p:sp>
        <p:nvSpPr>
          <p:cNvPr id="32" name="Text 24"/>
          <p:cNvSpPr/>
          <p:nvPr/>
        </p:nvSpPr>
        <p:spPr>
          <a:xfrm>
            <a:off x="6949440" y="30358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Personal Assistant</a:t>
            </a:r>
            <a:endParaRPr lang="en-US" sz="1300" dirty="0"/>
          </a:p>
        </p:txBody>
      </p:sp>
      <p:sp>
        <p:nvSpPr>
          <p:cNvPr id="33" name="Text 25"/>
          <p:cNvSpPr/>
          <p:nvPr/>
        </p:nvSpPr>
        <p:spPr>
          <a:xfrm>
            <a:off x="6355080" y="34747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Manage calendar, draft emails, book travel, coordinate across platforms</a:t>
            </a:r>
            <a:endParaRPr lang="en-US" sz="1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Practical Uses of AI Agents — Industry Deep Dive</a:t>
            </a:r>
            <a:endParaRPr lang="en-US" sz="2200" dirty="0"/>
          </a:p>
        </p:txBody>
      </p:sp>
      <p:sp>
        <p:nvSpPr>
          <p:cNvPr id="4" name="Shape 2"/>
          <p:cNvSpPr/>
          <p:nvPr/>
        </p:nvSpPr>
        <p:spPr>
          <a:xfrm>
            <a:off x="457200" y="10972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594360" y="1234440"/>
            <a:ext cx="457200" cy="457200"/>
          </a:xfrm>
          <a:prstGeom prst="ellipse">
            <a:avLst/>
          </a:prstGeom>
          <a:solidFill>
            <a:srgbClr val="EF4444"/>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694944" y="1335024"/>
            <a:ext cx="256032" cy="256032"/>
          </a:xfrm>
          <a:prstGeom prst="rect">
            <a:avLst/>
          </a:prstGeom>
        </p:spPr>
      </p:pic>
      <p:sp>
        <p:nvSpPr>
          <p:cNvPr id="7" name="Text 4"/>
          <p:cNvSpPr/>
          <p:nvPr/>
        </p:nvSpPr>
        <p:spPr>
          <a:xfrm>
            <a:off x="1188720" y="12070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Healthcare</a:t>
            </a:r>
            <a:endParaRPr lang="en-US" sz="1300" dirty="0"/>
          </a:p>
        </p:txBody>
      </p:sp>
      <p:sp>
        <p:nvSpPr>
          <p:cNvPr id="8" name="Text 5"/>
          <p:cNvSpPr/>
          <p:nvPr/>
        </p:nvSpPr>
        <p:spPr>
          <a:xfrm>
            <a:off x="594360" y="16459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Drug interaction checking, patient triage, clinical trial matching, medical record summarization</a:t>
            </a:r>
            <a:endParaRPr lang="en-US" sz="1000" dirty="0"/>
          </a:p>
        </p:txBody>
      </p:sp>
      <p:sp>
        <p:nvSpPr>
          <p:cNvPr id="9" name="Shape 6"/>
          <p:cNvSpPr/>
          <p:nvPr/>
        </p:nvSpPr>
        <p:spPr>
          <a:xfrm>
            <a:off x="3337560" y="10972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0" name="Shape 7"/>
          <p:cNvSpPr/>
          <p:nvPr/>
        </p:nvSpPr>
        <p:spPr>
          <a:xfrm>
            <a:off x="3474720" y="1234440"/>
            <a:ext cx="457200" cy="457200"/>
          </a:xfrm>
          <a:prstGeom prst="ellipse">
            <a:avLst/>
          </a:prstGeom>
          <a:solidFill>
            <a:srgbClr val="10B981"/>
          </a:solidFill>
          <a:ln/>
        </p:spPr>
        <p:txBody>
          <a:bodyPr/>
          <a:lstStyle/>
          <a:p>
            <a:endParaRPr lang="en-US" dirty="0"/>
          </a:p>
        </p:txBody>
      </p:sp>
      <p:pic>
        <p:nvPicPr>
          <p:cNvPr id="11" name="Image 1" descr="preencoded.png"/>
          <p:cNvPicPr>
            <a:picLocks noChangeAspect="1"/>
          </p:cNvPicPr>
          <p:nvPr/>
        </p:nvPicPr>
        <p:blipFill>
          <a:blip r:embed="rId4"/>
          <a:stretch>
            <a:fillRect/>
          </a:stretch>
        </p:blipFill>
        <p:spPr>
          <a:xfrm>
            <a:off x="3575304" y="1335024"/>
            <a:ext cx="256032" cy="256032"/>
          </a:xfrm>
          <a:prstGeom prst="rect">
            <a:avLst/>
          </a:prstGeom>
        </p:spPr>
      </p:pic>
      <p:sp>
        <p:nvSpPr>
          <p:cNvPr id="12" name="Text 8"/>
          <p:cNvSpPr/>
          <p:nvPr/>
        </p:nvSpPr>
        <p:spPr>
          <a:xfrm>
            <a:off x="4069080" y="12070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Finance</a:t>
            </a:r>
            <a:endParaRPr lang="en-US" sz="1300" dirty="0"/>
          </a:p>
        </p:txBody>
      </p:sp>
      <p:sp>
        <p:nvSpPr>
          <p:cNvPr id="13" name="Text 9"/>
          <p:cNvSpPr/>
          <p:nvPr/>
        </p:nvSpPr>
        <p:spPr>
          <a:xfrm>
            <a:off x="3474720" y="16459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Fraud detection workflows, portfolio rebalancing, regulatory compliance checks, risk assessment</a:t>
            </a:r>
            <a:endParaRPr lang="en-US" sz="1000" dirty="0"/>
          </a:p>
        </p:txBody>
      </p:sp>
      <p:sp>
        <p:nvSpPr>
          <p:cNvPr id="14" name="Shape 10"/>
          <p:cNvSpPr/>
          <p:nvPr/>
        </p:nvSpPr>
        <p:spPr>
          <a:xfrm>
            <a:off x="6217920" y="10972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5" name="Shape 11"/>
          <p:cNvSpPr/>
          <p:nvPr/>
        </p:nvSpPr>
        <p:spPr>
          <a:xfrm>
            <a:off x="6355080" y="1234440"/>
            <a:ext cx="457200" cy="457200"/>
          </a:xfrm>
          <a:prstGeom prst="ellipse">
            <a:avLst/>
          </a:prstGeom>
          <a:solidFill>
            <a:srgbClr val="F59E0B"/>
          </a:solidFill>
          <a:ln/>
        </p:spPr>
        <p:txBody>
          <a:bodyPr/>
          <a:lstStyle/>
          <a:p>
            <a:endParaRPr lang="en-US" dirty="0"/>
          </a:p>
        </p:txBody>
      </p:sp>
      <p:pic>
        <p:nvPicPr>
          <p:cNvPr id="16" name="Image 2" descr="preencoded.png"/>
          <p:cNvPicPr>
            <a:picLocks noChangeAspect="1"/>
          </p:cNvPicPr>
          <p:nvPr/>
        </p:nvPicPr>
        <p:blipFill>
          <a:blip r:embed="rId5"/>
          <a:stretch>
            <a:fillRect/>
          </a:stretch>
        </p:blipFill>
        <p:spPr>
          <a:xfrm>
            <a:off x="6455664" y="1335024"/>
            <a:ext cx="256032" cy="256032"/>
          </a:xfrm>
          <a:prstGeom prst="rect">
            <a:avLst/>
          </a:prstGeom>
        </p:spPr>
      </p:pic>
      <p:sp>
        <p:nvSpPr>
          <p:cNvPr id="17" name="Text 12"/>
          <p:cNvSpPr/>
          <p:nvPr/>
        </p:nvSpPr>
        <p:spPr>
          <a:xfrm>
            <a:off x="6949440" y="12070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E-Commerce</a:t>
            </a:r>
            <a:endParaRPr lang="en-US" sz="1300" dirty="0"/>
          </a:p>
        </p:txBody>
      </p:sp>
      <p:sp>
        <p:nvSpPr>
          <p:cNvPr id="18" name="Text 13"/>
          <p:cNvSpPr/>
          <p:nvPr/>
        </p:nvSpPr>
        <p:spPr>
          <a:xfrm>
            <a:off x="6355080" y="16459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Dynamic pricing agents, personalized shopping assistants, inventory management, return processing</a:t>
            </a:r>
            <a:endParaRPr lang="en-US" sz="1000" dirty="0"/>
          </a:p>
        </p:txBody>
      </p:sp>
      <p:sp>
        <p:nvSpPr>
          <p:cNvPr id="19" name="Shape 14"/>
          <p:cNvSpPr/>
          <p:nvPr/>
        </p:nvSpPr>
        <p:spPr>
          <a:xfrm>
            <a:off x="457200" y="29260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0" name="Shape 15"/>
          <p:cNvSpPr/>
          <p:nvPr/>
        </p:nvSpPr>
        <p:spPr>
          <a:xfrm>
            <a:off x="594360" y="3063240"/>
            <a:ext cx="457200" cy="457200"/>
          </a:xfrm>
          <a:prstGeom prst="ellipse">
            <a:avLst/>
          </a:prstGeom>
          <a:solidFill>
            <a:srgbClr val="8B5CF6"/>
          </a:solidFill>
          <a:ln/>
        </p:spPr>
        <p:txBody>
          <a:bodyPr/>
          <a:lstStyle/>
          <a:p>
            <a:endParaRPr lang="en-US" dirty="0"/>
          </a:p>
        </p:txBody>
      </p:sp>
      <p:pic>
        <p:nvPicPr>
          <p:cNvPr id="21" name="Image 3" descr="preencoded.png"/>
          <p:cNvPicPr>
            <a:picLocks noChangeAspect="1"/>
          </p:cNvPicPr>
          <p:nvPr/>
        </p:nvPicPr>
        <p:blipFill>
          <a:blip r:embed="rId6"/>
          <a:stretch>
            <a:fillRect/>
          </a:stretch>
        </p:blipFill>
        <p:spPr>
          <a:xfrm>
            <a:off x="694944" y="3163824"/>
            <a:ext cx="256032" cy="256032"/>
          </a:xfrm>
          <a:prstGeom prst="rect">
            <a:avLst/>
          </a:prstGeom>
        </p:spPr>
      </p:pic>
      <p:sp>
        <p:nvSpPr>
          <p:cNvPr id="22" name="Text 16"/>
          <p:cNvSpPr/>
          <p:nvPr/>
        </p:nvSpPr>
        <p:spPr>
          <a:xfrm>
            <a:off x="1188720" y="30358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Education</a:t>
            </a:r>
            <a:endParaRPr lang="en-US" sz="1300" dirty="0"/>
          </a:p>
        </p:txBody>
      </p:sp>
      <p:sp>
        <p:nvSpPr>
          <p:cNvPr id="23" name="Text 17"/>
          <p:cNvSpPr/>
          <p:nvPr/>
        </p:nvSpPr>
        <p:spPr>
          <a:xfrm>
            <a:off x="594360" y="34747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Personalized tutoring agents, curriculum planning, automated grading with feedback, research assistants</a:t>
            </a:r>
            <a:endParaRPr lang="en-US" sz="1000" dirty="0"/>
          </a:p>
        </p:txBody>
      </p:sp>
      <p:sp>
        <p:nvSpPr>
          <p:cNvPr id="24" name="Shape 18"/>
          <p:cNvSpPr/>
          <p:nvPr/>
        </p:nvSpPr>
        <p:spPr>
          <a:xfrm>
            <a:off x="3337560" y="29260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5" name="Shape 19"/>
          <p:cNvSpPr/>
          <p:nvPr/>
        </p:nvSpPr>
        <p:spPr>
          <a:xfrm>
            <a:off x="3474720" y="3063240"/>
            <a:ext cx="457200" cy="457200"/>
          </a:xfrm>
          <a:prstGeom prst="ellipse">
            <a:avLst/>
          </a:prstGeom>
          <a:solidFill>
            <a:srgbClr val="0891B2"/>
          </a:solidFill>
          <a:ln/>
        </p:spPr>
        <p:txBody>
          <a:bodyPr/>
          <a:lstStyle/>
          <a:p>
            <a:endParaRPr lang="en-US" dirty="0"/>
          </a:p>
        </p:txBody>
      </p:sp>
      <p:pic>
        <p:nvPicPr>
          <p:cNvPr id="26" name="Image 4" descr="preencoded.png"/>
          <p:cNvPicPr>
            <a:picLocks noChangeAspect="1"/>
          </p:cNvPicPr>
          <p:nvPr/>
        </p:nvPicPr>
        <p:blipFill>
          <a:blip r:embed="rId7"/>
          <a:stretch>
            <a:fillRect/>
          </a:stretch>
        </p:blipFill>
        <p:spPr>
          <a:xfrm>
            <a:off x="3575304" y="3163824"/>
            <a:ext cx="256032" cy="256032"/>
          </a:xfrm>
          <a:prstGeom prst="rect">
            <a:avLst/>
          </a:prstGeom>
        </p:spPr>
      </p:pic>
      <p:sp>
        <p:nvSpPr>
          <p:cNvPr id="27" name="Text 20"/>
          <p:cNvSpPr/>
          <p:nvPr/>
        </p:nvSpPr>
        <p:spPr>
          <a:xfrm>
            <a:off x="4069080" y="30358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Manufacturing</a:t>
            </a:r>
            <a:endParaRPr lang="en-US" sz="1300" dirty="0"/>
          </a:p>
        </p:txBody>
      </p:sp>
      <p:sp>
        <p:nvSpPr>
          <p:cNvPr id="28" name="Text 21"/>
          <p:cNvSpPr/>
          <p:nvPr/>
        </p:nvSpPr>
        <p:spPr>
          <a:xfrm>
            <a:off x="3474720" y="34747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Supply chain optimization, predictive maintenance agents, quality control, vendor negotiation bots</a:t>
            </a:r>
            <a:endParaRPr lang="en-US" sz="1000" dirty="0"/>
          </a:p>
        </p:txBody>
      </p:sp>
      <p:sp>
        <p:nvSpPr>
          <p:cNvPr id="29" name="Shape 22"/>
          <p:cNvSpPr/>
          <p:nvPr/>
        </p:nvSpPr>
        <p:spPr>
          <a:xfrm>
            <a:off x="6217920" y="2926080"/>
            <a:ext cx="2651760" cy="1645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30" name="Shape 23"/>
          <p:cNvSpPr/>
          <p:nvPr/>
        </p:nvSpPr>
        <p:spPr>
          <a:xfrm>
            <a:off x="6355080" y="3063240"/>
            <a:ext cx="457200" cy="457200"/>
          </a:xfrm>
          <a:prstGeom prst="ellipse">
            <a:avLst/>
          </a:prstGeom>
          <a:solidFill>
            <a:srgbClr val="6366F1"/>
          </a:solidFill>
          <a:ln/>
        </p:spPr>
        <p:txBody>
          <a:bodyPr/>
          <a:lstStyle/>
          <a:p>
            <a:endParaRPr lang="en-US" dirty="0"/>
          </a:p>
        </p:txBody>
      </p:sp>
      <p:pic>
        <p:nvPicPr>
          <p:cNvPr id="31" name="Image 5" descr="preencoded.png"/>
          <p:cNvPicPr>
            <a:picLocks noChangeAspect="1"/>
          </p:cNvPicPr>
          <p:nvPr/>
        </p:nvPicPr>
        <p:blipFill>
          <a:blip r:embed="rId8"/>
          <a:stretch>
            <a:fillRect/>
          </a:stretch>
        </p:blipFill>
        <p:spPr>
          <a:xfrm>
            <a:off x="6455664" y="3163824"/>
            <a:ext cx="256032" cy="256032"/>
          </a:xfrm>
          <a:prstGeom prst="rect">
            <a:avLst/>
          </a:prstGeom>
        </p:spPr>
      </p:pic>
      <p:sp>
        <p:nvSpPr>
          <p:cNvPr id="32" name="Text 24"/>
          <p:cNvSpPr/>
          <p:nvPr/>
        </p:nvSpPr>
        <p:spPr>
          <a:xfrm>
            <a:off x="6949440" y="3035808"/>
            <a:ext cx="1737360" cy="32004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Legal</a:t>
            </a:r>
            <a:endParaRPr lang="en-US" sz="1300" dirty="0"/>
          </a:p>
        </p:txBody>
      </p:sp>
      <p:sp>
        <p:nvSpPr>
          <p:cNvPr id="33" name="Text 25"/>
          <p:cNvSpPr/>
          <p:nvPr/>
        </p:nvSpPr>
        <p:spPr>
          <a:xfrm>
            <a:off x="6355080" y="3474720"/>
            <a:ext cx="2377440" cy="9144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Contract review &amp; analysis, case law research, compliance monitoring, document drafting agents</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Introduction to LangChain</a:t>
            </a:r>
            <a:endParaRPr lang="en-US" sz="2200" dirty="0"/>
          </a:p>
        </p:txBody>
      </p:sp>
      <p:sp>
        <p:nvSpPr>
          <p:cNvPr id="4" name="Shape 2"/>
          <p:cNvSpPr/>
          <p:nvPr/>
        </p:nvSpPr>
        <p:spPr>
          <a:xfrm>
            <a:off x="731520" y="1097280"/>
            <a:ext cx="7680960" cy="10972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1005840" y="1234440"/>
            <a:ext cx="640080" cy="640080"/>
          </a:xfrm>
          <a:prstGeom prst="ellipse">
            <a:avLst/>
          </a:prstGeom>
          <a:solidFill>
            <a:srgbClr val="0891B2"/>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1146658" y="1375258"/>
            <a:ext cx="358445" cy="358445"/>
          </a:xfrm>
          <a:prstGeom prst="rect">
            <a:avLst/>
          </a:prstGeom>
        </p:spPr>
      </p:pic>
      <p:sp>
        <p:nvSpPr>
          <p:cNvPr id="7" name="Text 4"/>
          <p:cNvSpPr/>
          <p:nvPr/>
        </p:nvSpPr>
        <p:spPr>
          <a:xfrm>
            <a:off x="1828800" y="1188720"/>
            <a:ext cx="6309360" cy="91440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LangChain is an open-source framework for building applications powered by LLMs. It provides the building blocks — chains, agents, tools, memory — to create sophisticated AI agent systems in Python and JavaScript.</a:t>
            </a:r>
            <a:endParaRPr lang="en-US" sz="1300" dirty="0"/>
          </a:p>
        </p:txBody>
      </p:sp>
      <p:sp>
        <p:nvSpPr>
          <p:cNvPr id="8" name="Text 5"/>
          <p:cNvSpPr/>
          <p:nvPr/>
        </p:nvSpPr>
        <p:spPr>
          <a:xfrm>
            <a:off x="731520" y="2468880"/>
            <a:ext cx="768096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LangChain Ecosystem</a:t>
            </a:r>
            <a:endParaRPr lang="en-US" sz="1600" dirty="0"/>
          </a:p>
        </p:txBody>
      </p:sp>
      <p:sp>
        <p:nvSpPr>
          <p:cNvPr id="9" name="Shape 6"/>
          <p:cNvSpPr/>
          <p:nvPr/>
        </p:nvSpPr>
        <p:spPr>
          <a:xfrm>
            <a:off x="731520" y="2926080"/>
            <a:ext cx="91440" cy="320040"/>
          </a:xfrm>
          <a:prstGeom prst="rect">
            <a:avLst/>
          </a:prstGeom>
          <a:solidFill>
            <a:srgbClr val="0891B2"/>
          </a:solidFill>
          <a:ln/>
        </p:spPr>
        <p:txBody>
          <a:bodyPr/>
          <a:lstStyle/>
          <a:p>
            <a:endParaRPr lang="en-US" dirty="0"/>
          </a:p>
        </p:txBody>
      </p:sp>
      <p:sp>
        <p:nvSpPr>
          <p:cNvPr id="10" name="Text 7"/>
          <p:cNvSpPr/>
          <p:nvPr/>
        </p:nvSpPr>
        <p:spPr>
          <a:xfrm>
            <a:off x="1005840" y="2926080"/>
            <a:ext cx="2286000" cy="320040"/>
          </a:xfrm>
          <a:prstGeom prst="rect">
            <a:avLst/>
          </a:prstGeom>
          <a:noFill/>
          <a:ln/>
        </p:spPr>
        <p:txBody>
          <a:bodyPr wrap="square" lIns="0" tIns="0" rIns="0" bIns="0" rtlCol="0" anchor="ctr"/>
          <a:lstStyle/>
          <a:p>
            <a:pPr marL="0" indent="0">
              <a:buNone/>
            </a:pPr>
            <a:r>
              <a:rPr lang="en-US" sz="1200" b="1" dirty="0">
                <a:solidFill>
                  <a:srgbClr val="0891B2"/>
                </a:solidFill>
                <a:latin typeface="Consolas" pitchFamily="34" charset="0"/>
                <a:ea typeface="Consolas" pitchFamily="34" charset="-122"/>
                <a:cs typeface="Consolas" pitchFamily="34" charset="-120"/>
              </a:rPr>
              <a:t>langchain-core</a:t>
            </a:r>
            <a:endParaRPr lang="en-US" sz="1200" dirty="0"/>
          </a:p>
        </p:txBody>
      </p:sp>
      <p:sp>
        <p:nvSpPr>
          <p:cNvPr id="11" name="Text 8"/>
          <p:cNvSpPr/>
          <p:nvPr/>
        </p:nvSpPr>
        <p:spPr>
          <a:xfrm>
            <a:off x="3291840" y="2926080"/>
            <a:ext cx="493776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Base abstractions &amp; expression language (LCEL)</a:t>
            </a:r>
            <a:endParaRPr lang="en-US" sz="1200" dirty="0"/>
          </a:p>
        </p:txBody>
      </p:sp>
      <p:sp>
        <p:nvSpPr>
          <p:cNvPr id="12" name="Shape 9"/>
          <p:cNvSpPr/>
          <p:nvPr/>
        </p:nvSpPr>
        <p:spPr>
          <a:xfrm>
            <a:off x="731520" y="3337560"/>
            <a:ext cx="91440" cy="320040"/>
          </a:xfrm>
          <a:prstGeom prst="rect">
            <a:avLst/>
          </a:prstGeom>
          <a:solidFill>
            <a:srgbClr val="F59E0B"/>
          </a:solidFill>
          <a:ln/>
        </p:spPr>
        <p:txBody>
          <a:bodyPr/>
          <a:lstStyle/>
          <a:p>
            <a:endParaRPr lang="en-US" dirty="0"/>
          </a:p>
        </p:txBody>
      </p:sp>
      <p:sp>
        <p:nvSpPr>
          <p:cNvPr id="13" name="Text 10"/>
          <p:cNvSpPr/>
          <p:nvPr/>
        </p:nvSpPr>
        <p:spPr>
          <a:xfrm>
            <a:off x="1005840" y="3337560"/>
            <a:ext cx="2286000" cy="320040"/>
          </a:xfrm>
          <a:prstGeom prst="rect">
            <a:avLst/>
          </a:prstGeom>
          <a:noFill/>
          <a:ln/>
        </p:spPr>
        <p:txBody>
          <a:bodyPr wrap="square" lIns="0" tIns="0" rIns="0" bIns="0" rtlCol="0" anchor="ctr"/>
          <a:lstStyle/>
          <a:p>
            <a:pPr marL="0" indent="0">
              <a:buNone/>
            </a:pPr>
            <a:r>
              <a:rPr lang="en-US" sz="1200" b="1" dirty="0">
                <a:solidFill>
                  <a:srgbClr val="F59E0B"/>
                </a:solidFill>
                <a:latin typeface="Consolas" pitchFamily="34" charset="0"/>
                <a:ea typeface="Consolas" pitchFamily="34" charset="-122"/>
                <a:cs typeface="Consolas" pitchFamily="34" charset="-120"/>
              </a:rPr>
              <a:t>langchain</a:t>
            </a:r>
            <a:endParaRPr lang="en-US" sz="1200" dirty="0"/>
          </a:p>
        </p:txBody>
      </p:sp>
      <p:sp>
        <p:nvSpPr>
          <p:cNvPr id="14" name="Text 11"/>
          <p:cNvSpPr/>
          <p:nvPr/>
        </p:nvSpPr>
        <p:spPr>
          <a:xfrm>
            <a:off x="3291840" y="3337560"/>
            <a:ext cx="493776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Chains, agents, retrieval strategies</a:t>
            </a:r>
            <a:endParaRPr lang="en-US" sz="1200" dirty="0"/>
          </a:p>
        </p:txBody>
      </p:sp>
      <p:sp>
        <p:nvSpPr>
          <p:cNvPr id="15" name="Shape 12"/>
          <p:cNvSpPr/>
          <p:nvPr/>
        </p:nvSpPr>
        <p:spPr>
          <a:xfrm>
            <a:off x="731520" y="3749040"/>
            <a:ext cx="91440" cy="320040"/>
          </a:xfrm>
          <a:prstGeom prst="rect">
            <a:avLst/>
          </a:prstGeom>
          <a:solidFill>
            <a:srgbClr val="10B981"/>
          </a:solidFill>
          <a:ln/>
        </p:spPr>
        <p:txBody>
          <a:bodyPr/>
          <a:lstStyle/>
          <a:p>
            <a:endParaRPr lang="en-US" dirty="0"/>
          </a:p>
        </p:txBody>
      </p:sp>
      <p:sp>
        <p:nvSpPr>
          <p:cNvPr id="16" name="Text 13"/>
          <p:cNvSpPr/>
          <p:nvPr/>
        </p:nvSpPr>
        <p:spPr>
          <a:xfrm>
            <a:off x="1005840" y="3749040"/>
            <a:ext cx="2286000" cy="320040"/>
          </a:xfrm>
          <a:prstGeom prst="rect">
            <a:avLst/>
          </a:prstGeom>
          <a:noFill/>
          <a:ln/>
        </p:spPr>
        <p:txBody>
          <a:bodyPr wrap="square" lIns="0" tIns="0" rIns="0" bIns="0" rtlCol="0" anchor="ctr"/>
          <a:lstStyle/>
          <a:p>
            <a:pPr marL="0" indent="0">
              <a:buNone/>
            </a:pPr>
            <a:r>
              <a:rPr lang="en-US" sz="1200" b="1" dirty="0">
                <a:solidFill>
                  <a:srgbClr val="10B981"/>
                </a:solidFill>
                <a:latin typeface="Consolas" pitchFamily="34" charset="0"/>
                <a:ea typeface="Consolas" pitchFamily="34" charset="-122"/>
                <a:cs typeface="Consolas" pitchFamily="34" charset="-120"/>
              </a:rPr>
              <a:t>langchain-community</a:t>
            </a:r>
            <a:endParaRPr lang="en-US" sz="1200" dirty="0"/>
          </a:p>
        </p:txBody>
      </p:sp>
      <p:sp>
        <p:nvSpPr>
          <p:cNvPr id="17" name="Text 14"/>
          <p:cNvSpPr/>
          <p:nvPr/>
        </p:nvSpPr>
        <p:spPr>
          <a:xfrm>
            <a:off x="3291840" y="3749040"/>
            <a:ext cx="493776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Third-party integrations (OpenAI, Anthropic, etc.)</a:t>
            </a:r>
            <a:endParaRPr lang="en-US" sz="1200" dirty="0"/>
          </a:p>
        </p:txBody>
      </p:sp>
      <p:sp>
        <p:nvSpPr>
          <p:cNvPr id="18" name="Shape 15"/>
          <p:cNvSpPr/>
          <p:nvPr/>
        </p:nvSpPr>
        <p:spPr>
          <a:xfrm>
            <a:off x="731520" y="4160520"/>
            <a:ext cx="91440" cy="320040"/>
          </a:xfrm>
          <a:prstGeom prst="rect">
            <a:avLst/>
          </a:prstGeom>
          <a:solidFill>
            <a:srgbClr val="8B5CF6"/>
          </a:solidFill>
          <a:ln/>
        </p:spPr>
        <p:txBody>
          <a:bodyPr/>
          <a:lstStyle/>
          <a:p>
            <a:endParaRPr lang="en-US" dirty="0"/>
          </a:p>
        </p:txBody>
      </p:sp>
      <p:sp>
        <p:nvSpPr>
          <p:cNvPr id="19" name="Text 16"/>
          <p:cNvSpPr/>
          <p:nvPr/>
        </p:nvSpPr>
        <p:spPr>
          <a:xfrm>
            <a:off x="1005840" y="4160520"/>
            <a:ext cx="2286000" cy="320040"/>
          </a:xfrm>
          <a:prstGeom prst="rect">
            <a:avLst/>
          </a:prstGeom>
          <a:noFill/>
          <a:ln/>
        </p:spPr>
        <p:txBody>
          <a:bodyPr wrap="square" lIns="0" tIns="0" rIns="0" bIns="0" rtlCol="0" anchor="ctr"/>
          <a:lstStyle/>
          <a:p>
            <a:pPr marL="0" indent="0">
              <a:buNone/>
            </a:pPr>
            <a:r>
              <a:rPr lang="en-US" sz="1200" b="1" dirty="0">
                <a:solidFill>
                  <a:srgbClr val="8B5CF6"/>
                </a:solidFill>
                <a:latin typeface="Consolas" pitchFamily="34" charset="0"/>
                <a:ea typeface="Consolas" pitchFamily="34" charset="-122"/>
                <a:cs typeface="Consolas" pitchFamily="34" charset="-120"/>
              </a:rPr>
              <a:t>LangGraph</a:t>
            </a:r>
            <a:endParaRPr lang="en-US" sz="1200" dirty="0"/>
          </a:p>
        </p:txBody>
      </p:sp>
      <p:sp>
        <p:nvSpPr>
          <p:cNvPr id="20" name="Text 17"/>
          <p:cNvSpPr/>
          <p:nvPr/>
        </p:nvSpPr>
        <p:spPr>
          <a:xfrm>
            <a:off x="3291840" y="4160520"/>
            <a:ext cx="493776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Stateful, multi-actor agent orchestration</a:t>
            </a:r>
            <a:endParaRPr lang="en-US" sz="1200" dirty="0"/>
          </a:p>
        </p:txBody>
      </p:sp>
      <p:sp>
        <p:nvSpPr>
          <p:cNvPr id="21" name="Shape 18"/>
          <p:cNvSpPr/>
          <p:nvPr/>
        </p:nvSpPr>
        <p:spPr>
          <a:xfrm>
            <a:off x="731520" y="4572000"/>
            <a:ext cx="91440" cy="320040"/>
          </a:xfrm>
          <a:prstGeom prst="rect">
            <a:avLst/>
          </a:prstGeom>
          <a:solidFill>
            <a:srgbClr val="F97316"/>
          </a:solidFill>
          <a:ln/>
        </p:spPr>
        <p:txBody>
          <a:bodyPr/>
          <a:lstStyle/>
          <a:p>
            <a:endParaRPr lang="en-US" dirty="0"/>
          </a:p>
        </p:txBody>
      </p:sp>
      <p:sp>
        <p:nvSpPr>
          <p:cNvPr id="22" name="Text 19"/>
          <p:cNvSpPr/>
          <p:nvPr/>
        </p:nvSpPr>
        <p:spPr>
          <a:xfrm>
            <a:off x="1005840" y="4572000"/>
            <a:ext cx="2286000" cy="320040"/>
          </a:xfrm>
          <a:prstGeom prst="rect">
            <a:avLst/>
          </a:prstGeom>
          <a:noFill/>
          <a:ln/>
        </p:spPr>
        <p:txBody>
          <a:bodyPr wrap="square" lIns="0" tIns="0" rIns="0" bIns="0" rtlCol="0" anchor="ctr"/>
          <a:lstStyle/>
          <a:p>
            <a:pPr marL="0" indent="0">
              <a:buNone/>
            </a:pPr>
            <a:r>
              <a:rPr lang="en-US" sz="1200" b="1" dirty="0">
                <a:solidFill>
                  <a:srgbClr val="F97316"/>
                </a:solidFill>
                <a:latin typeface="Consolas" pitchFamily="34" charset="0"/>
                <a:ea typeface="Consolas" pitchFamily="34" charset="-122"/>
                <a:cs typeface="Consolas" pitchFamily="34" charset="-120"/>
              </a:rPr>
              <a:t>LangSmith</a:t>
            </a:r>
            <a:endParaRPr lang="en-US" sz="1200" dirty="0"/>
          </a:p>
        </p:txBody>
      </p:sp>
      <p:sp>
        <p:nvSpPr>
          <p:cNvPr id="23" name="Text 20"/>
          <p:cNvSpPr/>
          <p:nvPr/>
        </p:nvSpPr>
        <p:spPr>
          <a:xfrm>
            <a:off x="3291840" y="4572000"/>
            <a:ext cx="4937760" cy="320040"/>
          </a:xfrm>
          <a:prstGeom prst="rect">
            <a:avLst/>
          </a:prstGeom>
          <a:noFill/>
          <a:ln/>
        </p:spPr>
        <p:txBody>
          <a:bodyPr wrap="square" lIns="0" tIns="0" rIns="0" bIns="0" rtlCol="0" anchor="ctr"/>
          <a:lstStyle/>
          <a:p>
            <a:pPr marL="0" indent="0">
              <a:buNone/>
            </a:pPr>
            <a:r>
              <a:rPr lang="en-US" sz="1200" dirty="0">
                <a:solidFill>
                  <a:srgbClr val="334155"/>
                </a:solidFill>
                <a:latin typeface="Calibri" pitchFamily="34" charset="0"/>
                <a:ea typeface="Calibri" pitchFamily="34" charset="-122"/>
                <a:cs typeface="Calibri" pitchFamily="34" charset="-120"/>
              </a:rPr>
              <a:t>Debugging, testing, monitoring agent runs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LangChain Agent Architecture</a:t>
            </a:r>
            <a:endParaRPr lang="en-US" sz="2200" dirty="0"/>
          </a:p>
        </p:txBody>
      </p:sp>
      <p:sp>
        <p:nvSpPr>
          <p:cNvPr id="4" name="Shape 2"/>
          <p:cNvSpPr/>
          <p:nvPr/>
        </p:nvSpPr>
        <p:spPr>
          <a:xfrm>
            <a:off x="3200400" y="2286000"/>
            <a:ext cx="2743200" cy="12801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Shape 3"/>
          <p:cNvSpPr/>
          <p:nvPr/>
        </p:nvSpPr>
        <p:spPr>
          <a:xfrm>
            <a:off x="3200400" y="2286000"/>
            <a:ext cx="2743200" cy="54864"/>
          </a:xfrm>
          <a:prstGeom prst="rect">
            <a:avLst/>
          </a:prstGeom>
          <a:solidFill>
            <a:srgbClr val="0891B2"/>
          </a:solidFill>
          <a:ln/>
        </p:spPr>
        <p:txBody>
          <a:bodyPr/>
          <a:lstStyle/>
          <a:p>
            <a:endParaRPr lang="en-US" dirty="0"/>
          </a:p>
        </p:txBody>
      </p:sp>
      <p:sp>
        <p:nvSpPr>
          <p:cNvPr id="6" name="Shape 4"/>
          <p:cNvSpPr/>
          <p:nvPr/>
        </p:nvSpPr>
        <p:spPr>
          <a:xfrm>
            <a:off x="4206240" y="2468880"/>
            <a:ext cx="502920" cy="502920"/>
          </a:xfrm>
          <a:prstGeom prst="ellipse">
            <a:avLst/>
          </a:prstGeom>
          <a:solidFill>
            <a:srgbClr val="0891B2"/>
          </a:solidFill>
          <a:ln/>
        </p:spPr>
        <p:txBody>
          <a:bodyPr/>
          <a:lstStyle/>
          <a:p>
            <a:endParaRPr lang="en-US" dirty="0"/>
          </a:p>
        </p:txBody>
      </p:sp>
      <p:pic>
        <p:nvPicPr>
          <p:cNvPr id="7" name="Image 0" descr="preencoded.png"/>
          <p:cNvPicPr>
            <a:picLocks noChangeAspect="1"/>
          </p:cNvPicPr>
          <p:nvPr/>
        </p:nvPicPr>
        <p:blipFill>
          <a:blip r:embed="rId3"/>
          <a:stretch>
            <a:fillRect/>
          </a:stretch>
        </p:blipFill>
        <p:spPr>
          <a:xfrm>
            <a:off x="4316882" y="2579522"/>
            <a:ext cx="281635" cy="281635"/>
          </a:xfrm>
          <a:prstGeom prst="rect">
            <a:avLst/>
          </a:prstGeom>
        </p:spPr>
      </p:pic>
      <p:sp>
        <p:nvSpPr>
          <p:cNvPr id="8" name="Text 5"/>
          <p:cNvSpPr/>
          <p:nvPr/>
        </p:nvSpPr>
        <p:spPr>
          <a:xfrm>
            <a:off x="3200400" y="3063240"/>
            <a:ext cx="274320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Trebuchet MS" pitchFamily="34" charset="0"/>
                <a:ea typeface="Trebuchet MS" pitchFamily="34" charset="-122"/>
                <a:cs typeface="Trebuchet MS" pitchFamily="34" charset="-120"/>
              </a:rPr>
              <a:t>AgentExecutor</a:t>
            </a:r>
            <a:endParaRPr lang="en-US" sz="1400" dirty="0"/>
          </a:p>
        </p:txBody>
      </p:sp>
      <p:sp>
        <p:nvSpPr>
          <p:cNvPr id="9" name="Shape 6"/>
          <p:cNvSpPr/>
          <p:nvPr/>
        </p:nvSpPr>
        <p:spPr>
          <a:xfrm>
            <a:off x="457200" y="1097280"/>
            <a:ext cx="210312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0" name="Shape 7"/>
          <p:cNvSpPr/>
          <p:nvPr/>
        </p:nvSpPr>
        <p:spPr>
          <a:xfrm>
            <a:off x="457200" y="1097280"/>
            <a:ext cx="2103120" cy="45720"/>
          </a:xfrm>
          <a:prstGeom prst="rect">
            <a:avLst/>
          </a:prstGeom>
          <a:solidFill>
            <a:srgbClr val="0891B2"/>
          </a:solidFill>
          <a:ln/>
        </p:spPr>
        <p:txBody>
          <a:bodyPr/>
          <a:lstStyle/>
          <a:p>
            <a:endParaRPr lang="en-US" dirty="0"/>
          </a:p>
        </p:txBody>
      </p:sp>
      <p:sp>
        <p:nvSpPr>
          <p:cNvPr id="11" name="Text 8"/>
          <p:cNvSpPr/>
          <p:nvPr/>
        </p:nvSpPr>
        <p:spPr>
          <a:xfrm>
            <a:off x="457200" y="1234440"/>
            <a:ext cx="2103120" cy="68580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LLM</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(ChatOpenAI)</a:t>
            </a:r>
            <a:endParaRPr lang="en-US" sz="1100" dirty="0"/>
          </a:p>
        </p:txBody>
      </p:sp>
      <p:sp>
        <p:nvSpPr>
          <p:cNvPr id="12" name="Shape 9"/>
          <p:cNvSpPr/>
          <p:nvPr/>
        </p:nvSpPr>
        <p:spPr>
          <a:xfrm>
            <a:off x="6583680" y="1097280"/>
            <a:ext cx="210312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3" name="Shape 10"/>
          <p:cNvSpPr/>
          <p:nvPr/>
        </p:nvSpPr>
        <p:spPr>
          <a:xfrm>
            <a:off x="6583680" y="1097280"/>
            <a:ext cx="2103120" cy="45720"/>
          </a:xfrm>
          <a:prstGeom prst="rect">
            <a:avLst/>
          </a:prstGeom>
          <a:solidFill>
            <a:srgbClr val="F59E0B"/>
          </a:solidFill>
          <a:ln/>
        </p:spPr>
        <p:txBody>
          <a:bodyPr/>
          <a:lstStyle/>
          <a:p>
            <a:endParaRPr lang="en-US" dirty="0"/>
          </a:p>
        </p:txBody>
      </p:sp>
      <p:sp>
        <p:nvSpPr>
          <p:cNvPr id="14" name="Text 11"/>
          <p:cNvSpPr/>
          <p:nvPr/>
        </p:nvSpPr>
        <p:spPr>
          <a:xfrm>
            <a:off x="6583680" y="1234440"/>
            <a:ext cx="2103120" cy="68580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Tools</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(search, calc...)</a:t>
            </a:r>
            <a:endParaRPr lang="en-US" sz="1100" dirty="0"/>
          </a:p>
        </p:txBody>
      </p:sp>
      <p:sp>
        <p:nvSpPr>
          <p:cNvPr id="15" name="Shape 12"/>
          <p:cNvSpPr/>
          <p:nvPr/>
        </p:nvSpPr>
        <p:spPr>
          <a:xfrm>
            <a:off x="457200" y="3291840"/>
            <a:ext cx="210312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6" name="Shape 13"/>
          <p:cNvSpPr/>
          <p:nvPr/>
        </p:nvSpPr>
        <p:spPr>
          <a:xfrm>
            <a:off x="457200" y="3291840"/>
            <a:ext cx="2103120" cy="45720"/>
          </a:xfrm>
          <a:prstGeom prst="rect">
            <a:avLst/>
          </a:prstGeom>
          <a:solidFill>
            <a:srgbClr val="8B5CF6"/>
          </a:solidFill>
          <a:ln/>
        </p:spPr>
        <p:txBody>
          <a:bodyPr/>
          <a:lstStyle/>
          <a:p>
            <a:endParaRPr lang="en-US" dirty="0"/>
          </a:p>
        </p:txBody>
      </p:sp>
      <p:sp>
        <p:nvSpPr>
          <p:cNvPr id="17" name="Text 14"/>
          <p:cNvSpPr/>
          <p:nvPr/>
        </p:nvSpPr>
        <p:spPr>
          <a:xfrm>
            <a:off x="457200" y="3429000"/>
            <a:ext cx="2103120" cy="68580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Memory</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(Buffer/Vector)</a:t>
            </a:r>
            <a:endParaRPr lang="en-US" sz="1100" dirty="0"/>
          </a:p>
        </p:txBody>
      </p:sp>
      <p:sp>
        <p:nvSpPr>
          <p:cNvPr id="18" name="Shape 15"/>
          <p:cNvSpPr/>
          <p:nvPr/>
        </p:nvSpPr>
        <p:spPr>
          <a:xfrm>
            <a:off x="6583680" y="3291840"/>
            <a:ext cx="2103120" cy="914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19" name="Shape 16"/>
          <p:cNvSpPr/>
          <p:nvPr/>
        </p:nvSpPr>
        <p:spPr>
          <a:xfrm>
            <a:off x="6583680" y="3291840"/>
            <a:ext cx="2103120" cy="45720"/>
          </a:xfrm>
          <a:prstGeom prst="rect">
            <a:avLst/>
          </a:prstGeom>
          <a:solidFill>
            <a:srgbClr val="10B981"/>
          </a:solidFill>
          <a:ln/>
        </p:spPr>
        <p:txBody>
          <a:bodyPr/>
          <a:lstStyle/>
          <a:p>
            <a:endParaRPr lang="en-US" dirty="0"/>
          </a:p>
        </p:txBody>
      </p:sp>
      <p:sp>
        <p:nvSpPr>
          <p:cNvPr id="20" name="Text 17"/>
          <p:cNvSpPr/>
          <p:nvPr/>
        </p:nvSpPr>
        <p:spPr>
          <a:xfrm>
            <a:off x="6583680" y="3429000"/>
            <a:ext cx="2103120" cy="685800"/>
          </a:xfrm>
          <a:prstGeom prst="rect">
            <a:avLst/>
          </a:prstGeom>
          <a:noFill/>
          <a:ln/>
        </p:spPr>
        <p:txBody>
          <a:bodyPr wrap="square" lIns="0" tIns="0" rIns="0" bIns="0" rtlCol="0" anchor="ctr"/>
          <a:lstStyle/>
          <a:p>
            <a:pPr marL="0" indent="0" algn="ctr">
              <a:buNone/>
            </a:pPr>
            <a:r>
              <a:rPr lang="en-US" sz="1100" b="1" dirty="0">
                <a:solidFill>
                  <a:srgbClr val="1E293B"/>
                </a:solidFill>
                <a:latin typeface="Calibri" pitchFamily="34" charset="0"/>
                <a:ea typeface="Calibri" pitchFamily="34" charset="-122"/>
                <a:cs typeface="Calibri" pitchFamily="34" charset="-120"/>
              </a:rPr>
              <a:t>Prompt</a:t>
            </a:r>
            <a:endParaRPr lang="en-US" sz="1100" dirty="0"/>
          </a:p>
          <a:p>
            <a:pPr marL="0" indent="0" algn="ctr">
              <a:buNone/>
            </a:pPr>
            <a:r>
              <a:rPr lang="en-US" sz="1100" b="1" dirty="0">
                <a:solidFill>
                  <a:srgbClr val="1E293B"/>
                </a:solidFill>
                <a:latin typeface="Calibri" pitchFamily="34" charset="0"/>
                <a:ea typeface="Calibri" pitchFamily="34" charset="-122"/>
                <a:cs typeface="Calibri" pitchFamily="34" charset="-120"/>
              </a:rPr>
              <a:t>Template</a:t>
            </a:r>
            <a:endParaRPr lang="en-US" sz="1100" dirty="0"/>
          </a:p>
        </p:txBody>
      </p:sp>
      <p:sp>
        <p:nvSpPr>
          <p:cNvPr id="21" name="Text 18"/>
          <p:cNvSpPr/>
          <p:nvPr/>
        </p:nvSpPr>
        <p:spPr>
          <a:xfrm>
            <a:off x="731520" y="4434840"/>
            <a:ext cx="7680960" cy="457200"/>
          </a:xfrm>
          <a:prstGeom prst="rect">
            <a:avLst/>
          </a:prstGeom>
          <a:noFill/>
          <a:ln/>
        </p:spPr>
        <p:txBody>
          <a:bodyPr wrap="square" lIns="0" tIns="0" rIns="0" bIns="0" rtlCol="0" anchor="ctr"/>
          <a:lstStyle/>
          <a:p>
            <a:pPr marL="0" indent="0" algn="ctr">
              <a:buNone/>
            </a:pPr>
            <a:r>
              <a:rPr lang="en-US" sz="1100" i="1" dirty="0">
                <a:solidFill>
                  <a:srgbClr val="334155"/>
                </a:solidFill>
                <a:latin typeface="Calibri" pitchFamily="34" charset="0"/>
                <a:ea typeface="Calibri" pitchFamily="34" charset="-122"/>
                <a:cs typeface="Calibri" pitchFamily="34" charset="-120"/>
              </a:rPr>
              <a:t>The AgentExecutor orchestrates the loop: it sends the prompt to the LLM, parses tool calls, executes them, and feeds results back until the agent returns a final answer.</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Limitations of LangChain — Honest Assessment</a:t>
            </a:r>
            <a:endParaRPr lang="en-US" sz="2200" dirty="0"/>
          </a:p>
        </p:txBody>
      </p:sp>
      <p:sp>
        <p:nvSpPr>
          <p:cNvPr id="4" name="Shape 2"/>
          <p:cNvSpPr/>
          <p:nvPr/>
        </p:nvSpPr>
        <p:spPr>
          <a:xfrm>
            <a:off x="731520" y="1097280"/>
            <a:ext cx="4114800" cy="3474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5" name="Text 3"/>
          <p:cNvSpPr/>
          <p:nvPr/>
        </p:nvSpPr>
        <p:spPr>
          <a:xfrm>
            <a:off x="914400" y="1188720"/>
            <a:ext cx="3749040" cy="365760"/>
          </a:xfrm>
          <a:prstGeom prst="rect">
            <a:avLst/>
          </a:prstGeom>
          <a:noFill/>
          <a:ln/>
        </p:spPr>
        <p:txBody>
          <a:bodyPr wrap="square" lIns="0" tIns="0" rIns="0" bIns="0" rtlCol="0" anchor="ctr"/>
          <a:lstStyle/>
          <a:p>
            <a:pPr marL="0" indent="0">
              <a:buNone/>
            </a:pPr>
            <a:r>
              <a:rPr lang="en-US" sz="1600" b="1" dirty="0">
                <a:solidFill>
                  <a:srgbClr val="EF4444"/>
                </a:solidFill>
                <a:latin typeface="Trebuchet MS" pitchFamily="34" charset="0"/>
                <a:ea typeface="Trebuchet MS" pitchFamily="34" charset="-122"/>
                <a:cs typeface="Trebuchet MS" pitchFamily="34" charset="-120"/>
              </a:rPr>
              <a:t>Known Challenges</a:t>
            </a:r>
            <a:endParaRPr lang="en-US" sz="1600" dirty="0"/>
          </a:p>
        </p:txBody>
      </p:sp>
      <p:pic>
        <p:nvPicPr>
          <p:cNvPr id="6" name="Image 0" descr="preencoded.png"/>
          <p:cNvPicPr>
            <a:picLocks noChangeAspect="1"/>
          </p:cNvPicPr>
          <p:nvPr/>
        </p:nvPicPr>
        <p:blipFill>
          <a:blip r:embed="rId3"/>
          <a:stretch>
            <a:fillRect/>
          </a:stretch>
        </p:blipFill>
        <p:spPr>
          <a:xfrm>
            <a:off x="1005840" y="1664208"/>
            <a:ext cx="201168" cy="201168"/>
          </a:xfrm>
          <a:prstGeom prst="rect">
            <a:avLst/>
          </a:prstGeom>
        </p:spPr>
      </p:pic>
      <p:sp>
        <p:nvSpPr>
          <p:cNvPr id="7" name="Text 4"/>
          <p:cNvSpPr/>
          <p:nvPr/>
        </p:nvSpPr>
        <p:spPr>
          <a:xfrm>
            <a:off x="1325880" y="1645920"/>
            <a:ext cx="1645920" cy="228600"/>
          </a:xfrm>
          <a:prstGeom prst="rect">
            <a:avLst/>
          </a:prstGeom>
          <a:noFill/>
          <a:ln/>
        </p:spPr>
        <p:txBody>
          <a:bodyPr wrap="square" lIns="0" tIns="0" rIns="0" bIns="0"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Steep Learning Curve</a:t>
            </a:r>
            <a:endParaRPr lang="en-US" sz="1100" dirty="0"/>
          </a:p>
        </p:txBody>
      </p:sp>
      <p:sp>
        <p:nvSpPr>
          <p:cNvPr id="8" name="Text 5"/>
          <p:cNvSpPr/>
          <p:nvPr/>
        </p:nvSpPr>
        <p:spPr>
          <a:xfrm>
            <a:off x="1325880" y="1874520"/>
            <a:ext cx="3291840" cy="2743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Many abstractions, frequent API changes, and fast-moving docs make onboarding hard</a:t>
            </a:r>
            <a:endParaRPr lang="en-US" sz="1000" dirty="0"/>
          </a:p>
        </p:txBody>
      </p:sp>
      <p:pic>
        <p:nvPicPr>
          <p:cNvPr id="9" name="Image 1" descr="preencoded.png"/>
          <p:cNvPicPr>
            <a:picLocks noChangeAspect="1"/>
          </p:cNvPicPr>
          <p:nvPr/>
        </p:nvPicPr>
        <p:blipFill>
          <a:blip r:embed="rId3"/>
          <a:stretch>
            <a:fillRect/>
          </a:stretch>
        </p:blipFill>
        <p:spPr>
          <a:xfrm>
            <a:off x="1005840" y="2231136"/>
            <a:ext cx="201168" cy="201168"/>
          </a:xfrm>
          <a:prstGeom prst="rect">
            <a:avLst/>
          </a:prstGeom>
        </p:spPr>
      </p:pic>
      <p:sp>
        <p:nvSpPr>
          <p:cNvPr id="10" name="Text 6"/>
          <p:cNvSpPr/>
          <p:nvPr/>
        </p:nvSpPr>
        <p:spPr>
          <a:xfrm>
            <a:off x="1325880" y="2212848"/>
            <a:ext cx="1645920" cy="228600"/>
          </a:xfrm>
          <a:prstGeom prst="rect">
            <a:avLst/>
          </a:prstGeom>
          <a:noFill/>
          <a:ln/>
        </p:spPr>
        <p:txBody>
          <a:bodyPr wrap="square" lIns="0" tIns="0" rIns="0" bIns="0"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Over-Abstraction</a:t>
            </a:r>
            <a:endParaRPr lang="en-US" sz="1100" dirty="0"/>
          </a:p>
        </p:txBody>
      </p:sp>
      <p:sp>
        <p:nvSpPr>
          <p:cNvPr id="11" name="Text 7"/>
          <p:cNvSpPr/>
          <p:nvPr/>
        </p:nvSpPr>
        <p:spPr>
          <a:xfrm>
            <a:off x="1325880" y="2441448"/>
            <a:ext cx="3291840" cy="2743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Too many layers can hide what's actually happening, making debugging difficult</a:t>
            </a:r>
            <a:endParaRPr lang="en-US" sz="1000" dirty="0"/>
          </a:p>
        </p:txBody>
      </p:sp>
      <p:pic>
        <p:nvPicPr>
          <p:cNvPr id="12" name="Image 2" descr="preencoded.png"/>
          <p:cNvPicPr>
            <a:picLocks noChangeAspect="1"/>
          </p:cNvPicPr>
          <p:nvPr/>
        </p:nvPicPr>
        <p:blipFill>
          <a:blip r:embed="rId3"/>
          <a:stretch>
            <a:fillRect/>
          </a:stretch>
        </p:blipFill>
        <p:spPr>
          <a:xfrm>
            <a:off x="1005840" y="2798064"/>
            <a:ext cx="201168" cy="201168"/>
          </a:xfrm>
          <a:prstGeom prst="rect">
            <a:avLst/>
          </a:prstGeom>
        </p:spPr>
      </p:pic>
      <p:sp>
        <p:nvSpPr>
          <p:cNvPr id="13" name="Text 8"/>
          <p:cNvSpPr/>
          <p:nvPr/>
        </p:nvSpPr>
        <p:spPr>
          <a:xfrm>
            <a:off x="1325880" y="2779776"/>
            <a:ext cx="1645920" cy="228600"/>
          </a:xfrm>
          <a:prstGeom prst="rect">
            <a:avLst/>
          </a:prstGeom>
          <a:noFill/>
          <a:ln/>
        </p:spPr>
        <p:txBody>
          <a:bodyPr wrap="square" lIns="0" tIns="0" rIns="0" bIns="0"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Performance Overhead</a:t>
            </a:r>
            <a:endParaRPr lang="en-US" sz="1100" dirty="0"/>
          </a:p>
        </p:txBody>
      </p:sp>
      <p:sp>
        <p:nvSpPr>
          <p:cNvPr id="14" name="Text 9"/>
          <p:cNvSpPr/>
          <p:nvPr/>
        </p:nvSpPr>
        <p:spPr>
          <a:xfrm>
            <a:off x="1325880" y="3008376"/>
            <a:ext cx="3291840" cy="2743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Wrapper layers add latency; for simple tasks, raw API calls are often faster</a:t>
            </a:r>
            <a:endParaRPr lang="en-US" sz="1000" dirty="0"/>
          </a:p>
        </p:txBody>
      </p:sp>
      <p:pic>
        <p:nvPicPr>
          <p:cNvPr id="15" name="Image 3" descr="preencoded.png"/>
          <p:cNvPicPr>
            <a:picLocks noChangeAspect="1"/>
          </p:cNvPicPr>
          <p:nvPr/>
        </p:nvPicPr>
        <p:blipFill>
          <a:blip r:embed="rId3"/>
          <a:stretch>
            <a:fillRect/>
          </a:stretch>
        </p:blipFill>
        <p:spPr>
          <a:xfrm>
            <a:off x="1005840" y="3364992"/>
            <a:ext cx="201168" cy="201168"/>
          </a:xfrm>
          <a:prstGeom prst="rect">
            <a:avLst/>
          </a:prstGeom>
        </p:spPr>
      </p:pic>
      <p:sp>
        <p:nvSpPr>
          <p:cNvPr id="16" name="Text 10"/>
          <p:cNvSpPr/>
          <p:nvPr/>
        </p:nvSpPr>
        <p:spPr>
          <a:xfrm>
            <a:off x="1325880" y="3346704"/>
            <a:ext cx="1645920" cy="228600"/>
          </a:xfrm>
          <a:prstGeom prst="rect">
            <a:avLst/>
          </a:prstGeom>
          <a:noFill/>
          <a:ln/>
        </p:spPr>
        <p:txBody>
          <a:bodyPr wrap="square" lIns="0" tIns="0" rIns="0" bIns="0"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Rapid Breaking Changes</a:t>
            </a:r>
            <a:endParaRPr lang="en-US" sz="1100" dirty="0"/>
          </a:p>
        </p:txBody>
      </p:sp>
      <p:sp>
        <p:nvSpPr>
          <p:cNvPr id="17" name="Text 11"/>
          <p:cNvSpPr/>
          <p:nvPr/>
        </p:nvSpPr>
        <p:spPr>
          <a:xfrm>
            <a:off x="1325880" y="3575304"/>
            <a:ext cx="3291840" cy="2743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Frequent major releases break existing code; migration guides lag behind</a:t>
            </a:r>
            <a:endParaRPr lang="en-US" sz="1000" dirty="0"/>
          </a:p>
        </p:txBody>
      </p:sp>
      <p:pic>
        <p:nvPicPr>
          <p:cNvPr id="18" name="Image 4" descr="preencoded.png"/>
          <p:cNvPicPr>
            <a:picLocks noChangeAspect="1"/>
          </p:cNvPicPr>
          <p:nvPr/>
        </p:nvPicPr>
        <p:blipFill>
          <a:blip r:embed="rId3"/>
          <a:stretch>
            <a:fillRect/>
          </a:stretch>
        </p:blipFill>
        <p:spPr>
          <a:xfrm>
            <a:off x="1005840" y="3931920"/>
            <a:ext cx="201168" cy="201168"/>
          </a:xfrm>
          <a:prstGeom prst="rect">
            <a:avLst/>
          </a:prstGeom>
        </p:spPr>
      </p:pic>
      <p:sp>
        <p:nvSpPr>
          <p:cNvPr id="19" name="Text 12"/>
          <p:cNvSpPr/>
          <p:nvPr/>
        </p:nvSpPr>
        <p:spPr>
          <a:xfrm>
            <a:off x="1325880" y="3913632"/>
            <a:ext cx="1645920" cy="228600"/>
          </a:xfrm>
          <a:prstGeom prst="rect">
            <a:avLst/>
          </a:prstGeom>
          <a:noFill/>
          <a:ln/>
        </p:spPr>
        <p:txBody>
          <a:bodyPr wrap="square" lIns="0" tIns="0" rIns="0" bIns="0" rtlCol="0" anchor="ctr"/>
          <a:lstStyle/>
          <a:p>
            <a:pPr marL="0" indent="0">
              <a:buNone/>
            </a:pPr>
            <a:r>
              <a:rPr lang="en-US" sz="1100" b="1" dirty="0">
                <a:solidFill>
                  <a:srgbClr val="1E293B"/>
                </a:solidFill>
                <a:latin typeface="Trebuchet MS" pitchFamily="34" charset="0"/>
                <a:ea typeface="Trebuchet MS" pitchFamily="34" charset="-122"/>
                <a:cs typeface="Trebuchet MS" pitchFamily="34" charset="-120"/>
              </a:rPr>
              <a:t>Vendor Lock-in Risk</a:t>
            </a:r>
            <a:endParaRPr lang="en-US" sz="1100" dirty="0"/>
          </a:p>
        </p:txBody>
      </p:sp>
      <p:sp>
        <p:nvSpPr>
          <p:cNvPr id="20" name="Text 13"/>
          <p:cNvSpPr/>
          <p:nvPr/>
        </p:nvSpPr>
        <p:spPr>
          <a:xfrm>
            <a:off x="1325880" y="4142232"/>
            <a:ext cx="3291840" cy="27432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Deep LangChain integration makes switching frameworks costly later</a:t>
            </a:r>
            <a:endParaRPr lang="en-US" sz="1000" dirty="0"/>
          </a:p>
        </p:txBody>
      </p:sp>
      <p:sp>
        <p:nvSpPr>
          <p:cNvPr id="21" name="Shape 14"/>
          <p:cNvSpPr/>
          <p:nvPr/>
        </p:nvSpPr>
        <p:spPr>
          <a:xfrm>
            <a:off x="5120640" y="1097280"/>
            <a:ext cx="3474720" cy="15544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22" name="Text 15"/>
          <p:cNvSpPr/>
          <p:nvPr/>
        </p:nvSpPr>
        <p:spPr>
          <a:xfrm>
            <a:off x="5303520" y="1188720"/>
            <a:ext cx="3108960" cy="320040"/>
          </a:xfrm>
          <a:prstGeom prst="rect">
            <a:avLst/>
          </a:prstGeom>
          <a:noFill/>
          <a:ln/>
        </p:spPr>
        <p:txBody>
          <a:bodyPr wrap="square" lIns="0" tIns="0" rIns="0" bIns="0" rtlCol="0" anchor="ctr"/>
          <a:lstStyle/>
          <a:p>
            <a:pPr marL="0" indent="0">
              <a:buNone/>
            </a:pPr>
            <a:r>
              <a:rPr lang="en-US" sz="1400" b="1" dirty="0">
                <a:solidFill>
                  <a:srgbClr val="10B981"/>
                </a:solidFill>
                <a:latin typeface="Trebuchet MS" pitchFamily="34" charset="0"/>
                <a:ea typeface="Trebuchet MS" pitchFamily="34" charset="-122"/>
                <a:cs typeface="Trebuchet MS" pitchFamily="34" charset="-120"/>
              </a:rPr>
              <a:t>When LangChain Shines</a:t>
            </a:r>
            <a:endParaRPr lang="en-US" sz="1400" dirty="0"/>
          </a:p>
        </p:txBody>
      </p:sp>
      <p:pic>
        <p:nvPicPr>
          <p:cNvPr id="23" name="Image 5" descr="preencoded.png"/>
          <p:cNvPicPr>
            <a:picLocks noChangeAspect="1"/>
          </p:cNvPicPr>
          <p:nvPr/>
        </p:nvPicPr>
        <p:blipFill>
          <a:blip r:embed="rId4"/>
          <a:stretch>
            <a:fillRect/>
          </a:stretch>
        </p:blipFill>
        <p:spPr>
          <a:xfrm>
            <a:off x="5349240" y="1600200"/>
            <a:ext cx="182880" cy="182880"/>
          </a:xfrm>
          <a:prstGeom prst="rect">
            <a:avLst/>
          </a:prstGeom>
        </p:spPr>
      </p:pic>
      <p:sp>
        <p:nvSpPr>
          <p:cNvPr id="24" name="Text 16"/>
          <p:cNvSpPr/>
          <p:nvPr/>
        </p:nvSpPr>
        <p:spPr>
          <a:xfrm>
            <a:off x="5623560" y="1600200"/>
            <a:ext cx="27432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Rapid prototyping of agent ideas</a:t>
            </a:r>
            <a:endParaRPr lang="en-US" sz="1000" dirty="0"/>
          </a:p>
        </p:txBody>
      </p:sp>
      <p:pic>
        <p:nvPicPr>
          <p:cNvPr id="25" name="Image 6" descr="preencoded.png"/>
          <p:cNvPicPr>
            <a:picLocks noChangeAspect="1"/>
          </p:cNvPicPr>
          <p:nvPr/>
        </p:nvPicPr>
        <p:blipFill>
          <a:blip r:embed="rId4"/>
          <a:stretch>
            <a:fillRect/>
          </a:stretch>
        </p:blipFill>
        <p:spPr>
          <a:xfrm>
            <a:off x="5349240" y="1920240"/>
            <a:ext cx="182880" cy="182880"/>
          </a:xfrm>
          <a:prstGeom prst="rect">
            <a:avLst/>
          </a:prstGeom>
        </p:spPr>
      </p:pic>
      <p:sp>
        <p:nvSpPr>
          <p:cNvPr id="26" name="Text 17"/>
          <p:cNvSpPr/>
          <p:nvPr/>
        </p:nvSpPr>
        <p:spPr>
          <a:xfrm>
            <a:off x="5623560" y="1920240"/>
            <a:ext cx="27432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Complex multi-tool orchestration</a:t>
            </a:r>
            <a:endParaRPr lang="en-US" sz="1000" dirty="0"/>
          </a:p>
        </p:txBody>
      </p:sp>
      <p:pic>
        <p:nvPicPr>
          <p:cNvPr id="27" name="Image 7" descr="preencoded.png"/>
          <p:cNvPicPr>
            <a:picLocks noChangeAspect="1"/>
          </p:cNvPicPr>
          <p:nvPr/>
        </p:nvPicPr>
        <p:blipFill>
          <a:blip r:embed="rId4"/>
          <a:stretch>
            <a:fillRect/>
          </a:stretch>
        </p:blipFill>
        <p:spPr>
          <a:xfrm>
            <a:off x="5349240" y="2240280"/>
            <a:ext cx="182880" cy="182880"/>
          </a:xfrm>
          <a:prstGeom prst="rect">
            <a:avLst/>
          </a:prstGeom>
        </p:spPr>
      </p:pic>
      <p:sp>
        <p:nvSpPr>
          <p:cNvPr id="28" name="Text 18"/>
          <p:cNvSpPr/>
          <p:nvPr/>
        </p:nvSpPr>
        <p:spPr>
          <a:xfrm>
            <a:off x="5623560" y="2240280"/>
            <a:ext cx="2743200" cy="256032"/>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When you need memory + tools + chains</a:t>
            </a:r>
            <a:endParaRPr lang="en-US" sz="1000" dirty="0"/>
          </a:p>
        </p:txBody>
      </p:sp>
      <p:sp>
        <p:nvSpPr>
          <p:cNvPr id="29" name="Shape 19"/>
          <p:cNvSpPr/>
          <p:nvPr/>
        </p:nvSpPr>
        <p:spPr>
          <a:xfrm>
            <a:off x="5120640" y="2834640"/>
            <a:ext cx="3474720" cy="173736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dirty="0"/>
          </a:p>
        </p:txBody>
      </p:sp>
      <p:sp>
        <p:nvSpPr>
          <p:cNvPr id="30" name="Text 20"/>
          <p:cNvSpPr/>
          <p:nvPr/>
        </p:nvSpPr>
        <p:spPr>
          <a:xfrm>
            <a:off x="5303520" y="2926080"/>
            <a:ext cx="3108960" cy="320040"/>
          </a:xfrm>
          <a:prstGeom prst="rect">
            <a:avLst/>
          </a:prstGeom>
          <a:noFill/>
          <a:ln/>
        </p:spPr>
        <p:txBody>
          <a:bodyPr wrap="square" lIns="0" tIns="0" rIns="0" bIns="0" rtlCol="0" anchor="ctr"/>
          <a:lstStyle/>
          <a:p>
            <a:pPr marL="0" indent="0">
              <a:buNone/>
            </a:pPr>
            <a:r>
              <a:rPr lang="en-US" sz="1400" b="1" dirty="0">
                <a:solidFill>
                  <a:srgbClr val="F59E0B"/>
                </a:solidFill>
                <a:latin typeface="Trebuchet MS" pitchFamily="34" charset="0"/>
                <a:ea typeface="Trebuchet MS" pitchFamily="34" charset="-122"/>
                <a:cs typeface="Trebuchet MS" pitchFamily="34" charset="-120"/>
              </a:rPr>
              <a:t>Consider Alternatives</a:t>
            </a:r>
            <a:endParaRPr lang="en-US" sz="1400" dirty="0"/>
          </a:p>
        </p:txBody>
      </p:sp>
      <p:sp>
        <p:nvSpPr>
          <p:cNvPr id="31" name="Text 21"/>
          <p:cNvSpPr/>
          <p:nvPr/>
        </p:nvSpPr>
        <p:spPr>
          <a:xfrm>
            <a:off x="5349240" y="3337560"/>
            <a:ext cx="1005840" cy="228600"/>
          </a:xfrm>
          <a:prstGeom prst="rect">
            <a:avLst/>
          </a:prstGeom>
          <a:noFill/>
          <a:ln/>
        </p:spPr>
        <p:txBody>
          <a:bodyPr wrap="square" lIns="0" tIns="0" rIns="0" bIns="0" rtlCol="0" anchor="ctr"/>
          <a:lstStyle/>
          <a:p>
            <a:pPr marL="0" indent="0">
              <a:buNone/>
            </a:pPr>
            <a:r>
              <a:rPr lang="en-US" sz="1000" b="1" dirty="0">
                <a:solidFill>
                  <a:srgbClr val="0891B2"/>
                </a:solidFill>
                <a:latin typeface="Consolas" pitchFamily="34" charset="0"/>
                <a:ea typeface="Consolas" pitchFamily="34" charset="-122"/>
                <a:cs typeface="Consolas" pitchFamily="34" charset="-120"/>
              </a:rPr>
              <a:t>CrewAI</a:t>
            </a:r>
            <a:endParaRPr lang="en-US" sz="1000" dirty="0"/>
          </a:p>
        </p:txBody>
      </p:sp>
      <p:sp>
        <p:nvSpPr>
          <p:cNvPr id="32" name="Text 22"/>
          <p:cNvSpPr/>
          <p:nvPr/>
        </p:nvSpPr>
        <p:spPr>
          <a:xfrm>
            <a:off x="6400800" y="3337560"/>
            <a:ext cx="2011680" cy="2286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Multi-agent role-based systems</a:t>
            </a:r>
            <a:endParaRPr lang="en-US" sz="1000" dirty="0"/>
          </a:p>
        </p:txBody>
      </p:sp>
      <p:sp>
        <p:nvSpPr>
          <p:cNvPr id="33" name="Text 23"/>
          <p:cNvSpPr/>
          <p:nvPr/>
        </p:nvSpPr>
        <p:spPr>
          <a:xfrm>
            <a:off x="5349240" y="3630168"/>
            <a:ext cx="1005840" cy="228600"/>
          </a:xfrm>
          <a:prstGeom prst="rect">
            <a:avLst/>
          </a:prstGeom>
          <a:noFill/>
          <a:ln/>
        </p:spPr>
        <p:txBody>
          <a:bodyPr wrap="square" lIns="0" tIns="0" rIns="0" bIns="0" rtlCol="0" anchor="ctr"/>
          <a:lstStyle/>
          <a:p>
            <a:pPr marL="0" indent="0">
              <a:buNone/>
            </a:pPr>
            <a:r>
              <a:rPr lang="en-US" sz="1000" b="1" dirty="0">
                <a:solidFill>
                  <a:srgbClr val="0891B2"/>
                </a:solidFill>
                <a:latin typeface="Consolas" pitchFamily="34" charset="0"/>
                <a:ea typeface="Consolas" pitchFamily="34" charset="-122"/>
                <a:cs typeface="Consolas" pitchFamily="34" charset="-120"/>
              </a:rPr>
              <a:t>AutoGen</a:t>
            </a:r>
            <a:endParaRPr lang="en-US" sz="1000" dirty="0"/>
          </a:p>
        </p:txBody>
      </p:sp>
      <p:sp>
        <p:nvSpPr>
          <p:cNvPr id="34" name="Text 24"/>
          <p:cNvSpPr/>
          <p:nvPr/>
        </p:nvSpPr>
        <p:spPr>
          <a:xfrm>
            <a:off x="6400800" y="3630168"/>
            <a:ext cx="2011680" cy="2286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Microsoft's agent conversations</a:t>
            </a:r>
            <a:endParaRPr lang="en-US" sz="1000" dirty="0"/>
          </a:p>
        </p:txBody>
      </p:sp>
      <p:sp>
        <p:nvSpPr>
          <p:cNvPr id="35" name="Text 25"/>
          <p:cNvSpPr/>
          <p:nvPr/>
        </p:nvSpPr>
        <p:spPr>
          <a:xfrm>
            <a:off x="5349240" y="3922776"/>
            <a:ext cx="1005840" cy="228600"/>
          </a:xfrm>
          <a:prstGeom prst="rect">
            <a:avLst/>
          </a:prstGeom>
          <a:noFill/>
          <a:ln/>
        </p:spPr>
        <p:txBody>
          <a:bodyPr wrap="square" lIns="0" tIns="0" rIns="0" bIns="0" rtlCol="0" anchor="ctr"/>
          <a:lstStyle/>
          <a:p>
            <a:pPr marL="0" indent="0">
              <a:buNone/>
            </a:pPr>
            <a:r>
              <a:rPr lang="en-US" sz="1000" b="1" dirty="0">
                <a:solidFill>
                  <a:srgbClr val="0891B2"/>
                </a:solidFill>
                <a:latin typeface="Consolas" pitchFamily="34" charset="0"/>
                <a:ea typeface="Consolas" pitchFamily="34" charset="-122"/>
                <a:cs typeface="Consolas" pitchFamily="34" charset="-120"/>
              </a:rPr>
              <a:t>Raw API</a:t>
            </a:r>
            <a:endParaRPr lang="en-US" sz="1000" dirty="0"/>
          </a:p>
        </p:txBody>
      </p:sp>
      <p:sp>
        <p:nvSpPr>
          <p:cNvPr id="36" name="Text 26"/>
          <p:cNvSpPr/>
          <p:nvPr/>
        </p:nvSpPr>
        <p:spPr>
          <a:xfrm>
            <a:off x="6400800" y="3922776"/>
            <a:ext cx="2011680" cy="2286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Simple, low-latency use cases</a:t>
            </a:r>
            <a:endParaRPr lang="en-US" sz="1000" dirty="0"/>
          </a:p>
        </p:txBody>
      </p:sp>
      <p:sp>
        <p:nvSpPr>
          <p:cNvPr id="37" name="Text 27"/>
          <p:cNvSpPr/>
          <p:nvPr/>
        </p:nvSpPr>
        <p:spPr>
          <a:xfrm>
            <a:off x="5349240" y="4215384"/>
            <a:ext cx="1005840" cy="228600"/>
          </a:xfrm>
          <a:prstGeom prst="rect">
            <a:avLst/>
          </a:prstGeom>
          <a:noFill/>
          <a:ln/>
        </p:spPr>
        <p:txBody>
          <a:bodyPr wrap="square" lIns="0" tIns="0" rIns="0" bIns="0" rtlCol="0" anchor="ctr"/>
          <a:lstStyle/>
          <a:p>
            <a:pPr marL="0" indent="0">
              <a:buNone/>
            </a:pPr>
            <a:r>
              <a:rPr lang="en-US" sz="1000" b="1" dirty="0">
                <a:solidFill>
                  <a:srgbClr val="0891B2"/>
                </a:solidFill>
                <a:latin typeface="Consolas" pitchFamily="34" charset="0"/>
                <a:ea typeface="Consolas" pitchFamily="34" charset="-122"/>
                <a:cs typeface="Consolas" pitchFamily="34" charset="-120"/>
              </a:rPr>
              <a:t>Haystack</a:t>
            </a:r>
            <a:endParaRPr lang="en-US" sz="1000" dirty="0"/>
          </a:p>
        </p:txBody>
      </p:sp>
      <p:sp>
        <p:nvSpPr>
          <p:cNvPr id="38" name="Text 28"/>
          <p:cNvSpPr/>
          <p:nvPr/>
        </p:nvSpPr>
        <p:spPr>
          <a:xfrm>
            <a:off x="6400800" y="4215384"/>
            <a:ext cx="2011680" cy="22860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Production RAG pipelines</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Agent Frameworks Landscape — How They Compare</a:t>
            </a:r>
            <a:endParaRPr lang="en-US" sz="22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3401568"/>
        </p:xfrm>
        <a:graphic>
          <a:graphicData uri="http://schemas.openxmlformats.org/drawingml/2006/table">
            <a:tbl>
              <a:tblPr/>
              <a:tblGrid>
                <a:gridCol w="14630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2423160">
                  <a:extLst>
                    <a:ext uri="{9D8B030D-6E8A-4147-A177-3AD203B41FA5}">
                      <a16:colId xmlns:a16="http://schemas.microsoft.com/office/drawing/2014/main" val="20002"/>
                    </a:ext>
                  </a:extLst>
                </a:gridCol>
                <a:gridCol w="2423160">
                  <a:extLst>
                    <a:ext uri="{9D8B030D-6E8A-4147-A177-3AD203B41FA5}">
                      <a16:colId xmlns:a16="http://schemas.microsoft.com/office/drawing/2014/main" val="20003"/>
                    </a:ext>
                  </a:extLst>
                </a:gridCol>
              </a:tblGrid>
              <a:tr h="384048">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Framework</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Best For</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Strengths</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200" b="1" dirty="0">
                          <a:solidFill>
                            <a:srgbClr val="FFFFFF"/>
                          </a:solidFill>
                          <a:latin typeface="Trebuchet MS" pitchFamily="34" charset="0"/>
                          <a:ea typeface="Trebuchet MS" pitchFamily="34" charset="-122"/>
                          <a:cs typeface="Trebuchet MS" pitchFamily="34" charset="-120"/>
                        </a:rPr>
                        <a:t>Weakness</a:t>
                      </a:r>
                      <a:endParaRPr lang="en-US" sz="12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502920">
                <a:tc>
                  <a:txBody>
                    <a:bodyPr/>
                    <a:lstStyle/>
                    <a:p>
                      <a:pPr marL="0" indent="0">
                        <a:buNone/>
                      </a:pPr>
                      <a:r>
                        <a:rPr lang="en-US" sz="1100" b="1" dirty="0">
                          <a:solidFill>
                            <a:srgbClr val="0891B2"/>
                          </a:solidFill>
                          <a:latin typeface="Calibri" pitchFamily="34" charset="0"/>
                          <a:ea typeface="Calibri" pitchFamily="34" charset="-122"/>
                          <a:cs typeface="Calibri" pitchFamily="34" charset="-120"/>
                        </a:rPr>
                        <a:t>LangChain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Full-featured agent apps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0B981"/>
                          </a:solidFill>
                          <a:latin typeface="Calibri" pitchFamily="34" charset="0"/>
                          <a:ea typeface="Calibri" pitchFamily="34" charset="-122"/>
                          <a:cs typeface="Calibri" pitchFamily="34" charset="-120"/>
                        </a:rPr>
                        <a:t>Huge ecosystem, tools, memory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EF4444"/>
                          </a:solidFill>
                          <a:latin typeface="Calibri" pitchFamily="34" charset="0"/>
                          <a:ea typeface="Calibri" pitchFamily="34" charset="-122"/>
                          <a:cs typeface="Calibri" pitchFamily="34" charset="-120"/>
                        </a:rPr>
                        <a:t>Complex, fast-changing API</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100" b="1" dirty="0">
                          <a:solidFill>
                            <a:srgbClr val="0891B2"/>
                          </a:solidFill>
                          <a:latin typeface="Calibri" pitchFamily="34" charset="0"/>
                          <a:ea typeface="Calibri" pitchFamily="34" charset="-122"/>
                          <a:cs typeface="Calibri" pitchFamily="34" charset="-120"/>
                        </a:rPr>
                        <a:t>LangGraph</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Stateful multi-step flows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0B981"/>
                          </a:solidFill>
                          <a:latin typeface="Calibri" pitchFamily="34" charset="0"/>
                          <a:ea typeface="Calibri" pitchFamily="34" charset="-122"/>
                          <a:cs typeface="Calibri" pitchFamily="34" charset="-120"/>
                        </a:rPr>
                        <a:t>Graph-based, human-in-loop</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EF4444"/>
                          </a:solidFill>
                          <a:latin typeface="Calibri" pitchFamily="34" charset="0"/>
                          <a:ea typeface="Calibri" pitchFamily="34" charset="-122"/>
                          <a:cs typeface="Calibri" pitchFamily="34" charset="-120"/>
                        </a:rPr>
                        <a:t>Requires LangChain knowledge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100" b="1" dirty="0">
                          <a:solidFill>
                            <a:srgbClr val="0891B2"/>
                          </a:solidFill>
                          <a:latin typeface="Calibri" pitchFamily="34" charset="0"/>
                          <a:ea typeface="Calibri" pitchFamily="34" charset="-122"/>
                          <a:cs typeface="Calibri" pitchFamily="34" charset="-120"/>
                        </a:rPr>
                        <a:t>CrewAI</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Multi-agent role-play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0B981"/>
                          </a:solidFill>
                          <a:latin typeface="Calibri" pitchFamily="34" charset="0"/>
                          <a:ea typeface="Calibri" pitchFamily="34" charset="-122"/>
                          <a:cs typeface="Calibri" pitchFamily="34" charset="-120"/>
                        </a:rPr>
                        <a:t>Easy role assignment, collab</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EF4444"/>
                          </a:solidFill>
                          <a:latin typeface="Calibri" pitchFamily="34" charset="0"/>
                          <a:ea typeface="Calibri" pitchFamily="34" charset="-122"/>
                          <a:cs typeface="Calibri" pitchFamily="34" charset="-120"/>
                        </a:rPr>
                        <a:t>Less flexible for custom flows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100" b="1" dirty="0">
                          <a:solidFill>
                            <a:srgbClr val="0891B2"/>
                          </a:solidFill>
                          <a:latin typeface="Calibri" pitchFamily="34" charset="0"/>
                          <a:ea typeface="Calibri" pitchFamily="34" charset="-122"/>
                          <a:cs typeface="Calibri" pitchFamily="34" charset="-120"/>
                        </a:rPr>
                        <a:t>AutoGen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Agent conversations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0B981"/>
                          </a:solidFill>
                          <a:latin typeface="Calibri" pitchFamily="34" charset="0"/>
                          <a:ea typeface="Calibri" pitchFamily="34" charset="-122"/>
                          <a:cs typeface="Calibri" pitchFamily="34" charset="-120"/>
                        </a:rPr>
                        <a:t>Multi-agent chat, Microsoft</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EF4444"/>
                          </a:solidFill>
                          <a:latin typeface="Calibri" pitchFamily="34" charset="0"/>
                          <a:ea typeface="Calibri" pitchFamily="34" charset="-122"/>
                          <a:cs typeface="Calibri" pitchFamily="34" charset="-120"/>
                        </a:rPr>
                        <a:t>Heavier setup, less modular</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100" b="1" dirty="0">
                          <a:solidFill>
                            <a:srgbClr val="0891B2"/>
                          </a:solidFill>
                          <a:latin typeface="Calibri" pitchFamily="34" charset="0"/>
                          <a:ea typeface="Calibri" pitchFamily="34" charset="-122"/>
                          <a:cs typeface="Calibri" pitchFamily="34" charset="-120"/>
                        </a:rPr>
                        <a:t>Haystack</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Production RAG</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0B981"/>
                          </a:solidFill>
                          <a:latin typeface="Calibri" pitchFamily="34" charset="0"/>
                          <a:ea typeface="Calibri" pitchFamily="34" charset="-122"/>
                          <a:cs typeface="Calibri" pitchFamily="34" charset="-120"/>
                        </a:rPr>
                        <a:t>Pipeline-based, extensible</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EF4444"/>
                          </a:solidFill>
                          <a:latin typeface="Calibri" pitchFamily="34" charset="0"/>
                          <a:ea typeface="Calibri" pitchFamily="34" charset="-122"/>
                          <a:cs typeface="Calibri" pitchFamily="34" charset="-120"/>
                        </a:rPr>
                        <a:t>Less agent-focused</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100" b="1" dirty="0">
                          <a:solidFill>
                            <a:srgbClr val="0891B2"/>
                          </a:solidFill>
                          <a:latin typeface="Calibri" pitchFamily="34" charset="0"/>
                          <a:ea typeface="Calibri" pitchFamily="34" charset="-122"/>
                          <a:cs typeface="Calibri" pitchFamily="34" charset="-120"/>
                        </a:rPr>
                        <a:t>Semantic Kernel</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334155"/>
                          </a:solidFill>
                          <a:latin typeface="Calibri" pitchFamily="34" charset="0"/>
                          <a:ea typeface="Calibri" pitchFamily="34" charset="-122"/>
                          <a:cs typeface="Calibri" pitchFamily="34" charset="-120"/>
                        </a:rPr>
                        <a:t>Enterprise .NET/Python</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10B981"/>
                          </a:solidFill>
                          <a:latin typeface="Calibri" pitchFamily="34" charset="0"/>
                          <a:ea typeface="Calibri" pitchFamily="34" charset="-122"/>
                          <a:cs typeface="Calibri" pitchFamily="34" charset="-120"/>
                        </a:rPr>
                        <a:t>Microsoft ecosystem, plugins</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100" dirty="0">
                          <a:solidFill>
                            <a:srgbClr val="EF4444"/>
                          </a:solidFill>
                          <a:latin typeface="Calibri" pitchFamily="34" charset="0"/>
                          <a:ea typeface="Calibri" pitchFamily="34" charset="-122"/>
                          <a:cs typeface="Calibri" pitchFamily="34" charset="-120"/>
                        </a:rPr>
                        <a:t>Smaller community</a:t>
                      </a:r>
                      <a:endParaRPr lang="en-US" sz="11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5" name="Text 2"/>
          <p:cNvSpPr/>
          <p:nvPr/>
        </p:nvSpPr>
        <p:spPr>
          <a:xfrm>
            <a:off x="731520" y="4389120"/>
            <a:ext cx="7680960" cy="457200"/>
          </a:xfrm>
          <a:prstGeom prst="rect">
            <a:avLst/>
          </a:prstGeom>
          <a:noFill/>
          <a:ln/>
        </p:spPr>
        <p:txBody>
          <a:bodyPr wrap="square" lIns="0" tIns="0" rIns="0" bIns="0" rtlCol="0" anchor="ctr"/>
          <a:lstStyle/>
          <a:p>
            <a:pPr marL="0" indent="0" algn="ctr">
              <a:buNone/>
            </a:pPr>
            <a:r>
              <a:rPr lang="en-US" sz="1100" i="1" dirty="0">
                <a:solidFill>
                  <a:srgbClr val="0891B2"/>
                </a:solidFill>
                <a:latin typeface="Calibri" pitchFamily="34" charset="0"/>
                <a:ea typeface="Calibri" pitchFamily="34" charset="-122"/>
                <a:cs typeface="Calibri" pitchFamily="34" charset="-120"/>
              </a:rPr>
              <a:t>We're using LangChain in this course because of its comprehensive ecosystem, but knowing alternatives helps you choose the right tool for each project.</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24">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0891B2"/>
          </a:solidFill>
          <a:ln/>
        </p:spPr>
        <p:txBody>
          <a:bodyPr/>
          <a:lstStyle/>
          <a:p>
            <a:endParaRPr lang="en-US" dirty="0"/>
          </a:p>
        </p:txBody>
      </p:sp>
      <p:sp>
        <p:nvSpPr>
          <p:cNvPr id="3" name="Text 1"/>
          <p:cNvSpPr/>
          <p:nvPr/>
        </p:nvSpPr>
        <p:spPr>
          <a:xfrm>
            <a:off x="731520" y="1371600"/>
            <a:ext cx="7680960" cy="1097280"/>
          </a:xfrm>
          <a:prstGeom prst="rect">
            <a:avLst/>
          </a:prstGeom>
          <a:noFill/>
          <a:ln/>
        </p:spPr>
        <p:txBody>
          <a:bodyPr wrap="square" lIns="0" tIns="0" rIns="0" bIns="0" rtlCol="0" anchor="ctr"/>
          <a:lstStyle/>
          <a:p>
            <a:pPr marL="0" indent="0">
              <a:buNone/>
            </a:pPr>
            <a:r>
              <a:rPr lang="en-US" sz="4000" b="1" dirty="0">
                <a:solidFill>
                  <a:srgbClr val="FFFFFF"/>
                </a:solidFill>
                <a:latin typeface="Trebuchet MS" pitchFamily="34" charset="0"/>
                <a:ea typeface="Trebuchet MS" pitchFamily="34" charset="-122"/>
                <a:cs typeface="Trebuchet MS" pitchFamily="34" charset="-120"/>
              </a:rPr>
              <a:t>Hands-On Build</a:t>
            </a:r>
            <a:endParaRPr lang="en-US" sz="4000" dirty="0"/>
          </a:p>
        </p:txBody>
      </p:sp>
      <p:sp>
        <p:nvSpPr>
          <p:cNvPr id="4" name="Text 2"/>
          <p:cNvSpPr/>
          <p:nvPr/>
        </p:nvSpPr>
        <p:spPr>
          <a:xfrm>
            <a:off x="731520" y="2560320"/>
            <a:ext cx="7680960" cy="731520"/>
          </a:xfrm>
          <a:prstGeom prst="rect">
            <a:avLst/>
          </a:prstGeom>
          <a:noFill/>
          <a:ln/>
        </p:spPr>
        <p:txBody>
          <a:bodyPr wrap="square" lIns="0" tIns="0" rIns="0" bIns="0" rtlCol="0" anchor="ctr"/>
          <a:lstStyle/>
          <a:p>
            <a:pPr marL="0" indent="0">
              <a:buNone/>
            </a:pPr>
            <a:r>
              <a:rPr lang="en-US" sz="1800" dirty="0">
                <a:solidFill>
                  <a:srgbClr val="94A3B8"/>
                </a:solidFill>
                <a:latin typeface="Calibri" pitchFamily="34" charset="0"/>
                <a:ea typeface="Calibri" pitchFamily="34" charset="-122"/>
                <a:cs typeface="Calibri" pitchFamily="34" charset="-120"/>
              </a:rPr>
              <a:t>Building AI Agents with LangChain + Python</a:t>
            </a:r>
            <a:endParaRPr lang="en-US" sz="1800" dirty="0"/>
          </a:p>
        </p:txBody>
      </p:sp>
      <p:sp>
        <p:nvSpPr>
          <p:cNvPr id="5" name="Shape 3"/>
          <p:cNvSpPr/>
          <p:nvPr/>
        </p:nvSpPr>
        <p:spPr>
          <a:xfrm>
            <a:off x="7498080" y="1645920"/>
            <a:ext cx="1097280" cy="1097280"/>
          </a:xfrm>
          <a:prstGeom prst="ellipse">
            <a:avLst/>
          </a:prstGeom>
          <a:solidFill>
            <a:srgbClr val="10B981"/>
          </a:solidFill>
          <a:ln/>
        </p:spPr>
        <p:txBody>
          <a:bodyPr/>
          <a:lstStyle/>
          <a:p>
            <a:endParaRPr lang="en-US" dirty="0"/>
          </a:p>
        </p:txBody>
      </p:sp>
      <p:pic>
        <p:nvPicPr>
          <p:cNvPr id="6" name="Image 0" descr="preencoded.png"/>
          <p:cNvPicPr>
            <a:picLocks noChangeAspect="1"/>
          </p:cNvPicPr>
          <p:nvPr/>
        </p:nvPicPr>
        <p:blipFill>
          <a:blip r:embed="rId3"/>
          <a:stretch>
            <a:fillRect/>
          </a:stretch>
        </p:blipFill>
        <p:spPr>
          <a:xfrm>
            <a:off x="7739482" y="1887322"/>
            <a:ext cx="614477" cy="614477"/>
          </a:xfrm>
          <a:prstGeom prst="rect">
            <a:avLst/>
          </a:prstGeom>
        </p:spPr>
      </p:pic>
      <p:sp>
        <p:nvSpPr>
          <p:cNvPr id="7" name="Text 4"/>
          <p:cNvSpPr/>
          <p:nvPr/>
        </p:nvSpPr>
        <p:spPr>
          <a:xfrm>
            <a:off x="7498080" y="2926080"/>
            <a:ext cx="1097280" cy="365760"/>
          </a:xfrm>
          <a:prstGeom prst="rect">
            <a:avLst/>
          </a:prstGeom>
          <a:noFill/>
          <a:ln/>
        </p:spPr>
        <p:txBody>
          <a:bodyPr wrap="square" lIns="0" tIns="0" rIns="0" bIns="0" rtlCol="0" anchor="ctr"/>
          <a:lstStyle/>
          <a:p>
            <a:pPr marL="0" indent="0" algn="ctr">
              <a:buNone/>
            </a:pPr>
            <a:r>
              <a:rPr lang="en-US" sz="1200" dirty="0">
                <a:solidFill>
                  <a:srgbClr val="94A3B8"/>
                </a:solidFill>
                <a:latin typeface="Calibri" pitchFamily="34" charset="0"/>
                <a:ea typeface="Calibri" pitchFamily="34" charset="-122"/>
                <a:cs typeface="Calibri" pitchFamily="34" charset="-120"/>
              </a:rPr>
              <a:t>30 min</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2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dirty="0"/>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Setting Up Your Environment</a:t>
            </a:r>
            <a:endParaRPr lang="en-US" sz="2200" dirty="0"/>
          </a:p>
        </p:txBody>
      </p:sp>
      <p:sp>
        <p:nvSpPr>
          <p:cNvPr id="4" name="Text 2"/>
          <p:cNvSpPr/>
          <p:nvPr/>
        </p:nvSpPr>
        <p:spPr>
          <a:xfrm>
            <a:off x="731520" y="1097280"/>
            <a:ext cx="365760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Installation</a:t>
            </a:r>
            <a:endParaRPr lang="en-US" sz="1600" dirty="0"/>
          </a:p>
        </p:txBody>
      </p:sp>
      <p:sp>
        <p:nvSpPr>
          <p:cNvPr id="5" name="Shape 3"/>
          <p:cNvSpPr/>
          <p:nvPr/>
        </p:nvSpPr>
        <p:spPr>
          <a:xfrm>
            <a:off x="731520" y="1554480"/>
            <a:ext cx="5029200" cy="2011680"/>
          </a:xfrm>
          <a:prstGeom prst="rect">
            <a:avLst/>
          </a:prstGeom>
          <a:solidFill>
            <a:srgbClr val="0F172A"/>
          </a:solidFill>
          <a:ln/>
        </p:spPr>
        <p:txBody>
          <a:bodyPr/>
          <a:lstStyle/>
          <a:p>
            <a:endParaRPr lang="en-US" dirty="0"/>
          </a:p>
        </p:txBody>
      </p:sp>
      <p:sp>
        <p:nvSpPr>
          <p:cNvPr id="6" name="Text 4"/>
          <p:cNvSpPr/>
          <p:nvPr/>
        </p:nvSpPr>
        <p:spPr>
          <a:xfrm>
            <a:off x="914400" y="1645920"/>
            <a:ext cx="4663440" cy="1828800"/>
          </a:xfrm>
          <a:prstGeom prst="rect">
            <a:avLst/>
          </a:prstGeom>
          <a:noFill/>
          <a:ln/>
        </p:spPr>
        <p:txBody>
          <a:bodyPr wrap="square" lIns="0" tIns="0" rIns="0" bIns="0" rtlCol="0" anchor="ctr"/>
          <a:lstStyle/>
          <a:p>
            <a:pPr marL="0" indent="0">
              <a:buNone/>
            </a:pPr>
            <a:r>
              <a:rPr lang="en-US" sz="1100" dirty="0">
                <a:solidFill>
                  <a:srgbClr val="22D3EE"/>
                </a:solidFill>
                <a:latin typeface="Consolas" pitchFamily="34" charset="0"/>
                <a:ea typeface="Consolas" pitchFamily="34" charset="-122"/>
                <a:cs typeface="Consolas" pitchFamily="34" charset="-120"/>
              </a:rPr>
              <a:t># Create virtual environment</a:t>
            </a:r>
            <a:endParaRPr lang="en-US" sz="1100" dirty="0"/>
          </a:p>
          <a:p>
            <a:pPr marL="0" indent="0">
              <a:buNone/>
            </a:pPr>
            <a:r>
              <a:rPr lang="en-US" sz="1100" dirty="0">
                <a:solidFill>
                  <a:srgbClr val="22D3EE"/>
                </a:solidFill>
                <a:latin typeface="Consolas" pitchFamily="34" charset="0"/>
                <a:ea typeface="Consolas" pitchFamily="34" charset="-122"/>
                <a:cs typeface="Consolas" pitchFamily="34" charset="-120"/>
              </a:rPr>
              <a:t>python -m venv agent-env</a:t>
            </a:r>
            <a:endParaRPr lang="en-US" sz="1100" dirty="0"/>
          </a:p>
          <a:p>
            <a:pPr marL="0" indent="0">
              <a:buNone/>
            </a:pPr>
            <a:r>
              <a:rPr lang="en-US" sz="1100" dirty="0">
                <a:solidFill>
                  <a:srgbClr val="22D3EE"/>
                </a:solidFill>
                <a:latin typeface="Consolas" pitchFamily="34" charset="0"/>
                <a:ea typeface="Consolas" pitchFamily="34" charset="-122"/>
                <a:cs typeface="Consolas" pitchFamily="34" charset="-120"/>
              </a:rPr>
              <a:t>source agent-env/bin/activate</a:t>
            </a:r>
            <a:endParaRPr lang="en-US" sz="1100" dirty="0"/>
          </a:p>
          <a:p>
            <a:pPr marL="0" indent="0">
              <a:buNone/>
            </a:pPr>
            <a:endParaRPr lang="en-US" sz="1100" dirty="0"/>
          </a:p>
          <a:p>
            <a:pPr marL="0" indent="0">
              <a:buNone/>
            </a:pPr>
            <a:r>
              <a:rPr lang="en-US" sz="1100" dirty="0">
                <a:solidFill>
                  <a:srgbClr val="22D3EE"/>
                </a:solidFill>
                <a:latin typeface="Consolas" pitchFamily="34" charset="0"/>
                <a:ea typeface="Consolas" pitchFamily="34" charset="-122"/>
                <a:cs typeface="Consolas" pitchFamily="34" charset="-120"/>
              </a:rPr>
              <a:t># Install LangChain + dependencies</a:t>
            </a:r>
            <a:endParaRPr lang="en-US" sz="1100" dirty="0"/>
          </a:p>
          <a:p>
            <a:pPr marL="0" indent="0">
              <a:buNone/>
            </a:pPr>
            <a:r>
              <a:rPr lang="en-US" sz="1100" dirty="0">
                <a:solidFill>
                  <a:srgbClr val="22D3EE"/>
                </a:solidFill>
                <a:latin typeface="Consolas" pitchFamily="34" charset="0"/>
                <a:ea typeface="Consolas" pitchFamily="34" charset="-122"/>
                <a:cs typeface="Consolas" pitchFamily="34" charset="-120"/>
              </a:rPr>
              <a:t>pip install </a:t>
            </a:r>
            <a:r>
              <a:rPr lang="en-US" sz="1100" dirty="0" err="1">
                <a:solidFill>
                  <a:srgbClr val="22D3EE"/>
                </a:solidFill>
                <a:latin typeface="Consolas" pitchFamily="34" charset="0"/>
                <a:ea typeface="Consolas" pitchFamily="34" charset="-122"/>
                <a:cs typeface="Consolas" pitchFamily="34" charset="-120"/>
              </a:rPr>
              <a:t>langchain</a:t>
            </a:r>
            <a:endParaRPr lang="en-US" sz="1100" dirty="0">
              <a:solidFill>
                <a:srgbClr val="22D3EE"/>
              </a:solidFill>
              <a:latin typeface="Consolas" pitchFamily="34" charset="0"/>
              <a:ea typeface="Consolas" pitchFamily="34" charset="-122"/>
              <a:cs typeface="Consolas" pitchFamily="34" charset="-120"/>
            </a:endParaRPr>
          </a:p>
          <a:p>
            <a:r>
              <a:rPr lang="en-US" sz="1100" dirty="0">
                <a:solidFill>
                  <a:srgbClr val="22D3EE"/>
                </a:solidFill>
                <a:latin typeface="Consolas" pitchFamily="34" charset="0"/>
                <a:ea typeface="Consolas" pitchFamily="34" charset="-122"/>
                <a:cs typeface="Consolas" pitchFamily="34" charset="-120"/>
              </a:rPr>
              <a:t>pip install </a:t>
            </a:r>
            <a:r>
              <a:rPr lang="en-US" sz="1100" dirty="0" err="1">
                <a:solidFill>
                  <a:srgbClr val="22D3EE"/>
                </a:solidFill>
                <a:latin typeface="Consolas" pitchFamily="34" charset="0"/>
                <a:ea typeface="Consolas" pitchFamily="34" charset="-122"/>
                <a:cs typeface="Consolas" pitchFamily="34" charset="-120"/>
              </a:rPr>
              <a:t>langchain</a:t>
            </a:r>
            <a:r>
              <a:rPr lang="en-US" sz="1100" dirty="0">
                <a:solidFill>
                  <a:srgbClr val="22D3EE"/>
                </a:solidFill>
                <a:latin typeface="Consolas" pitchFamily="34" charset="0"/>
                <a:ea typeface="Consolas" pitchFamily="34" charset="-122"/>
                <a:cs typeface="Consolas" pitchFamily="34" charset="-120"/>
              </a:rPr>
              <a:t>-google-</a:t>
            </a:r>
            <a:r>
              <a:rPr lang="en-US" sz="1100" dirty="0" err="1">
                <a:solidFill>
                  <a:srgbClr val="22D3EE"/>
                </a:solidFill>
                <a:latin typeface="Consolas" pitchFamily="34" charset="0"/>
                <a:ea typeface="Consolas" pitchFamily="34" charset="-122"/>
                <a:cs typeface="Consolas" pitchFamily="34" charset="-120"/>
              </a:rPr>
              <a:t>genai</a:t>
            </a:r>
            <a:endParaRPr lang="en-US" sz="1100" dirty="0"/>
          </a:p>
          <a:p>
            <a:pPr marL="0" indent="0">
              <a:buNone/>
            </a:pPr>
            <a:r>
              <a:rPr lang="en-US" sz="1100" dirty="0">
                <a:solidFill>
                  <a:srgbClr val="22D3EE"/>
                </a:solidFill>
                <a:latin typeface="Consolas" pitchFamily="34" charset="0"/>
                <a:ea typeface="Consolas" pitchFamily="34" charset="-122"/>
                <a:cs typeface="Consolas" pitchFamily="34" charset="-120"/>
              </a:rPr>
              <a:t>pip install python-dotenv</a:t>
            </a:r>
            <a:endParaRPr lang="en-US" sz="1100" dirty="0"/>
          </a:p>
        </p:txBody>
      </p:sp>
      <p:sp>
        <p:nvSpPr>
          <p:cNvPr id="7" name="Shape 5"/>
          <p:cNvSpPr/>
          <p:nvPr/>
        </p:nvSpPr>
        <p:spPr>
          <a:xfrm>
            <a:off x="6035040" y="1097280"/>
            <a:ext cx="2560320" cy="246888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8" name="Text 6"/>
          <p:cNvSpPr/>
          <p:nvPr/>
        </p:nvSpPr>
        <p:spPr>
          <a:xfrm>
            <a:off x="6217920" y="1188720"/>
            <a:ext cx="2194560" cy="36576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API Key Setup</a:t>
            </a:r>
            <a:endParaRPr lang="en-US" sz="1400" dirty="0"/>
          </a:p>
        </p:txBody>
      </p:sp>
      <p:sp>
        <p:nvSpPr>
          <p:cNvPr id="9" name="Shape 7"/>
          <p:cNvSpPr/>
          <p:nvPr/>
        </p:nvSpPr>
        <p:spPr>
          <a:xfrm>
            <a:off x="6217920" y="1645920"/>
            <a:ext cx="2194560" cy="914400"/>
          </a:xfrm>
          <a:prstGeom prst="rect">
            <a:avLst/>
          </a:prstGeom>
          <a:solidFill>
            <a:srgbClr val="0F172A"/>
          </a:solidFill>
          <a:ln/>
        </p:spPr>
        <p:txBody>
          <a:bodyPr/>
          <a:lstStyle/>
          <a:p>
            <a:endParaRPr lang="en-US"/>
          </a:p>
        </p:txBody>
      </p:sp>
      <p:sp>
        <p:nvSpPr>
          <p:cNvPr id="10" name="Text 8"/>
          <p:cNvSpPr/>
          <p:nvPr/>
        </p:nvSpPr>
        <p:spPr>
          <a:xfrm>
            <a:off x="6309360" y="1691640"/>
            <a:ext cx="2011680" cy="822960"/>
          </a:xfrm>
          <a:prstGeom prst="rect">
            <a:avLst/>
          </a:prstGeom>
          <a:noFill/>
          <a:ln/>
        </p:spPr>
        <p:txBody>
          <a:bodyPr wrap="square" lIns="0" tIns="0" rIns="0" bIns="0" rtlCol="0" anchor="ctr"/>
          <a:lstStyle/>
          <a:p>
            <a:pPr marL="0" indent="0">
              <a:buNone/>
            </a:pPr>
            <a:r>
              <a:rPr lang="en-US" sz="1000" dirty="0">
                <a:solidFill>
                  <a:srgbClr val="22D3EE"/>
                </a:solidFill>
                <a:latin typeface="Consolas" pitchFamily="34" charset="0"/>
                <a:ea typeface="Consolas" pitchFamily="34" charset="-122"/>
                <a:cs typeface="Consolas" pitchFamily="34" charset="-120"/>
              </a:rPr>
              <a:t># .env file</a:t>
            </a:r>
            <a:endParaRPr lang="en-US" sz="1000" dirty="0"/>
          </a:p>
          <a:p>
            <a:pPr marL="0" indent="0">
              <a:buNone/>
            </a:pPr>
            <a:r>
              <a:rPr lang="en-US" sz="1000" dirty="0">
                <a:solidFill>
                  <a:srgbClr val="22D3EE"/>
                </a:solidFill>
                <a:latin typeface="Consolas" pitchFamily="34" charset="0"/>
                <a:ea typeface="Consolas" pitchFamily="34" charset="-122"/>
                <a:cs typeface="Consolas" pitchFamily="34" charset="-120"/>
              </a:rPr>
              <a:t>GOOGLE_API_KEY=</a:t>
            </a:r>
            <a:r>
              <a:rPr lang="en-US" sz="1000" dirty="0" err="1">
                <a:solidFill>
                  <a:srgbClr val="22D3EE"/>
                </a:solidFill>
                <a:latin typeface="Consolas" pitchFamily="34" charset="0"/>
                <a:ea typeface="Consolas" pitchFamily="34" charset="-122"/>
                <a:cs typeface="Consolas" pitchFamily="34" charset="-120"/>
              </a:rPr>
              <a:t>sk</a:t>
            </a:r>
            <a:r>
              <a:rPr lang="en-US" sz="1000" dirty="0">
                <a:solidFill>
                  <a:srgbClr val="22D3EE"/>
                </a:solidFill>
                <a:latin typeface="Consolas" pitchFamily="34" charset="0"/>
                <a:ea typeface="Consolas" pitchFamily="34" charset="-122"/>
                <a:cs typeface="Consolas" pitchFamily="34" charset="-120"/>
              </a:rPr>
              <a:t>-...</a:t>
            </a:r>
            <a:endParaRPr lang="en-US" sz="1000" dirty="0"/>
          </a:p>
        </p:txBody>
      </p:sp>
      <p:sp>
        <p:nvSpPr>
          <p:cNvPr id="11" name="Text 9"/>
          <p:cNvSpPr/>
          <p:nvPr/>
        </p:nvSpPr>
        <p:spPr>
          <a:xfrm>
            <a:off x="6217920" y="2651760"/>
            <a:ext cx="2194560" cy="54864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Never hardcode API keys!</a:t>
            </a:r>
            <a:endParaRPr lang="en-US" sz="1000" dirty="0"/>
          </a:p>
          <a:p>
            <a:pPr marL="0" indent="0">
              <a:buNone/>
            </a:pPr>
            <a:r>
              <a:rPr lang="en-US" sz="1000" dirty="0">
                <a:solidFill>
                  <a:srgbClr val="334155"/>
                </a:solidFill>
                <a:latin typeface="Calibri" pitchFamily="34" charset="0"/>
                <a:ea typeface="Calibri" pitchFamily="34" charset="-122"/>
                <a:cs typeface="Calibri" pitchFamily="34" charset="-120"/>
              </a:rPr>
              <a:t>Use .env files + python-dotenv</a:t>
            </a:r>
            <a:endParaRPr lang="en-US" sz="1000" dirty="0"/>
          </a:p>
        </p:txBody>
      </p:sp>
      <p:sp>
        <p:nvSpPr>
          <p:cNvPr id="12" name="Text 10"/>
          <p:cNvSpPr/>
          <p:nvPr/>
        </p:nvSpPr>
        <p:spPr>
          <a:xfrm>
            <a:off x="731520" y="3840480"/>
            <a:ext cx="7680960" cy="365760"/>
          </a:xfrm>
          <a:prstGeom prst="rect">
            <a:avLst/>
          </a:prstGeom>
          <a:noFill/>
          <a:ln/>
        </p:spPr>
        <p:txBody>
          <a:bodyPr wrap="square" lIns="0" tIns="0" rIns="0" bIns="0" rtlCol="0" anchor="ctr"/>
          <a:lstStyle/>
          <a:p>
            <a:pPr marL="0" indent="0" algn="ctr">
              <a:buNone/>
            </a:pPr>
            <a:r>
              <a:rPr lang="en-US" sz="1200" i="1" dirty="0">
                <a:solidFill>
                  <a:srgbClr val="0891B2"/>
                </a:solidFill>
                <a:latin typeface="Calibri" pitchFamily="34" charset="0"/>
                <a:ea typeface="Calibri" pitchFamily="34" charset="-122"/>
                <a:cs typeface="Calibri" pitchFamily="34" charset="-120"/>
              </a:rPr>
              <a:t>Required: Python 3.9+, pip, Google API key (or any supported LLM provider)</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2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Building Your First LangChain Agent</a:t>
            </a:r>
            <a:endParaRPr lang="en-US" sz="2200" dirty="0"/>
          </a:p>
        </p:txBody>
      </p:sp>
      <p:sp>
        <p:nvSpPr>
          <p:cNvPr id="4" name="Shape 2"/>
          <p:cNvSpPr/>
          <p:nvPr/>
        </p:nvSpPr>
        <p:spPr>
          <a:xfrm>
            <a:off x="661181" y="1041009"/>
            <a:ext cx="7680960" cy="3967089"/>
          </a:xfrm>
          <a:prstGeom prst="rect">
            <a:avLst/>
          </a:prstGeom>
          <a:solidFill>
            <a:srgbClr val="0F172A"/>
          </a:solidFill>
          <a:ln/>
        </p:spPr>
        <p:txBody>
          <a:bodyPr/>
          <a:lstStyle/>
          <a:p>
            <a:endParaRPr lang="en-US"/>
          </a:p>
        </p:txBody>
      </p:sp>
      <p:sp>
        <p:nvSpPr>
          <p:cNvPr id="5" name="Text 3"/>
          <p:cNvSpPr/>
          <p:nvPr/>
        </p:nvSpPr>
        <p:spPr>
          <a:xfrm>
            <a:off x="801859" y="1434904"/>
            <a:ext cx="7427741" cy="3235569"/>
          </a:xfrm>
          <a:prstGeom prst="rect">
            <a:avLst/>
          </a:prstGeom>
          <a:noFill/>
          <a:ln/>
        </p:spPr>
        <p:txBody>
          <a:bodyPr wrap="square" lIns="0" tIns="0" rIns="0" bIns="0" rtlCol="0" anchor="ctr"/>
          <a:lstStyle/>
          <a:p>
            <a:pPr marL="0" indent="0">
              <a:buNone/>
            </a:pPr>
            <a:r>
              <a:rPr lang="en-US" sz="900" dirty="0">
                <a:solidFill>
                  <a:srgbClr val="22D3EE"/>
                </a:solidFill>
                <a:latin typeface="Consolas" pitchFamily="34" charset="0"/>
                <a:ea typeface="Consolas" pitchFamily="34" charset="-122"/>
                <a:cs typeface="Consolas" pitchFamily="34" charset="-120"/>
              </a:rPr>
              <a:t>from </a:t>
            </a:r>
            <a:r>
              <a:rPr lang="en-US" sz="900" dirty="0" err="1">
                <a:solidFill>
                  <a:srgbClr val="22D3EE"/>
                </a:solidFill>
                <a:latin typeface="Consolas" pitchFamily="34" charset="0"/>
                <a:ea typeface="Consolas" pitchFamily="34" charset="-122"/>
                <a:cs typeface="Consolas" pitchFamily="34" charset="-120"/>
              </a:rPr>
              <a:t>langchain.tools</a:t>
            </a:r>
            <a:r>
              <a:rPr lang="en-US" sz="900" dirty="0">
                <a:solidFill>
                  <a:srgbClr val="22D3EE"/>
                </a:solidFill>
                <a:latin typeface="Consolas" pitchFamily="34" charset="0"/>
                <a:ea typeface="Consolas" pitchFamily="34" charset="-122"/>
                <a:cs typeface="Consolas" pitchFamily="34" charset="-120"/>
              </a:rPr>
              <a:t> import tool</a:t>
            </a:r>
          </a:p>
          <a:p>
            <a:pPr marL="0" indent="0">
              <a:buNone/>
            </a:pPr>
            <a:r>
              <a:rPr lang="en-US" sz="900" dirty="0">
                <a:solidFill>
                  <a:srgbClr val="22D3EE"/>
                </a:solidFill>
                <a:latin typeface="Consolas" pitchFamily="34" charset="0"/>
                <a:ea typeface="Consolas" pitchFamily="34" charset="-122"/>
                <a:cs typeface="Consolas" pitchFamily="34" charset="-120"/>
              </a:rPr>
              <a:t>from langchain.agents import </a:t>
            </a:r>
            <a:r>
              <a:rPr lang="en-US" sz="900" dirty="0" err="1">
                <a:solidFill>
                  <a:srgbClr val="22D3EE"/>
                </a:solidFill>
                <a:latin typeface="Consolas" pitchFamily="34" charset="0"/>
                <a:ea typeface="Consolas" pitchFamily="34" charset="-122"/>
                <a:cs typeface="Consolas" pitchFamily="34" charset="-120"/>
              </a:rPr>
              <a:t>create_agent</a:t>
            </a:r>
            <a:endParaRPr lang="en-US" sz="900" dirty="0">
              <a:solidFill>
                <a:srgbClr val="22D3EE"/>
              </a:solidFill>
              <a:latin typeface="Consolas" pitchFamily="34" charset="0"/>
              <a:ea typeface="Consolas" pitchFamily="34" charset="-122"/>
              <a:cs typeface="Consolas" pitchFamily="34" charset="-120"/>
            </a:endParaRPr>
          </a:p>
          <a:p>
            <a:pPr marL="0" indent="0">
              <a:buNone/>
            </a:pPr>
            <a:endParaRPr lang="en-US" sz="900" dirty="0">
              <a:solidFill>
                <a:srgbClr val="22D3EE"/>
              </a:solidFill>
              <a:latin typeface="Consolas" pitchFamily="34" charset="0"/>
            </a:endParaRPr>
          </a:p>
          <a:p>
            <a:r>
              <a:rPr lang="en-IN" sz="900" dirty="0">
                <a:solidFill>
                  <a:srgbClr val="20C1DC"/>
                </a:solidFill>
                <a:latin typeface="Consolas" panose="020B0609020204030204" pitchFamily="49" charset="0"/>
              </a:rPr>
              <a:t>from </a:t>
            </a:r>
            <a:r>
              <a:rPr lang="en-IN" sz="900" dirty="0" err="1">
                <a:solidFill>
                  <a:srgbClr val="20C1DC"/>
                </a:solidFill>
                <a:latin typeface="Consolas" panose="020B0609020204030204" pitchFamily="49" charset="0"/>
              </a:rPr>
              <a:t>dotenv</a:t>
            </a:r>
            <a:r>
              <a:rPr lang="en-IN" sz="900" dirty="0">
                <a:solidFill>
                  <a:srgbClr val="20C1DC"/>
                </a:solidFill>
                <a:latin typeface="Consolas" panose="020B0609020204030204" pitchFamily="49" charset="0"/>
              </a:rPr>
              <a:t> import </a:t>
            </a:r>
            <a:r>
              <a:rPr lang="en-IN" sz="900" dirty="0" err="1">
                <a:solidFill>
                  <a:srgbClr val="20C1DC"/>
                </a:solidFill>
                <a:latin typeface="Consolas" panose="020B0609020204030204" pitchFamily="49" charset="0"/>
              </a:rPr>
              <a:t>load_dotenv</a:t>
            </a:r>
            <a:endParaRPr lang="en-IN" sz="900" dirty="0">
              <a:solidFill>
                <a:srgbClr val="20C1DC"/>
              </a:solidFill>
              <a:latin typeface="Consolas" panose="020B0609020204030204" pitchFamily="49" charset="0"/>
            </a:endParaRPr>
          </a:p>
          <a:p>
            <a:r>
              <a:rPr lang="en-IN" sz="900" dirty="0" err="1">
                <a:solidFill>
                  <a:srgbClr val="20C1DC"/>
                </a:solidFill>
                <a:latin typeface="Consolas" panose="020B0609020204030204" pitchFamily="49" charset="0"/>
              </a:rPr>
              <a:t>load_dotenv</a:t>
            </a:r>
            <a:r>
              <a:rPr lang="en-IN" sz="900" dirty="0">
                <a:solidFill>
                  <a:srgbClr val="20C1DC"/>
                </a:solidFill>
                <a:latin typeface="Consolas" panose="020B0609020204030204" pitchFamily="49" charset="0"/>
              </a:rPr>
              <a:t>()</a:t>
            </a:r>
          </a:p>
          <a:p>
            <a:pPr marL="0" indent="0">
              <a:buNone/>
            </a:pP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 1. Define custom tools</a:t>
            </a: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@tool</a:t>
            </a: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def get_word_count(text: str) -&gt; int:</a:t>
            </a: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    """Count words in a given text."""</a:t>
            </a: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    return len(text.split())</a:t>
            </a:r>
            <a:endParaRPr lang="en-US" sz="900" dirty="0"/>
          </a:p>
          <a:p>
            <a:pPr marL="0" indent="0">
              <a:buNone/>
            </a:pP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@tool  </a:t>
            </a: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def search_web(query: str) -&gt; str:</a:t>
            </a: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    """Search the web for information."""</a:t>
            </a: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    # In production, use Tavily, SerpAPI, etc.</a:t>
            </a: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    return f"Results for: {query}"</a:t>
            </a:r>
          </a:p>
          <a:p>
            <a:pPr marL="0" indent="0">
              <a:buNone/>
            </a:pPr>
            <a:endParaRPr lang="en-US" sz="900" dirty="0"/>
          </a:p>
          <a:p>
            <a:pPr marL="0" indent="0">
              <a:buNone/>
            </a:pPr>
            <a:r>
              <a:rPr lang="en-US" sz="900" dirty="0">
                <a:solidFill>
                  <a:srgbClr val="22D3EE"/>
                </a:solidFill>
                <a:latin typeface="Consolas" pitchFamily="34" charset="0"/>
                <a:ea typeface="Consolas" pitchFamily="34" charset="-122"/>
                <a:cs typeface="Consolas" pitchFamily="34" charset="-120"/>
              </a:rPr>
              <a:t># 2. Create the agent tools = [</a:t>
            </a:r>
            <a:r>
              <a:rPr lang="en-US" sz="900" dirty="0" err="1">
                <a:solidFill>
                  <a:srgbClr val="22D3EE"/>
                </a:solidFill>
                <a:latin typeface="Consolas" pitchFamily="34" charset="0"/>
                <a:ea typeface="Consolas" pitchFamily="34" charset="-122"/>
                <a:cs typeface="Consolas" pitchFamily="34" charset="-120"/>
              </a:rPr>
              <a:t>get_word_count</a:t>
            </a:r>
            <a:r>
              <a:rPr lang="en-US" sz="900" dirty="0">
                <a:solidFill>
                  <a:srgbClr val="22D3EE"/>
                </a:solidFill>
                <a:latin typeface="Consolas" pitchFamily="34" charset="0"/>
                <a:ea typeface="Consolas" pitchFamily="34" charset="-122"/>
                <a:cs typeface="Consolas" pitchFamily="34" charset="-120"/>
              </a:rPr>
              <a:t>, </a:t>
            </a:r>
            <a:r>
              <a:rPr lang="en-US" sz="900" dirty="0" err="1">
                <a:solidFill>
                  <a:srgbClr val="22D3EE"/>
                </a:solidFill>
                <a:latin typeface="Consolas" pitchFamily="34" charset="0"/>
                <a:ea typeface="Consolas" pitchFamily="34" charset="-122"/>
                <a:cs typeface="Consolas" pitchFamily="34" charset="-120"/>
              </a:rPr>
              <a:t>search_web</a:t>
            </a:r>
            <a:r>
              <a:rPr lang="en-US" sz="900" dirty="0">
                <a:solidFill>
                  <a:srgbClr val="22D3EE"/>
                </a:solidFill>
                <a:latin typeface="Consolas" pitchFamily="34" charset="0"/>
                <a:ea typeface="Consolas" pitchFamily="34" charset="-122"/>
                <a:cs typeface="Consolas" pitchFamily="34" charset="-120"/>
              </a:rPr>
              <a:t>]</a:t>
            </a:r>
          </a:p>
          <a:p>
            <a:r>
              <a:rPr lang="en-IN" sz="900" dirty="0">
                <a:solidFill>
                  <a:srgbClr val="20C1DC"/>
                </a:solidFill>
                <a:latin typeface="Consolas" panose="020B0609020204030204" pitchFamily="49" charset="0"/>
              </a:rPr>
              <a:t>agent = </a:t>
            </a:r>
            <a:r>
              <a:rPr lang="en-IN" sz="900" dirty="0" err="1">
                <a:solidFill>
                  <a:srgbClr val="20C1DC"/>
                </a:solidFill>
                <a:latin typeface="Consolas" panose="020B0609020204030204" pitchFamily="49" charset="0"/>
              </a:rPr>
              <a:t>create_agent</a:t>
            </a:r>
            <a:r>
              <a:rPr lang="en-IN" sz="900" dirty="0">
                <a:solidFill>
                  <a:srgbClr val="20C1DC"/>
                </a:solidFill>
                <a:latin typeface="Consolas" panose="020B0609020204030204" pitchFamily="49" charset="0"/>
              </a:rPr>
              <a:t>(model="google_genai:gemini-3.5-flash", tools=tools)</a:t>
            </a:r>
          </a:p>
          <a:p>
            <a:endParaRPr lang="en-IN" sz="900" dirty="0">
              <a:solidFill>
                <a:srgbClr val="20C1DC"/>
              </a:solidFill>
              <a:latin typeface="Consolas" panose="020B0609020204030204" pitchFamily="49" charset="0"/>
            </a:endParaRPr>
          </a:p>
          <a:p>
            <a:r>
              <a:rPr lang="en-US" sz="900" dirty="0">
                <a:solidFill>
                  <a:srgbClr val="20C1DC"/>
                </a:solidFill>
                <a:latin typeface="Consolas" pitchFamily="34" charset="0"/>
                <a:ea typeface="Consolas" pitchFamily="34" charset="-122"/>
                <a:cs typeface="Consolas" pitchFamily="34" charset="-120"/>
              </a:rPr>
              <a:t># 3. Invoke Agent</a:t>
            </a:r>
            <a:endParaRPr lang="en-IN" sz="900" dirty="0">
              <a:solidFill>
                <a:srgbClr val="20C1DC"/>
              </a:solidFill>
              <a:latin typeface="Consolas" panose="020B0609020204030204" pitchFamily="49" charset="0"/>
            </a:endParaRPr>
          </a:p>
          <a:p>
            <a:r>
              <a:rPr lang="en-IN" sz="900" dirty="0">
                <a:solidFill>
                  <a:srgbClr val="20C1DC"/>
                </a:solidFill>
                <a:latin typeface="Consolas" panose="020B0609020204030204" pitchFamily="49" charset="0"/>
              </a:rPr>
              <a:t>result = </a:t>
            </a:r>
            <a:r>
              <a:rPr lang="en-IN" sz="900" dirty="0" err="1">
                <a:solidFill>
                  <a:srgbClr val="20C1DC"/>
                </a:solidFill>
                <a:latin typeface="Consolas" panose="020B0609020204030204" pitchFamily="49" charset="0"/>
              </a:rPr>
              <a:t>agent.invoke</a:t>
            </a:r>
            <a:r>
              <a:rPr lang="en-IN" sz="900" dirty="0">
                <a:solidFill>
                  <a:srgbClr val="20C1DC"/>
                </a:solidFill>
                <a:latin typeface="Consolas" panose="020B0609020204030204" pitchFamily="49" charset="0"/>
              </a:rPr>
              <a:t>(</a:t>
            </a:r>
          </a:p>
          <a:p>
            <a:r>
              <a:rPr lang="en-IN" sz="900" dirty="0">
                <a:solidFill>
                  <a:srgbClr val="20C1DC"/>
                </a:solidFill>
                <a:latin typeface="Consolas" panose="020B0609020204030204" pitchFamily="49" charset="0"/>
              </a:rPr>
              <a:t>    {"messages": [{"role": "user", "content": "How many words are present in 'Hello World'"}]},)</a:t>
            </a:r>
          </a:p>
          <a:p>
            <a:endParaRPr lang="en-IN" sz="900" dirty="0">
              <a:solidFill>
                <a:srgbClr val="20C1DC"/>
              </a:solidFill>
              <a:latin typeface="Consolas" panose="020B0609020204030204" pitchFamily="49" charset="0"/>
            </a:endParaRPr>
          </a:p>
          <a:p>
            <a:r>
              <a:rPr lang="en-IN" sz="900" dirty="0">
                <a:solidFill>
                  <a:srgbClr val="20C1DC"/>
                </a:solidFill>
                <a:latin typeface="Consolas" panose="020B0609020204030204" pitchFamily="49" charset="0"/>
              </a:rPr>
              <a:t>result['messages']</a:t>
            </a:r>
          </a:p>
          <a:p>
            <a:endParaRPr lang="en-IN" sz="900" dirty="0">
              <a:solidFill>
                <a:srgbClr val="20C1DC"/>
              </a:solidFill>
            </a:endParaRPr>
          </a:p>
          <a:p>
            <a:endParaRPr lang="en-IN" sz="900" dirty="0">
              <a:solidFill>
                <a:srgbClr val="20C1DC"/>
              </a:solidFill>
            </a:endParaRPr>
          </a:p>
          <a:p>
            <a:pPr marL="0" indent="0">
              <a:buNone/>
            </a:pPr>
            <a:endParaRPr lang="en-US" sz="9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Agent Safety, Ethics &amp; Responsible AI</a:t>
            </a:r>
            <a:endParaRPr lang="en-US" sz="2200" dirty="0"/>
          </a:p>
        </p:txBody>
      </p:sp>
      <p:sp>
        <p:nvSpPr>
          <p:cNvPr id="4" name="Shape 2"/>
          <p:cNvSpPr/>
          <p:nvPr/>
        </p:nvSpPr>
        <p:spPr>
          <a:xfrm>
            <a:off x="731520" y="1051560"/>
            <a:ext cx="3657600" cy="1143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Shape 3"/>
          <p:cNvSpPr/>
          <p:nvPr/>
        </p:nvSpPr>
        <p:spPr>
          <a:xfrm>
            <a:off x="914400" y="1188720"/>
            <a:ext cx="411480" cy="411480"/>
          </a:xfrm>
          <a:prstGeom prst="ellipse">
            <a:avLst/>
          </a:prstGeom>
          <a:solidFill>
            <a:srgbClr val="EF4444"/>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04926" y="1279246"/>
            <a:ext cx="230429" cy="230429"/>
          </a:xfrm>
          <a:prstGeom prst="rect">
            <a:avLst/>
          </a:prstGeom>
        </p:spPr>
      </p:pic>
      <p:sp>
        <p:nvSpPr>
          <p:cNvPr id="7" name="Text 4"/>
          <p:cNvSpPr/>
          <p:nvPr/>
        </p:nvSpPr>
        <p:spPr>
          <a:xfrm>
            <a:off x="1508760" y="1124712"/>
            <a:ext cx="2651760" cy="27432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Hallucination Risks</a:t>
            </a:r>
            <a:endParaRPr lang="en-US" sz="1300" dirty="0"/>
          </a:p>
        </p:txBody>
      </p:sp>
      <p:sp>
        <p:nvSpPr>
          <p:cNvPr id="8" name="Text 5"/>
          <p:cNvSpPr/>
          <p:nvPr/>
        </p:nvSpPr>
        <p:spPr>
          <a:xfrm>
            <a:off x="1508760" y="1417320"/>
            <a:ext cx="2697480" cy="6400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Agents can chain hallucinated outputs across multiple steps, compounding errors. Always validate critical outputs.</a:t>
            </a:r>
            <a:endParaRPr lang="en-US" sz="1000" dirty="0"/>
          </a:p>
        </p:txBody>
      </p:sp>
      <p:sp>
        <p:nvSpPr>
          <p:cNvPr id="9" name="Shape 6"/>
          <p:cNvSpPr/>
          <p:nvPr/>
        </p:nvSpPr>
        <p:spPr>
          <a:xfrm>
            <a:off x="731520" y="2377440"/>
            <a:ext cx="3657600" cy="1143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0" name="Shape 7"/>
          <p:cNvSpPr/>
          <p:nvPr/>
        </p:nvSpPr>
        <p:spPr>
          <a:xfrm>
            <a:off x="914400" y="2514600"/>
            <a:ext cx="411480" cy="411480"/>
          </a:xfrm>
          <a:prstGeom prst="ellipse">
            <a:avLst/>
          </a:prstGeom>
          <a:solidFill>
            <a:srgbClr val="F59E0B"/>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1004926" y="2605126"/>
            <a:ext cx="230429" cy="230429"/>
          </a:xfrm>
          <a:prstGeom prst="rect">
            <a:avLst/>
          </a:prstGeom>
        </p:spPr>
      </p:pic>
      <p:sp>
        <p:nvSpPr>
          <p:cNvPr id="12" name="Text 8"/>
          <p:cNvSpPr/>
          <p:nvPr/>
        </p:nvSpPr>
        <p:spPr>
          <a:xfrm>
            <a:off x="1508760" y="2450592"/>
            <a:ext cx="2651760" cy="27432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Runaway Costs</a:t>
            </a:r>
            <a:endParaRPr lang="en-US" sz="1300" dirty="0"/>
          </a:p>
        </p:txBody>
      </p:sp>
      <p:sp>
        <p:nvSpPr>
          <p:cNvPr id="13" name="Text 9"/>
          <p:cNvSpPr/>
          <p:nvPr/>
        </p:nvSpPr>
        <p:spPr>
          <a:xfrm>
            <a:off x="1508760" y="2743200"/>
            <a:ext cx="2697480" cy="6400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Autonomous loops without limits can consume thousands of API tokens. Always set max_iterations and budget caps.</a:t>
            </a:r>
            <a:endParaRPr lang="en-US" sz="1000" dirty="0"/>
          </a:p>
        </p:txBody>
      </p:sp>
      <p:sp>
        <p:nvSpPr>
          <p:cNvPr id="14" name="Shape 10"/>
          <p:cNvSpPr/>
          <p:nvPr/>
        </p:nvSpPr>
        <p:spPr>
          <a:xfrm>
            <a:off x="731520" y="3703320"/>
            <a:ext cx="3657600" cy="1143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5" name="Shape 11"/>
          <p:cNvSpPr/>
          <p:nvPr/>
        </p:nvSpPr>
        <p:spPr>
          <a:xfrm>
            <a:off x="914400" y="3840480"/>
            <a:ext cx="411480" cy="411480"/>
          </a:xfrm>
          <a:prstGeom prst="ellipse">
            <a:avLst/>
          </a:prstGeom>
          <a:solidFill>
            <a:srgbClr val="8B5CF6"/>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04926" y="3931006"/>
            <a:ext cx="230429" cy="230429"/>
          </a:xfrm>
          <a:prstGeom prst="rect">
            <a:avLst/>
          </a:prstGeom>
        </p:spPr>
      </p:pic>
      <p:sp>
        <p:nvSpPr>
          <p:cNvPr id="17" name="Text 12"/>
          <p:cNvSpPr/>
          <p:nvPr/>
        </p:nvSpPr>
        <p:spPr>
          <a:xfrm>
            <a:off x="1508760" y="3776472"/>
            <a:ext cx="2651760" cy="27432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Data Privacy</a:t>
            </a:r>
            <a:endParaRPr lang="en-US" sz="1300" dirty="0"/>
          </a:p>
        </p:txBody>
      </p:sp>
      <p:sp>
        <p:nvSpPr>
          <p:cNvPr id="18" name="Text 13"/>
          <p:cNvSpPr/>
          <p:nvPr/>
        </p:nvSpPr>
        <p:spPr>
          <a:xfrm>
            <a:off x="1508760" y="4069080"/>
            <a:ext cx="2697480" cy="6400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Agents with tool access may expose sensitive data. Apply least-privilege principles to tool permissions.</a:t>
            </a:r>
            <a:endParaRPr lang="en-US" sz="1000" dirty="0"/>
          </a:p>
        </p:txBody>
      </p:sp>
      <p:sp>
        <p:nvSpPr>
          <p:cNvPr id="19" name="Shape 14"/>
          <p:cNvSpPr/>
          <p:nvPr/>
        </p:nvSpPr>
        <p:spPr>
          <a:xfrm>
            <a:off x="4754880" y="1051560"/>
            <a:ext cx="3840480" cy="1143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0" name="Shape 15"/>
          <p:cNvSpPr/>
          <p:nvPr/>
        </p:nvSpPr>
        <p:spPr>
          <a:xfrm>
            <a:off x="4937760" y="1188720"/>
            <a:ext cx="411480" cy="411480"/>
          </a:xfrm>
          <a:prstGeom prst="ellipse">
            <a:avLst/>
          </a:prstGeom>
          <a:solidFill>
            <a:srgbClr val="0891B2"/>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5028286" y="1279246"/>
            <a:ext cx="230429" cy="230429"/>
          </a:xfrm>
          <a:prstGeom prst="rect">
            <a:avLst/>
          </a:prstGeom>
        </p:spPr>
      </p:pic>
      <p:sp>
        <p:nvSpPr>
          <p:cNvPr id="22" name="Text 16"/>
          <p:cNvSpPr/>
          <p:nvPr/>
        </p:nvSpPr>
        <p:spPr>
          <a:xfrm>
            <a:off x="5532120" y="1124712"/>
            <a:ext cx="2834640" cy="27432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Human-in-the-Loop</a:t>
            </a:r>
            <a:endParaRPr lang="en-US" sz="1300" dirty="0"/>
          </a:p>
        </p:txBody>
      </p:sp>
      <p:sp>
        <p:nvSpPr>
          <p:cNvPr id="23" name="Text 17"/>
          <p:cNvSpPr/>
          <p:nvPr/>
        </p:nvSpPr>
        <p:spPr>
          <a:xfrm>
            <a:off x="5532120" y="1417320"/>
            <a:ext cx="2880360" cy="6400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For high-stakes decisions (financial, medical, legal), require human approval before agent action.</a:t>
            </a:r>
            <a:endParaRPr lang="en-US" sz="1000" dirty="0"/>
          </a:p>
        </p:txBody>
      </p:sp>
      <p:sp>
        <p:nvSpPr>
          <p:cNvPr id="24" name="Shape 18"/>
          <p:cNvSpPr/>
          <p:nvPr/>
        </p:nvSpPr>
        <p:spPr>
          <a:xfrm>
            <a:off x="4754880" y="2377440"/>
            <a:ext cx="3840480" cy="1143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5" name="Shape 19"/>
          <p:cNvSpPr/>
          <p:nvPr/>
        </p:nvSpPr>
        <p:spPr>
          <a:xfrm>
            <a:off x="4937760" y="2514600"/>
            <a:ext cx="411480" cy="411480"/>
          </a:xfrm>
          <a:prstGeom prst="ellipse">
            <a:avLst/>
          </a:prstGeom>
          <a:solidFill>
            <a:srgbClr val="10B981"/>
          </a:solidFill>
          <a:ln/>
        </p:spPr>
        <p:txBody>
          <a:bodyPr/>
          <a:lstStyle/>
          <a:p>
            <a:endParaRPr lang="en-US"/>
          </a:p>
        </p:txBody>
      </p:sp>
      <p:pic>
        <p:nvPicPr>
          <p:cNvPr id="26" name="Image 4" descr="preencoded.png"/>
          <p:cNvPicPr>
            <a:picLocks noChangeAspect="1"/>
          </p:cNvPicPr>
          <p:nvPr/>
        </p:nvPicPr>
        <p:blipFill>
          <a:blip r:embed="rId7"/>
          <a:stretch>
            <a:fillRect/>
          </a:stretch>
        </p:blipFill>
        <p:spPr>
          <a:xfrm>
            <a:off x="5028286" y="2605126"/>
            <a:ext cx="230429" cy="230429"/>
          </a:xfrm>
          <a:prstGeom prst="rect">
            <a:avLst/>
          </a:prstGeom>
        </p:spPr>
      </p:pic>
      <p:sp>
        <p:nvSpPr>
          <p:cNvPr id="27" name="Text 20"/>
          <p:cNvSpPr/>
          <p:nvPr/>
        </p:nvSpPr>
        <p:spPr>
          <a:xfrm>
            <a:off x="5532120" y="2450592"/>
            <a:ext cx="2834640" cy="27432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Audit Trails</a:t>
            </a:r>
            <a:endParaRPr lang="en-US" sz="1300" dirty="0"/>
          </a:p>
        </p:txBody>
      </p:sp>
      <p:sp>
        <p:nvSpPr>
          <p:cNvPr id="28" name="Text 21"/>
          <p:cNvSpPr/>
          <p:nvPr/>
        </p:nvSpPr>
        <p:spPr>
          <a:xfrm>
            <a:off x="5532120" y="2743200"/>
            <a:ext cx="2880360" cy="6400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Log every agent decision, tool call, and output. Essential for debugging and compliance.</a:t>
            </a:r>
            <a:endParaRPr lang="en-US" sz="1000" dirty="0"/>
          </a:p>
        </p:txBody>
      </p:sp>
      <p:sp>
        <p:nvSpPr>
          <p:cNvPr id="29" name="Shape 22"/>
          <p:cNvSpPr/>
          <p:nvPr/>
        </p:nvSpPr>
        <p:spPr>
          <a:xfrm>
            <a:off x="4754880" y="3703320"/>
            <a:ext cx="3840480" cy="11430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30" name="Shape 23"/>
          <p:cNvSpPr/>
          <p:nvPr/>
        </p:nvSpPr>
        <p:spPr>
          <a:xfrm>
            <a:off x="4937760" y="3840480"/>
            <a:ext cx="411480" cy="411480"/>
          </a:xfrm>
          <a:prstGeom prst="ellipse">
            <a:avLst/>
          </a:prstGeom>
          <a:solidFill>
            <a:srgbClr val="6366F1"/>
          </a:solidFill>
          <a:ln/>
        </p:spPr>
        <p:txBody>
          <a:bodyPr/>
          <a:lstStyle/>
          <a:p>
            <a:endParaRPr lang="en-US"/>
          </a:p>
        </p:txBody>
      </p:sp>
      <p:pic>
        <p:nvPicPr>
          <p:cNvPr id="31" name="Image 5" descr="preencoded.png"/>
          <p:cNvPicPr>
            <a:picLocks noChangeAspect="1"/>
          </p:cNvPicPr>
          <p:nvPr/>
        </p:nvPicPr>
        <p:blipFill>
          <a:blip r:embed="rId8"/>
          <a:stretch>
            <a:fillRect/>
          </a:stretch>
        </p:blipFill>
        <p:spPr>
          <a:xfrm>
            <a:off x="5028286" y="3931006"/>
            <a:ext cx="230429" cy="230429"/>
          </a:xfrm>
          <a:prstGeom prst="rect">
            <a:avLst/>
          </a:prstGeom>
        </p:spPr>
      </p:pic>
      <p:sp>
        <p:nvSpPr>
          <p:cNvPr id="32" name="Text 24"/>
          <p:cNvSpPr/>
          <p:nvPr/>
        </p:nvSpPr>
        <p:spPr>
          <a:xfrm>
            <a:off x="5532120" y="3776472"/>
            <a:ext cx="2834640" cy="274320"/>
          </a:xfrm>
          <a:prstGeom prst="rect">
            <a:avLst/>
          </a:prstGeom>
          <a:noFill/>
          <a:ln/>
        </p:spPr>
        <p:txBody>
          <a:bodyPr wrap="square" lIns="0" tIns="0" rIns="0" bIns="0" rtlCol="0" anchor="ctr"/>
          <a:lstStyle/>
          <a:p>
            <a:pPr marL="0" indent="0">
              <a:buNone/>
            </a:pPr>
            <a:r>
              <a:rPr lang="en-US" sz="1300" b="1" dirty="0">
                <a:solidFill>
                  <a:srgbClr val="1E293B"/>
                </a:solidFill>
                <a:latin typeface="Trebuchet MS" pitchFamily="34" charset="0"/>
                <a:ea typeface="Trebuchet MS" pitchFamily="34" charset="-122"/>
                <a:cs typeface="Trebuchet MS" pitchFamily="34" charset="-120"/>
              </a:rPr>
              <a:t>Bias Awareness</a:t>
            </a:r>
            <a:endParaRPr lang="en-US" sz="1300" dirty="0"/>
          </a:p>
        </p:txBody>
      </p:sp>
      <p:sp>
        <p:nvSpPr>
          <p:cNvPr id="33" name="Text 25"/>
          <p:cNvSpPr/>
          <p:nvPr/>
        </p:nvSpPr>
        <p:spPr>
          <a:xfrm>
            <a:off x="5532120" y="4069080"/>
            <a:ext cx="2880360" cy="640080"/>
          </a:xfrm>
          <a:prstGeom prst="rect">
            <a:avLst/>
          </a:prstGeom>
          <a:noFill/>
          <a:ln/>
        </p:spPr>
        <p:txBody>
          <a:bodyPr wrap="square" lIns="0" tIns="0" rIns="0" bIns="0" rtlCol="0" anchor="ctr"/>
          <a:lstStyle/>
          <a:p>
            <a:pPr marL="0" indent="0">
              <a:buNone/>
            </a:pPr>
            <a:r>
              <a:rPr lang="en-US" sz="1000" dirty="0">
                <a:solidFill>
                  <a:srgbClr val="334155"/>
                </a:solidFill>
                <a:latin typeface="Calibri" pitchFamily="34" charset="0"/>
                <a:ea typeface="Calibri" pitchFamily="34" charset="-122"/>
                <a:cs typeface="Calibri" pitchFamily="34" charset="-120"/>
              </a:rPr>
              <a:t>Agents inherit LLM biases. Test across diverse scenarios and add guardrails for fairness.</a:t>
            </a:r>
            <a:endParaRPr lang="en-US" sz="1000" dirty="0"/>
          </a:p>
        </p:txBody>
      </p:sp>
      <p:sp>
        <p:nvSpPr>
          <p:cNvPr id="34" name="Text 26"/>
          <p:cNvSpPr/>
          <p:nvPr/>
        </p:nvSpPr>
        <p:spPr>
          <a:xfrm>
            <a:off x="731520" y="4434840"/>
            <a:ext cx="7680960" cy="411480"/>
          </a:xfrm>
          <a:prstGeom prst="rect">
            <a:avLst/>
          </a:prstGeom>
          <a:noFill/>
          <a:ln/>
        </p:spPr>
        <p:txBody>
          <a:bodyPr wrap="square" lIns="0" tIns="0" rIns="0" bIns="0" rtlCol="0" anchor="ctr"/>
          <a:lstStyle/>
          <a:p>
            <a:pPr marL="0" indent="0" algn="ctr">
              <a:buNone/>
            </a:pPr>
            <a:r>
              <a:rPr lang="en-US" sz="1200" i="1" dirty="0">
                <a:solidFill>
                  <a:srgbClr val="0891B2"/>
                </a:solidFill>
                <a:latin typeface="Calibri" pitchFamily="34" charset="0"/>
                <a:ea typeface="Calibri" pitchFamily="34" charset="-122"/>
                <a:cs typeface="Calibri" pitchFamily="34" charset="-120"/>
              </a:rPr>
              <a:t>Build agents that are powerful AND responsible — safety is not optional, it's a design requirement.</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31">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Agent Design Best Practices</a:t>
            </a:r>
            <a:endParaRPr lang="en-US" sz="2200" dirty="0"/>
          </a:p>
        </p:txBody>
      </p:sp>
      <p:sp>
        <p:nvSpPr>
          <p:cNvPr id="4" name="Shape 2"/>
          <p:cNvSpPr/>
          <p:nvPr/>
        </p:nvSpPr>
        <p:spPr>
          <a:xfrm>
            <a:off x="731520" y="10972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Shape 3"/>
          <p:cNvSpPr/>
          <p:nvPr/>
        </p:nvSpPr>
        <p:spPr>
          <a:xfrm>
            <a:off x="914400" y="1280160"/>
            <a:ext cx="457200" cy="457200"/>
          </a:xfrm>
          <a:prstGeom prst="ellipse">
            <a:avLst/>
          </a:prstGeom>
          <a:solidFill>
            <a:srgbClr val="0891B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14984" y="1380744"/>
            <a:ext cx="256032" cy="256032"/>
          </a:xfrm>
          <a:prstGeom prst="rect">
            <a:avLst/>
          </a:prstGeom>
        </p:spPr>
      </p:pic>
      <p:sp>
        <p:nvSpPr>
          <p:cNvPr id="7" name="Text 4"/>
          <p:cNvSpPr/>
          <p:nvPr/>
        </p:nvSpPr>
        <p:spPr>
          <a:xfrm>
            <a:off x="1554480" y="1234440"/>
            <a:ext cx="265176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Start Simple</a:t>
            </a:r>
            <a:endParaRPr lang="en-US" sz="1400" dirty="0"/>
          </a:p>
        </p:txBody>
      </p:sp>
      <p:sp>
        <p:nvSpPr>
          <p:cNvPr id="8" name="Text 5"/>
          <p:cNvSpPr/>
          <p:nvPr/>
        </p:nvSpPr>
        <p:spPr>
          <a:xfrm>
            <a:off x="914400" y="1645920"/>
            <a:ext cx="32918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Begin with a single tool agent. Add complexity only when needed. Premature multi-agent systems add debugging burden.</a:t>
            </a:r>
            <a:endParaRPr lang="en-US" sz="1100" dirty="0"/>
          </a:p>
        </p:txBody>
      </p:sp>
      <p:sp>
        <p:nvSpPr>
          <p:cNvPr id="9" name="Shape 6"/>
          <p:cNvSpPr/>
          <p:nvPr/>
        </p:nvSpPr>
        <p:spPr>
          <a:xfrm>
            <a:off x="4754880" y="10972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0" name="Shape 7"/>
          <p:cNvSpPr/>
          <p:nvPr/>
        </p:nvSpPr>
        <p:spPr>
          <a:xfrm>
            <a:off x="4937760" y="1280160"/>
            <a:ext cx="457200" cy="457200"/>
          </a:xfrm>
          <a:prstGeom prst="ellipse">
            <a:avLst/>
          </a:prstGeom>
          <a:solidFill>
            <a:srgbClr val="F59E0B"/>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38344" y="1380744"/>
            <a:ext cx="256032" cy="256032"/>
          </a:xfrm>
          <a:prstGeom prst="rect">
            <a:avLst/>
          </a:prstGeom>
        </p:spPr>
      </p:pic>
      <p:sp>
        <p:nvSpPr>
          <p:cNvPr id="12" name="Text 8"/>
          <p:cNvSpPr/>
          <p:nvPr/>
        </p:nvSpPr>
        <p:spPr>
          <a:xfrm>
            <a:off x="5577840" y="1234440"/>
            <a:ext cx="265176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Clear Tool Descriptions</a:t>
            </a:r>
            <a:endParaRPr lang="en-US" sz="1400" dirty="0"/>
          </a:p>
        </p:txBody>
      </p:sp>
      <p:sp>
        <p:nvSpPr>
          <p:cNvPr id="13" name="Text 9"/>
          <p:cNvSpPr/>
          <p:nvPr/>
        </p:nvSpPr>
        <p:spPr>
          <a:xfrm>
            <a:off x="4937760" y="1645920"/>
            <a:ext cx="32918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The LLM picks tools based on descriptions. Vague descriptions = wrong tool choices. Be specific about inputs and outputs.</a:t>
            </a:r>
            <a:endParaRPr lang="en-US" sz="1100" dirty="0"/>
          </a:p>
        </p:txBody>
      </p:sp>
      <p:sp>
        <p:nvSpPr>
          <p:cNvPr id="14" name="Shape 10"/>
          <p:cNvSpPr/>
          <p:nvPr/>
        </p:nvSpPr>
        <p:spPr>
          <a:xfrm>
            <a:off x="731520" y="29260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5" name="Shape 11"/>
          <p:cNvSpPr/>
          <p:nvPr/>
        </p:nvSpPr>
        <p:spPr>
          <a:xfrm>
            <a:off x="914400" y="3108960"/>
            <a:ext cx="457200" cy="457200"/>
          </a:xfrm>
          <a:prstGeom prst="ellipse">
            <a:avLst/>
          </a:prstGeom>
          <a:solidFill>
            <a:srgbClr val="EF4444"/>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14984" y="3209544"/>
            <a:ext cx="256032" cy="256032"/>
          </a:xfrm>
          <a:prstGeom prst="rect">
            <a:avLst/>
          </a:prstGeom>
        </p:spPr>
      </p:pic>
      <p:sp>
        <p:nvSpPr>
          <p:cNvPr id="17" name="Text 12"/>
          <p:cNvSpPr/>
          <p:nvPr/>
        </p:nvSpPr>
        <p:spPr>
          <a:xfrm>
            <a:off x="1554480" y="3063240"/>
            <a:ext cx="265176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Guardrails &amp; Limits</a:t>
            </a:r>
            <a:endParaRPr lang="en-US" sz="1400" dirty="0"/>
          </a:p>
        </p:txBody>
      </p:sp>
      <p:sp>
        <p:nvSpPr>
          <p:cNvPr id="18" name="Text 13"/>
          <p:cNvSpPr/>
          <p:nvPr/>
        </p:nvSpPr>
        <p:spPr>
          <a:xfrm>
            <a:off x="914400" y="3474720"/>
            <a:ext cx="32918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Set max iterations, add input validation, implement timeouts. Agents without limits can loop forever or run up API costs.</a:t>
            </a:r>
            <a:endParaRPr lang="en-US" sz="1100" dirty="0"/>
          </a:p>
        </p:txBody>
      </p:sp>
      <p:sp>
        <p:nvSpPr>
          <p:cNvPr id="19" name="Shape 14"/>
          <p:cNvSpPr/>
          <p:nvPr/>
        </p:nvSpPr>
        <p:spPr>
          <a:xfrm>
            <a:off x="4754880" y="29260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0" name="Shape 15"/>
          <p:cNvSpPr/>
          <p:nvPr/>
        </p:nvSpPr>
        <p:spPr>
          <a:xfrm>
            <a:off x="4937760" y="3108960"/>
            <a:ext cx="457200" cy="457200"/>
          </a:xfrm>
          <a:prstGeom prst="ellipse">
            <a:avLst/>
          </a:prstGeom>
          <a:solidFill>
            <a:srgbClr val="10B981"/>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5038344" y="3209544"/>
            <a:ext cx="256032" cy="256032"/>
          </a:xfrm>
          <a:prstGeom prst="rect">
            <a:avLst/>
          </a:prstGeom>
        </p:spPr>
      </p:pic>
      <p:sp>
        <p:nvSpPr>
          <p:cNvPr id="22" name="Text 16"/>
          <p:cNvSpPr/>
          <p:nvPr/>
        </p:nvSpPr>
        <p:spPr>
          <a:xfrm>
            <a:off x="5577840" y="3063240"/>
            <a:ext cx="265176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Observability</a:t>
            </a:r>
            <a:endParaRPr lang="en-US" sz="1400" dirty="0"/>
          </a:p>
        </p:txBody>
      </p:sp>
      <p:sp>
        <p:nvSpPr>
          <p:cNvPr id="23" name="Text 17"/>
          <p:cNvSpPr/>
          <p:nvPr/>
        </p:nvSpPr>
        <p:spPr>
          <a:xfrm>
            <a:off x="4937760" y="3474720"/>
            <a:ext cx="32918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Use verbose=True, LangSmith, or custom logging. You must see the agent's reasoning to debug issues and improve performance.</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3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Common Challenges &amp; How to Solve Them</a:t>
            </a:r>
            <a:endParaRPr lang="en-US" sz="22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731520" y="1188720"/>
          <a:ext cx="7680960" cy="3154680"/>
        </p:xfrm>
        <a:graphic>
          <a:graphicData uri="http://schemas.openxmlformats.org/drawingml/2006/table">
            <a:tbl>
              <a:tblPr/>
              <a:tblGrid>
                <a:gridCol w="2743200">
                  <a:extLst>
                    <a:ext uri="{9D8B030D-6E8A-4147-A177-3AD203B41FA5}">
                      <a16:colId xmlns:a16="http://schemas.microsoft.com/office/drawing/2014/main" val="20000"/>
                    </a:ext>
                  </a:extLst>
                </a:gridCol>
                <a:gridCol w="4937760">
                  <a:extLst>
                    <a:ext uri="{9D8B030D-6E8A-4147-A177-3AD203B41FA5}">
                      <a16:colId xmlns:a16="http://schemas.microsoft.com/office/drawing/2014/main" val="20001"/>
                    </a:ext>
                  </a:extLst>
                </a:gridCol>
              </a:tblGrid>
              <a:tr h="411480">
                <a:tc>
                  <a:txBody>
                    <a:bodyP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Challenge</a:t>
                      </a:r>
                      <a:endParaRPr lang="en-US" sz="13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marL="0" indent="0">
                        <a:buNone/>
                      </a:pPr>
                      <a:r>
                        <a:rPr lang="en-US" sz="1300" b="1" dirty="0">
                          <a:solidFill>
                            <a:srgbClr val="FFFFFF"/>
                          </a:solidFill>
                          <a:latin typeface="Trebuchet MS" pitchFamily="34" charset="0"/>
                          <a:ea typeface="Trebuchet MS" pitchFamily="34" charset="-122"/>
                          <a:cs typeface="Trebuchet MS" pitchFamily="34" charset="-120"/>
                        </a:rPr>
                        <a:t>Solution</a:t>
                      </a:r>
                      <a:endParaRPr lang="en-US" sz="1300" dirty="0">
                        <a:latin typeface="Trebuchet MS" charset="0"/>
                        <a:ea typeface="Trebuchet MS" charset="0"/>
                        <a:cs typeface="Trebuchet MS"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EF4444"/>
                          </a:solidFill>
                          <a:latin typeface="Calibri" pitchFamily="34" charset="0"/>
                          <a:ea typeface="Calibri" pitchFamily="34" charset="-122"/>
                          <a:cs typeface="Calibri" pitchFamily="34" charset="-120"/>
                        </a:rPr>
                        <a:t>Agent picks the wrong tool</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Improve tool descriptions, add few-shot examples to prompt, reduce tool count</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00" b="1" dirty="0">
                          <a:solidFill>
                            <a:srgbClr val="EF4444"/>
                          </a:solidFill>
                          <a:latin typeface="Calibri" pitchFamily="34" charset="0"/>
                          <a:ea typeface="Calibri" pitchFamily="34" charset="-122"/>
                          <a:cs typeface="Calibri" pitchFamily="34" charset="-120"/>
                        </a:rPr>
                        <a:t>Infinite loops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Set max_iterations in AgentExecutor, add early stopping conditions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EF4444"/>
                          </a:solidFill>
                          <a:latin typeface="Calibri" pitchFamily="34" charset="0"/>
                          <a:ea typeface="Calibri" pitchFamily="34" charset="-122"/>
                          <a:cs typeface="Calibri" pitchFamily="34" charset="-120"/>
                        </a:rPr>
                        <a:t>Hallucinated tool calls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Validate tool inputs, use structured output parsers, add error handlers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200" b="1" dirty="0">
                          <a:solidFill>
                            <a:srgbClr val="EF4444"/>
                          </a:solidFill>
                          <a:latin typeface="Calibri" pitchFamily="34" charset="0"/>
                          <a:ea typeface="Calibri" pitchFamily="34" charset="-122"/>
                          <a:cs typeface="Calibri" pitchFamily="34" charset="-120"/>
                        </a:rPr>
                        <a:t>High API costs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 cheaper models for simple steps, cache responses, batch operations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200" b="1" dirty="0">
                          <a:solidFill>
                            <a:srgbClr val="EF4444"/>
                          </a:solidFill>
                          <a:latin typeface="Calibri" pitchFamily="34" charset="0"/>
                          <a:ea typeface="Calibri" pitchFamily="34" charset="-122"/>
                          <a:cs typeface="Calibri" pitchFamily="34" charset="-120"/>
                        </a:rPr>
                        <a:t>Context window overflow</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marL="0" indent="0">
                        <a:buNone/>
                      </a:pPr>
                      <a:r>
                        <a:rPr lang="en-US" sz="1200" dirty="0">
                          <a:solidFill>
                            <a:srgbClr val="334155"/>
                          </a:solidFill>
                          <a:latin typeface="Calibri" pitchFamily="34" charset="0"/>
                          <a:ea typeface="Calibri" pitchFamily="34" charset="-122"/>
                          <a:cs typeface="Calibri" pitchFamily="34" charset="-120"/>
                        </a:rPr>
                        <a:t>Use summary memory, limit tool output length, chunk large documents</a:t>
                      </a:r>
                      <a:endParaRPr lang="en-US" sz="1200" dirty="0">
                        <a:latin typeface="Calibri" charset="0"/>
                        <a:ea typeface="Calibri" charset="0"/>
                        <a:cs typeface="Calibri" charset="0"/>
                      </a:endParaRPr>
                    </a:p>
                  </a:txBody>
                  <a:tcP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When NOT to Use AI Agents — Know the Boundaries</a:t>
            </a:r>
            <a:endParaRPr lang="en-US" sz="2200" dirty="0"/>
          </a:p>
        </p:txBody>
      </p:sp>
      <p:sp>
        <p:nvSpPr>
          <p:cNvPr id="4" name="Shape 2"/>
          <p:cNvSpPr/>
          <p:nvPr/>
        </p:nvSpPr>
        <p:spPr>
          <a:xfrm>
            <a:off x="731520" y="1097280"/>
            <a:ext cx="3931920" cy="3474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Text 3"/>
          <p:cNvSpPr/>
          <p:nvPr/>
        </p:nvSpPr>
        <p:spPr>
          <a:xfrm>
            <a:off x="914400" y="1188720"/>
            <a:ext cx="3566160" cy="365760"/>
          </a:xfrm>
          <a:prstGeom prst="rect">
            <a:avLst/>
          </a:prstGeom>
          <a:noFill/>
          <a:ln/>
        </p:spPr>
        <p:txBody>
          <a:bodyPr wrap="square" lIns="0" tIns="0" rIns="0" bIns="0" rtlCol="0" anchor="ctr"/>
          <a:lstStyle/>
          <a:p>
            <a:pPr marL="0" indent="0">
              <a:buNone/>
            </a:pPr>
            <a:r>
              <a:rPr lang="en-US" sz="1600" b="1" dirty="0">
                <a:solidFill>
                  <a:srgbClr val="EF4444"/>
                </a:solidFill>
                <a:latin typeface="Trebuchet MS" pitchFamily="34" charset="0"/>
                <a:ea typeface="Trebuchet MS" pitchFamily="34" charset="-122"/>
                <a:cs typeface="Trebuchet MS" pitchFamily="34" charset="-120"/>
              </a:rPr>
              <a:t>Skip Agents When...</a:t>
            </a:r>
            <a:endParaRPr lang="en-US" sz="1600" dirty="0"/>
          </a:p>
        </p:txBody>
      </p:sp>
      <p:pic>
        <p:nvPicPr>
          <p:cNvPr id="6" name="Image 0" descr="preencoded.png"/>
          <p:cNvPicPr>
            <a:picLocks noChangeAspect="1"/>
          </p:cNvPicPr>
          <p:nvPr/>
        </p:nvPicPr>
        <p:blipFill>
          <a:blip r:embed="rId3"/>
          <a:stretch>
            <a:fillRect/>
          </a:stretch>
        </p:blipFill>
        <p:spPr>
          <a:xfrm>
            <a:off x="1005840" y="1691640"/>
            <a:ext cx="201168" cy="201168"/>
          </a:xfrm>
          <a:prstGeom prst="rect">
            <a:avLst/>
          </a:prstGeom>
        </p:spPr>
      </p:pic>
      <p:sp>
        <p:nvSpPr>
          <p:cNvPr id="7" name="Text 4"/>
          <p:cNvSpPr/>
          <p:nvPr/>
        </p:nvSpPr>
        <p:spPr>
          <a:xfrm>
            <a:off x="1325880" y="1691640"/>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 simple prompt-response is sufficient</a:t>
            </a:r>
            <a:endParaRPr lang="en-US" sz="1100" dirty="0"/>
          </a:p>
        </p:txBody>
      </p:sp>
      <p:pic>
        <p:nvPicPr>
          <p:cNvPr id="8" name="Image 1" descr="preencoded.png"/>
          <p:cNvPicPr>
            <a:picLocks noChangeAspect="1"/>
          </p:cNvPicPr>
          <p:nvPr/>
        </p:nvPicPr>
        <p:blipFill>
          <a:blip r:embed="rId3"/>
          <a:stretch>
            <a:fillRect/>
          </a:stretch>
        </p:blipFill>
        <p:spPr>
          <a:xfrm>
            <a:off x="1005840" y="2130552"/>
            <a:ext cx="201168" cy="201168"/>
          </a:xfrm>
          <a:prstGeom prst="rect">
            <a:avLst/>
          </a:prstGeom>
        </p:spPr>
      </p:pic>
      <p:sp>
        <p:nvSpPr>
          <p:cNvPr id="9" name="Text 5"/>
          <p:cNvSpPr/>
          <p:nvPr/>
        </p:nvSpPr>
        <p:spPr>
          <a:xfrm>
            <a:off x="1325880" y="2130552"/>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Deterministic, rule-based logic is required</a:t>
            </a:r>
            <a:endParaRPr lang="en-US" sz="1100" dirty="0"/>
          </a:p>
        </p:txBody>
      </p:sp>
      <p:pic>
        <p:nvPicPr>
          <p:cNvPr id="10" name="Image 2" descr="preencoded.png"/>
          <p:cNvPicPr>
            <a:picLocks noChangeAspect="1"/>
          </p:cNvPicPr>
          <p:nvPr/>
        </p:nvPicPr>
        <p:blipFill>
          <a:blip r:embed="rId3"/>
          <a:stretch>
            <a:fillRect/>
          </a:stretch>
        </p:blipFill>
        <p:spPr>
          <a:xfrm>
            <a:off x="1005840" y="2569464"/>
            <a:ext cx="201168" cy="201168"/>
          </a:xfrm>
          <a:prstGeom prst="rect">
            <a:avLst/>
          </a:prstGeom>
        </p:spPr>
      </p:pic>
      <p:sp>
        <p:nvSpPr>
          <p:cNvPr id="11" name="Text 6"/>
          <p:cNvSpPr/>
          <p:nvPr/>
        </p:nvSpPr>
        <p:spPr>
          <a:xfrm>
            <a:off x="1325880" y="2569464"/>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Latency is critical (sub-second responses)</a:t>
            </a:r>
            <a:endParaRPr lang="en-US" sz="1100" dirty="0"/>
          </a:p>
        </p:txBody>
      </p:sp>
      <p:pic>
        <p:nvPicPr>
          <p:cNvPr id="12" name="Image 3" descr="preencoded.png"/>
          <p:cNvPicPr>
            <a:picLocks noChangeAspect="1"/>
          </p:cNvPicPr>
          <p:nvPr/>
        </p:nvPicPr>
        <p:blipFill>
          <a:blip r:embed="rId3"/>
          <a:stretch>
            <a:fillRect/>
          </a:stretch>
        </p:blipFill>
        <p:spPr>
          <a:xfrm>
            <a:off x="1005840" y="3008376"/>
            <a:ext cx="201168" cy="201168"/>
          </a:xfrm>
          <a:prstGeom prst="rect">
            <a:avLst/>
          </a:prstGeom>
        </p:spPr>
      </p:pic>
      <p:sp>
        <p:nvSpPr>
          <p:cNvPr id="13" name="Text 7"/>
          <p:cNvSpPr/>
          <p:nvPr/>
        </p:nvSpPr>
        <p:spPr>
          <a:xfrm>
            <a:off x="1325880" y="3008376"/>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You need 100% reproducible outputs</a:t>
            </a:r>
            <a:endParaRPr lang="en-US" sz="1100" dirty="0"/>
          </a:p>
        </p:txBody>
      </p:sp>
      <p:pic>
        <p:nvPicPr>
          <p:cNvPr id="14" name="Image 4" descr="preencoded.png"/>
          <p:cNvPicPr>
            <a:picLocks noChangeAspect="1"/>
          </p:cNvPicPr>
          <p:nvPr/>
        </p:nvPicPr>
        <p:blipFill>
          <a:blip r:embed="rId3"/>
          <a:stretch>
            <a:fillRect/>
          </a:stretch>
        </p:blipFill>
        <p:spPr>
          <a:xfrm>
            <a:off x="1005840" y="3447288"/>
            <a:ext cx="201168" cy="201168"/>
          </a:xfrm>
          <a:prstGeom prst="rect">
            <a:avLst/>
          </a:prstGeom>
        </p:spPr>
      </p:pic>
      <p:sp>
        <p:nvSpPr>
          <p:cNvPr id="15" name="Text 8"/>
          <p:cNvSpPr/>
          <p:nvPr/>
        </p:nvSpPr>
        <p:spPr>
          <a:xfrm>
            <a:off x="1325880" y="3447288"/>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Budget is extremely constrained</a:t>
            </a:r>
            <a:endParaRPr lang="en-US" sz="1100" dirty="0"/>
          </a:p>
        </p:txBody>
      </p:sp>
      <p:pic>
        <p:nvPicPr>
          <p:cNvPr id="16" name="Image 5" descr="preencoded.png"/>
          <p:cNvPicPr>
            <a:picLocks noChangeAspect="1"/>
          </p:cNvPicPr>
          <p:nvPr/>
        </p:nvPicPr>
        <p:blipFill>
          <a:blip r:embed="rId3"/>
          <a:stretch>
            <a:fillRect/>
          </a:stretch>
        </p:blipFill>
        <p:spPr>
          <a:xfrm>
            <a:off x="1005840" y="3886200"/>
            <a:ext cx="201168" cy="201168"/>
          </a:xfrm>
          <a:prstGeom prst="rect">
            <a:avLst/>
          </a:prstGeom>
        </p:spPr>
      </p:pic>
      <p:sp>
        <p:nvSpPr>
          <p:cNvPr id="17" name="Text 9"/>
          <p:cNvSpPr/>
          <p:nvPr/>
        </p:nvSpPr>
        <p:spPr>
          <a:xfrm>
            <a:off x="1325880" y="3886200"/>
            <a:ext cx="310896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The task doesn't require tool access</a:t>
            </a:r>
            <a:endParaRPr lang="en-US" sz="1100" dirty="0"/>
          </a:p>
        </p:txBody>
      </p:sp>
      <p:sp>
        <p:nvSpPr>
          <p:cNvPr id="18" name="Shape 10"/>
          <p:cNvSpPr/>
          <p:nvPr/>
        </p:nvSpPr>
        <p:spPr>
          <a:xfrm>
            <a:off x="5029200" y="1097280"/>
            <a:ext cx="3566160" cy="34747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9" name="Text 11"/>
          <p:cNvSpPr/>
          <p:nvPr/>
        </p:nvSpPr>
        <p:spPr>
          <a:xfrm>
            <a:off x="5212080" y="1188720"/>
            <a:ext cx="3200400" cy="365760"/>
          </a:xfrm>
          <a:prstGeom prst="rect">
            <a:avLst/>
          </a:prstGeom>
          <a:noFill/>
          <a:ln/>
        </p:spPr>
        <p:txBody>
          <a:bodyPr wrap="square" lIns="0" tIns="0" rIns="0" bIns="0" rtlCol="0" anchor="ctr"/>
          <a:lstStyle/>
          <a:p>
            <a:pPr marL="0" indent="0">
              <a:buNone/>
            </a:pPr>
            <a:r>
              <a:rPr lang="en-US" sz="1600" b="1" dirty="0">
                <a:solidFill>
                  <a:srgbClr val="10B981"/>
                </a:solidFill>
                <a:latin typeface="Trebuchet MS" pitchFamily="34" charset="0"/>
                <a:ea typeface="Trebuchet MS" pitchFamily="34" charset="-122"/>
                <a:cs typeface="Trebuchet MS" pitchFamily="34" charset="-120"/>
              </a:rPr>
              <a:t>Use Agents When...</a:t>
            </a:r>
            <a:endParaRPr lang="en-US" sz="1600" dirty="0"/>
          </a:p>
        </p:txBody>
      </p:sp>
      <p:pic>
        <p:nvPicPr>
          <p:cNvPr id="20" name="Image 6" descr="preencoded.png"/>
          <p:cNvPicPr>
            <a:picLocks noChangeAspect="1"/>
          </p:cNvPicPr>
          <p:nvPr/>
        </p:nvPicPr>
        <p:blipFill>
          <a:blip r:embed="rId4"/>
          <a:stretch>
            <a:fillRect/>
          </a:stretch>
        </p:blipFill>
        <p:spPr>
          <a:xfrm>
            <a:off x="5212080" y="1691640"/>
            <a:ext cx="201168" cy="201168"/>
          </a:xfrm>
          <a:prstGeom prst="rect">
            <a:avLst/>
          </a:prstGeom>
        </p:spPr>
      </p:pic>
      <p:sp>
        <p:nvSpPr>
          <p:cNvPr id="21" name="Text 12"/>
          <p:cNvSpPr/>
          <p:nvPr/>
        </p:nvSpPr>
        <p:spPr>
          <a:xfrm>
            <a:off x="5532120" y="1691640"/>
            <a:ext cx="283464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Task requires multi-step reasoning</a:t>
            </a:r>
            <a:endParaRPr lang="en-US" sz="1100" dirty="0"/>
          </a:p>
        </p:txBody>
      </p:sp>
      <p:pic>
        <p:nvPicPr>
          <p:cNvPr id="22" name="Image 7" descr="preencoded.png"/>
          <p:cNvPicPr>
            <a:picLocks noChangeAspect="1"/>
          </p:cNvPicPr>
          <p:nvPr/>
        </p:nvPicPr>
        <p:blipFill>
          <a:blip r:embed="rId4"/>
          <a:stretch>
            <a:fillRect/>
          </a:stretch>
        </p:blipFill>
        <p:spPr>
          <a:xfrm>
            <a:off x="5212080" y="2130552"/>
            <a:ext cx="201168" cy="201168"/>
          </a:xfrm>
          <a:prstGeom prst="rect">
            <a:avLst/>
          </a:prstGeom>
        </p:spPr>
      </p:pic>
      <p:sp>
        <p:nvSpPr>
          <p:cNvPr id="23" name="Text 13"/>
          <p:cNvSpPr/>
          <p:nvPr/>
        </p:nvSpPr>
        <p:spPr>
          <a:xfrm>
            <a:off x="5532120" y="2130552"/>
            <a:ext cx="283464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Multiple tools must be coordinated</a:t>
            </a:r>
            <a:endParaRPr lang="en-US" sz="1100" dirty="0"/>
          </a:p>
        </p:txBody>
      </p:sp>
      <p:pic>
        <p:nvPicPr>
          <p:cNvPr id="24" name="Image 8" descr="preencoded.png"/>
          <p:cNvPicPr>
            <a:picLocks noChangeAspect="1"/>
          </p:cNvPicPr>
          <p:nvPr/>
        </p:nvPicPr>
        <p:blipFill>
          <a:blip r:embed="rId4"/>
          <a:stretch>
            <a:fillRect/>
          </a:stretch>
        </p:blipFill>
        <p:spPr>
          <a:xfrm>
            <a:off x="5212080" y="2569464"/>
            <a:ext cx="201168" cy="201168"/>
          </a:xfrm>
          <a:prstGeom prst="rect">
            <a:avLst/>
          </a:prstGeom>
        </p:spPr>
      </p:pic>
      <p:sp>
        <p:nvSpPr>
          <p:cNvPr id="25" name="Text 14"/>
          <p:cNvSpPr/>
          <p:nvPr/>
        </p:nvSpPr>
        <p:spPr>
          <a:xfrm>
            <a:off x="5532120" y="2569464"/>
            <a:ext cx="283464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Problem is open-ended or ambiguous</a:t>
            </a:r>
            <a:endParaRPr lang="en-US" sz="1100" dirty="0"/>
          </a:p>
        </p:txBody>
      </p:sp>
      <p:pic>
        <p:nvPicPr>
          <p:cNvPr id="26" name="Image 9" descr="preencoded.png"/>
          <p:cNvPicPr>
            <a:picLocks noChangeAspect="1"/>
          </p:cNvPicPr>
          <p:nvPr/>
        </p:nvPicPr>
        <p:blipFill>
          <a:blip r:embed="rId4"/>
          <a:stretch>
            <a:fillRect/>
          </a:stretch>
        </p:blipFill>
        <p:spPr>
          <a:xfrm>
            <a:off x="5212080" y="3008376"/>
            <a:ext cx="201168" cy="201168"/>
          </a:xfrm>
          <a:prstGeom prst="rect">
            <a:avLst/>
          </a:prstGeom>
        </p:spPr>
      </p:pic>
      <p:sp>
        <p:nvSpPr>
          <p:cNvPr id="27" name="Text 15"/>
          <p:cNvSpPr/>
          <p:nvPr/>
        </p:nvSpPr>
        <p:spPr>
          <a:xfrm>
            <a:off x="5532120" y="3008376"/>
            <a:ext cx="283464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Human-like adaptability is needed</a:t>
            </a:r>
            <a:endParaRPr lang="en-US" sz="1100" dirty="0"/>
          </a:p>
        </p:txBody>
      </p:sp>
      <p:pic>
        <p:nvPicPr>
          <p:cNvPr id="28" name="Image 10" descr="preencoded.png"/>
          <p:cNvPicPr>
            <a:picLocks noChangeAspect="1"/>
          </p:cNvPicPr>
          <p:nvPr/>
        </p:nvPicPr>
        <p:blipFill>
          <a:blip r:embed="rId4"/>
          <a:stretch>
            <a:fillRect/>
          </a:stretch>
        </p:blipFill>
        <p:spPr>
          <a:xfrm>
            <a:off x="5212080" y="3447288"/>
            <a:ext cx="201168" cy="201168"/>
          </a:xfrm>
          <a:prstGeom prst="rect">
            <a:avLst/>
          </a:prstGeom>
        </p:spPr>
      </p:pic>
      <p:sp>
        <p:nvSpPr>
          <p:cNvPr id="29" name="Text 16"/>
          <p:cNvSpPr/>
          <p:nvPr/>
        </p:nvSpPr>
        <p:spPr>
          <a:xfrm>
            <a:off x="5532120" y="3447288"/>
            <a:ext cx="283464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Workflow requires external data</a:t>
            </a:r>
            <a:endParaRPr lang="en-US" sz="1100" dirty="0"/>
          </a:p>
        </p:txBody>
      </p:sp>
      <p:pic>
        <p:nvPicPr>
          <p:cNvPr id="30" name="Image 11" descr="preencoded.png"/>
          <p:cNvPicPr>
            <a:picLocks noChangeAspect="1"/>
          </p:cNvPicPr>
          <p:nvPr/>
        </p:nvPicPr>
        <p:blipFill>
          <a:blip r:embed="rId4"/>
          <a:stretch>
            <a:fillRect/>
          </a:stretch>
        </p:blipFill>
        <p:spPr>
          <a:xfrm>
            <a:off x="5212080" y="3886200"/>
            <a:ext cx="201168" cy="201168"/>
          </a:xfrm>
          <a:prstGeom prst="rect">
            <a:avLst/>
          </a:prstGeom>
        </p:spPr>
      </p:pic>
      <p:sp>
        <p:nvSpPr>
          <p:cNvPr id="31" name="Text 17"/>
          <p:cNvSpPr/>
          <p:nvPr/>
        </p:nvSpPr>
        <p:spPr>
          <a:xfrm>
            <a:off x="5532120" y="3886200"/>
            <a:ext cx="2834640" cy="32004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Scale demands exceed human capacity</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3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The Future of AI Agents</a:t>
            </a:r>
            <a:endParaRPr lang="en-US" sz="2200" dirty="0"/>
          </a:p>
        </p:txBody>
      </p:sp>
      <p:sp>
        <p:nvSpPr>
          <p:cNvPr id="4" name="Shape 2"/>
          <p:cNvSpPr/>
          <p:nvPr/>
        </p:nvSpPr>
        <p:spPr>
          <a:xfrm>
            <a:off x="731520" y="10972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Shape 3"/>
          <p:cNvSpPr/>
          <p:nvPr/>
        </p:nvSpPr>
        <p:spPr>
          <a:xfrm>
            <a:off x="914400" y="1280160"/>
            <a:ext cx="457200" cy="457200"/>
          </a:xfrm>
          <a:prstGeom prst="ellipse">
            <a:avLst/>
          </a:prstGeom>
          <a:solidFill>
            <a:srgbClr val="0891B2"/>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014984" y="1380744"/>
            <a:ext cx="256032" cy="256032"/>
          </a:xfrm>
          <a:prstGeom prst="rect">
            <a:avLst/>
          </a:prstGeom>
        </p:spPr>
      </p:pic>
      <p:sp>
        <p:nvSpPr>
          <p:cNvPr id="7" name="Text 4"/>
          <p:cNvSpPr/>
          <p:nvPr/>
        </p:nvSpPr>
        <p:spPr>
          <a:xfrm>
            <a:off x="1554480" y="1234440"/>
            <a:ext cx="265176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Autonomous Coding Agents</a:t>
            </a:r>
            <a:endParaRPr lang="en-US" sz="1400" dirty="0"/>
          </a:p>
        </p:txBody>
      </p:sp>
      <p:sp>
        <p:nvSpPr>
          <p:cNvPr id="8" name="Text 5"/>
          <p:cNvSpPr/>
          <p:nvPr/>
        </p:nvSpPr>
        <p:spPr>
          <a:xfrm>
            <a:off x="914400" y="1645920"/>
            <a:ext cx="32918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Agents that can write, test, and deploy entire applications from natural language specs</a:t>
            </a:r>
            <a:endParaRPr lang="en-US" sz="1100" dirty="0"/>
          </a:p>
        </p:txBody>
      </p:sp>
      <p:sp>
        <p:nvSpPr>
          <p:cNvPr id="9" name="Shape 6"/>
          <p:cNvSpPr/>
          <p:nvPr/>
        </p:nvSpPr>
        <p:spPr>
          <a:xfrm>
            <a:off x="4754880" y="10972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0" name="Shape 7"/>
          <p:cNvSpPr/>
          <p:nvPr/>
        </p:nvSpPr>
        <p:spPr>
          <a:xfrm>
            <a:off x="4937760" y="1280160"/>
            <a:ext cx="457200" cy="457200"/>
          </a:xfrm>
          <a:prstGeom prst="ellipse">
            <a:avLst/>
          </a:prstGeom>
          <a:solidFill>
            <a:srgbClr val="F59E0B"/>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038344" y="1380744"/>
            <a:ext cx="256032" cy="256032"/>
          </a:xfrm>
          <a:prstGeom prst="rect">
            <a:avLst/>
          </a:prstGeom>
        </p:spPr>
      </p:pic>
      <p:sp>
        <p:nvSpPr>
          <p:cNvPr id="12" name="Text 8"/>
          <p:cNvSpPr/>
          <p:nvPr/>
        </p:nvSpPr>
        <p:spPr>
          <a:xfrm>
            <a:off x="5577840" y="1234440"/>
            <a:ext cx="265176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Multi-Modal Agents</a:t>
            </a:r>
            <a:endParaRPr lang="en-US" sz="1400" dirty="0"/>
          </a:p>
        </p:txBody>
      </p:sp>
      <p:sp>
        <p:nvSpPr>
          <p:cNvPr id="13" name="Text 9"/>
          <p:cNvSpPr/>
          <p:nvPr/>
        </p:nvSpPr>
        <p:spPr>
          <a:xfrm>
            <a:off x="4937760" y="1645920"/>
            <a:ext cx="32918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Agents that see images, hear audio, browse the web, and interact with GUIs natively</a:t>
            </a:r>
            <a:endParaRPr lang="en-US" sz="1100" dirty="0"/>
          </a:p>
        </p:txBody>
      </p:sp>
      <p:sp>
        <p:nvSpPr>
          <p:cNvPr id="14" name="Shape 10"/>
          <p:cNvSpPr/>
          <p:nvPr/>
        </p:nvSpPr>
        <p:spPr>
          <a:xfrm>
            <a:off x="731520" y="29260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5" name="Shape 11"/>
          <p:cNvSpPr/>
          <p:nvPr/>
        </p:nvSpPr>
        <p:spPr>
          <a:xfrm>
            <a:off x="914400" y="3108960"/>
            <a:ext cx="457200" cy="457200"/>
          </a:xfrm>
          <a:prstGeom prst="ellipse">
            <a:avLst/>
          </a:prstGeom>
          <a:solidFill>
            <a:srgbClr val="10B981"/>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14984" y="3209544"/>
            <a:ext cx="256032" cy="256032"/>
          </a:xfrm>
          <a:prstGeom prst="rect">
            <a:avLst/>
          </a:prstGeom>
        </p:spPr>
      </p:pic>
      <p:sp>
        <p:nvSpPr>
          <p:cNvPr id="17" name="Text 12"/>
          <p:cNvSpPr/>
          <p:nvPr/>
        </p:nvSpPr>
        <p:spPr>
          <a:xfrm>
            <a:off x="1554480" y="3063240"/>
            <a:ext cx="265176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Agent-to-Agent Protocols</a:t>
            </a:r>
            <a:endParaRPr lang="en-US" sz="1400" dirty="0"/>
          </a:p>
        </p:txBody>
      </p:sp>
      <p:sp>
        <p:nvSpPr>
          <p:cNvPr id="18" name="Text 13"/>
          <p:cNvSpPr/>
          <p:nvPr/>
        </p:nvSpPr>
        <p:spPr>
          <a:xfrm>
            <a:off x="914400" y="3474720"/>
            <a:ext cx="32918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Standardized communication protocols (like MCP and A2A) enabling cross-system agent collaboration</a:t>
            </a:r>
            <a:endParaRPr lang="en-US" sz="1100" dirty="0"/>
          </a:p>
        </p:txBody>
      </p:sp>
      <p:sp>
        <p:nvSpPr>
          <p:cNvPr id="19" name="Shape 14"/>
          <p:cNvSpPr/>
          <p:nvPr/>
        </p:nvSpPr>
        <p:spPr>
          <a:xfrm>
            <a:off x="4754880" y="2926080"/>
            <a:ext cx="3657600" cy="16002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0" name="Shape 15"/>
          <p:cNvSpPr/>
          <p:nvPr/>
        </p:nvSpPr>
        <p:spPr>
          <a:xfrm>
            <a:off x="4937760" y="3108960"/>
            <a:ext cx="457200" cy="457200"/>
          </a:xfrm>
          <a:prstGeom prst="ellipse">
            <a:avLst/>
          </a:prstGeom>
          <a:solidFill>
            <a:srgbClr val="8B5CF6"/>
          </a:solidFill>
          <a:ln/>
        </p:spPr>
        <p:txBody>
          <a:bodyPr/>
          <a:lstStyle/>
          <a:p>
            <a:endParaRPr lang="en-US"/>
          </a:p>
        </p:txBody>
      </p:sp>
      <p:pic>
        <p:nvPicPr>
          <p:cNvPr id="21" name="Image 3" descr="preencoded.png"/>
          <p:cNvPicPr>
            <a:picLocks noChangeAspect="1"/>
          </p:cNvPicPr>
          <p:nvPr/>
        </p:nvPicPr>
        <p:blipFill>
          <a:blip r:embed="rId6"/>
          <a:stretch>
            <a:fillRect/>
          </a:stretch>
        </p:blipFill>
        <p:spPr>
          <a:xfrm>
            <a:off x="5038344" y="3209544"/>
            <a:ext cx="256032" cy="256032"/>
          </a:xfrm>
          <a:prstGeom prst="rect">
            <a:avLst/>
          </a:prstGeom>
        </p:spPr>
      </p:pic>
      <p:sp>
        <p:nvSpPr>
          <p:cNvPr id="22" name="Text 16"/>
          <p:cNvSpPr/>
          <p:nvPr/>
        </p:nvSpPr>
        <p:spPr>
          <a:xfrm>
            <a:off x="5577840" y="3063240"/>
            <a:ext cx="2651760" cy="320040"/>
          </a:xfrm>
          <a:prstGeom prst="rect">
            <a:avLst/>
          </a:prstGeom>
          <a:noFill/>
          <a:ln/>
        </p:spPr>
        <p:txBody>
          <a:bodyPr wrap="square" lIns="0" tIns="0" rIns="0" bIns="0" rtlCol="0" anchor="ctr"/>
          <a:lstStyle/>
          <a:p>
            <a:pPr marL="0" indent="0">
              <a:buNone/>
            </a:pPr>
            <a:r>
              <a:rPr lang="en-US" sz="1400" b="1" dirty="0">
                <a:solidFill>
                  <a:srgbClr val="1E293B"/>
                </a:solidFill>
                <a:latin typeface="Trebuchet MS" pitchFamily="34" charset="0"/>
                <a:ea typeface="Trebuchet MS" pitchFamily="34" charset="-122"/>
                <a:cs typeface="Trebuchet MS" pitchFamily="34" charset="-120"/>
              </a:rPr>
              <a:t>Enterprise Agent Platforms</a:t>
            </a:r>
            <a:endParaRPr lang="en-US" sz="1400" dirty="0"/>
          </a:p>
        </p:txBody>
      </p:sp>
      <p:sp>
        <p:nvSpPr>
          <p:cNvPr id="23" name="Text 17"/>
          <p:cNvSpPr/>
          <p:nvPr/>
        </p:nvSpPr>
        <p:spPr>
          <a:xfrm>
            <a:off x="4937760" y="3474720"/>
            <a:ext cx="3291840" cy="86868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Production-grade agent infrastructure with governance, security, compliance, and audit trails</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Key Takeaways</a:t>
            </a:r>
            <a:endParaRPr lang="en-US" sz="2200" dirty="0"/>
          </a:p>
        </p:txBody>
      </p:sp>
      <p:sp>
        <p:nvSpPr>
          <p:cNvPr id="4" name="Shape 2"/>
          <p:cNvSpPr/>
          <p:nvPr/>
        </p:nvSpPr>
        <p:spPr>
          <a:xfrm>
            <a:off x="731520" y="1097280"/>
            <a:ext cx="7680960" cy="502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Shape 3"/>
          <p:cNvSpPr/>
          <p:nvPr/>
        </p:nvSpPr>
        <p:spPr>
          <a:xfrm>
            <a:off x="914400" y="1170432"/>
            <a:ext cx="347472" cy="347472"/>
          </a:xfrm>
          <a:prstGeom prst="ellipse">
            <a:avLst/>
          </a:prstGeom>
          <a:solidFill>
            <a:srgbClr val="0891B2"/>
          </a:solidFill>
          <a:ln/>
        </p:spPr>
        <p:txBody>
          <a:bodyPr/>
          <a:lstStyle/>
          <a:p>
            <a:endParaRPr lang="en-US"/>
          </a:p>
        </p:txBody>
      </p:sp>
      <p:sp>
        <p:nvSpPr>
          <p:cNvPr id="6" name="Text 4"/>
          <p:cNvSpPr/>
          <p:nvPr/>
        </p:nvSpPr>
        <p:spPr>
          <a:xfrm>
            <a:off x="914400" y="11704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1</a:t>
            </a:r>
            <a:endParaRPr lang="en-US" sz="1300" dirty="0"/>
          </a:p>
        </p:txBody>
      </p:sp>
      <p:sp>
        <p:nvSpPr>
          <p:cNvPr id="7" name="Text 5"/>
          <p:cNvSpPr/>
          <p:nvPr/>
        </p:nvSpPr>
        <p:spPr>
          <a:xfrm>
            <a:off x="1463040" y="1143000"/>
            <a:ext cx="6675120" cy="41148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AI Agents = LLM + Tools + Memory + Planning — autonomous systems that reason and act</a:t>
            </a:r>
            <a:endParaRPr lang="en-US" sz="1300" dirty="0"/>
          </a:p>
        </p:txBody>
      </p:sp>
      <p:sp>
        <p:nvSpPr>
          <p:cNvPr id="8" name="Shape 6"/>
          <p:cNvSpPr/>
          <p:nvPr/>
        </p:nvSpPr>
        <p:spPr>
          <a:xfrm>
            <a:off x="731520" y="1737360"/>
            <a:ext cx="7680960" cy="502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9" name="Shape 7"/>
          <p:cNvSpPr/>
          <p:nvPr/>
        </p:nvSpPr>
        <p:spPr>
          <a:xfrm>
            <a:off x="914400" y="1810512"/>
            <a:ext cx="347472" cy="347472"/>
          </a:xfrm>
          <a:prstGeom prst="ellipse">
            <a:avLst/>
          </a:prstGeom>
          <a:solidFill>
            <a:srgbClr val="0891B2"/>
          </a:solidFill>
          <a:ln/>
        </p:spPr>
        <p:txBody>
          <a:bodyPr/>
          <a:lstStyle/>
          <a:p>
            <a:endParaRPr lang="en-US"/>
          </a:p>
        </p:txBody>
      </p:sp>
      <p:sp>
        <p:nvSpPr>
          <p:cNvPr id="10" name="Text 8"/>
          <p:cNvSpPr/>
          <p:nvPr/>
        </p:nvSpPr>
        <p:spPr>
          <a:xfrm>
            <a:off x="914400" y="181051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2</a:t>
            </a:r>
            <a:endParaRPr lang="en-US" sz="1300" dirty="0"/>
          </a:p>
        </p:txBody>
      </p:sp>
      <p:sp>
        <p:nvSpPr>
          <p:cNvPr id="11" name="Text 9"/>
          <p:cNvSpPr/>
          <p:nvPr/>
        </p:nvSpPr>
        <p:spPr>
          <a:xfrm>
            <a:off x="1463040" y="1783080"/>
            <a:ext cx="6675120" cy="41148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Agentic AI is the paradigm; AI Agents are the implementation — know the difference</a:t>
            </a:r>
            <a:endParaRPr lang="en-US" sz="1300" dirty="0"/>
          </a:p>
        </p:txBody>
      </p:sp>
      <p:sp>
        <p:nvSpPr>
          <p:cNvPr id="12" name="Shape 10"/>
          <p:cNvSpPr/>
          <p:nvPr/>
        </p:nvSpPr>
        <p:spPr>
          <a:xfrm>
            <a:off x="731520" y="2377440"/>
            <a:ext cx="7680960" cy="502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3" name="Shape 11"/>
          <p:cNvSpPr/>
          <p:nvPr/>
        </p:nvSpPr>
        <p:spPr>
          <a:xfrm>
            <a:off x="914400" y="2450592"/>
            <a:ext cx="347472" cy="347472"/>
          </a:xfrm>
          <a:prstGeom prst="ellipse">
            <a:avLst/>
          </a:prstGeom>
          <a:solidFill>
            <a:srgbClr val="0891B2"/>
          </a:solidFill>
          <a:ln/>
        </p:spPr>
        <p:txBody>
          <a:bodyPr/>
          <a:lstStyle/>
          <a:p>
            <a:endParaRPr lang="en-US"/>
          </a:p>
        </p:txBody>
      </p:sp>
      <p:sp>
        <p:nvSpPr>
          <p:cNvPr id="14" name="Text 12"/>
          <p:cNvSpPr/>
          <p:nvPr/>
        </p:nvSpPr>
        <p:spPr>
          <a:xfrm>
            <a:off x="914400" y="245059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3</a:t>
            </a:r>
            <a:endParaRPr lang="en-US" sz="1300" dirty="0"/>
          </a:p>
        </p:txBody>
      </p:sp>
      <p:sp>
        <p:nvSpPr>
          <p:cNvPr id="15" name="Text 13"/>
          <p:cNvSpPr/>
          <p:nvPr/>
        </p:nvSpPr>
        <p:spPr>
          <a:xfrm>
            <a:off x="1463040" y="2423160"/>
            <a:ext cx="6675120" cy="41148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Generative AI creates content; Agentic AI takes action — agents build on top of GenAI</a:t>
            </a:r>
            <a:endParaRPr lang="en-US" sz="1300" dirty="0"/>
          </a:p>
        </p:txBody>
      </p:sp>
      <p:sp>
        <p:nvSpPr>
          <p:cNvPr id="16" name="Shape 14"/>
          <p:cNvSpPr/>
          <p:nvPr/>
        </p:nvSpPr>
        <p:spPr>
          <a:xfrm>
            <a:off x="731520" y="3017520"/>
            <a:ext cx="7680960" cy="502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7" name="Shape 15"/>
          <p:cNvSpPr/>
          <p:nvPr/>
        </p:nvSpPr>
        <p:spPr>
          <a:xfrm>
            <a:off x="914400" y="3090672"/>
            <a:ext cx="347472" cy="347472"/>
          </a:xfrm>
          <a:prstGeom prst="ellipse">
            <a:avLst/>
          </a:prstGeom>
          <a:solidFill>
            <a:srgbClr val="0891B2"/>
          </a:solidFill>
          <a:ln/>
        </p:spPr>
        <p:txBody>
          <a:bodyPr/>
          <a:lstStyle/>
          <a:p>
            <a:endParaRPr lang="en-US"/>
          </a:p>
        </p:txBody>
      </p:sp>
      <p:sp>
        <p:nvSpPr>
          <p:cNvPr id="18" name="Text 16"/>
          <p:cNvSpPr/>
          <p:nvPr/>
        </p:nvSpPr>
        <p:spPr>
          <a:xfrm>
            <a:off x="914400" y="309067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4</a:t>
            </a:r>
            <a:endParaRPr lang="en-US" sz="1300" dirty="0"/>
          </a:p>
        </p:txBody>
      </p:sp>
      <p:sp>
        <p:nvSpPr>
          <p:cNvPr id="19" name="Text 17"/>
          <p:cNvSpPr/>
          <p:nvPr/>
        </p:nvSpPr>
        <p:spPr>
          <a:xfrm>
            <a:off x="1463040" y="3063240"/>
            <a:ext cx="6675120" cy="41148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LangChain is powerful but has trade-offs — know its limitations and alternatives</a:t>
            </a:r>
            <a:endParaRPr lang="en-US" sz="1300" dirty="0"/>
          </a:p>
        </p:txBody>
      </p:sp>
      <p:sp>
        <p:nvSpPr>
          <p:cNvPr id="20" name="Shape 18"/>
          <p:cNvSpPr/>
          <p:nvPr/>
        </p:nvSpPr>
        <p:spPr>
          <a:xfrm>
            <a:off x="731520" y="3657600"/>
            <a:ext cx="7680960" cy="502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1" name="Shape 19"/>
          <p:cNvSpPr/>
          <p:nvPr/>
        </p:nvSpPr>
        <p:spPr>
          <a:xfrm>
            <a:off x="914400" y="3730752"/>
            <a:ext cx="347472" cy="347472"/>
          </a:xfrm>
          <a:prstGeom prst="ellipse">
            <a:avLst/>
          </a:prstGeom>
          <a:solidFill>
            <a:srgbClr val="0891B2"/>
          </a:solidFill>
          <a:ln/>
        </p:spPr>
        <p:txBody>
          <a:bodyPr/>
          <a:lstStyle/>
          <a:p>
            <a:endParaRPr lang="en-US"/>
          </a:p>
        </p:txBody>
      </p:sp>
      <p:sp>
        <p:nvSpPr>
          <p:cNvPr id="22" name="Text 20"/>
          <p:cNvSpPr/>
          <p:nvPr/>
        </p:nvSpPr>
        <p:spPr>
          <a:xfrm>
            <a:off x="914400" y="373075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5</a:t>
            </a:r>
            <a:endParaRPr lang="en-US" sz="1300" dirty="0"/>
          </a:p>
        </p:txBody>
      </p:sp>
      <p:sp>
        <p:nvSpPr>
          <p:cNvPr id="23" name="Text 21"/>
          <p:cNvSpPr/>
          <p:nvPr/>
        </p:nvSpPr>
        <p:spPr>
          <a:xfrm>
            <a:off x="1463040" y="3703320"/>
            <a:ext cx="6675120" cy="41148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Start simple, add complexity gradually — one tool, one agent, then scale</a:t>
            </a:r>
            <a:endParaRPr lang="en-US" sz="1300" dirty="0"/>
          </a:p>
        </p:txBody>
      </p:sp>
      <p:sp>
        <p:nvSpPr>
          <p:cNvPr id="24" name="Shape 22"/>
          <p:cNvSpPr/>
          <p:nvPr/>
        </p:nvSpPr>
        <p:spPr>
          <a:xfrm>
            <a:off x="731520" y="4297680"/>
            <a:ext cx="7680960" cy="50292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25" name="Shape 23"/>
          <p:cNvSpPr/>
          <p:nvPr/>
        </p:nvSpPr>
        <p:spPr>
          <a:xfrm>
            <a:off x="914400" y="4370832"/>
            <a:ext cx="347472" cy="347472"/>
          </a:xfrm>
          <a:prstGeom prst="ellipse">
            <a:avLst/>
          </a:prstGeom>
          <a:solidFill>
            <a:srgbClr val="0891B2"/>
          </a:solidFill>
          <a:ln/>
        </p:spPr>
        <p:txBody>
          <a:bodyPr/>
          <a:lstStyle/>
          <a:p>
            <a:endParaRPr lang="en-US"/>
          </a:p>
        </p:txBody>
      </p:sp>
      <p:sp>
        <p:nvSpPr>
          <p:cNvPr id="26" name="Text 24"/>
          <p:cNvSpPr/>
          <p:nvPr/>
        </p:nvSpPr>
        <p:spPr>
          <a:xfrm>
            <a:off x="914400" y="437083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Trebuchet MS" pitchFamily="34" charset="0"/>
                <a:ea typeface="Trebuchet MS" pitchFamily="34" charset="-122"/>
                <a:cs typeface="Trebuchet MS" pitchFamily="34" charset="-120"/>
              </a:rPr>
              <a:t>6</a:t>
            </a:r>
            <a:endParaRPr lang="en-US" sz="1300" dirty="0"/>
          </a:p>
        </p:txBody>
      </p:sp>
      <p:sp>
        <p:nvSpPr>
          <p:cNvPr id="27" name="Text 25"/>
          <p:cNvSpPr/>
          <p:nvPr/>
        </p:nvSpPr>
        <p:spPr>
          <a:xfrm>
            <a:off x="1463040" y="4343400"/>
            <a:ext cx="6675120" cy="41148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Safety &amp; ethics aren't optional — guardrails, audit trails, and human oversight are essential</a:t>
            </a:r>
            <a:endParaRPr lang="en-US" sz="13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822960"/>
          </a:xfrm>
          <a:prstGeom prst="rect">
            <a:avLst/>
          </a:prstGeom>
          <a:solidFill>
            <a:srgbClr val="0F172A"/>
          </a:solidFill>
          <a:ln/>
        </p:spPr>
        <p:txBody>
          <a:bodyPr/>
          <a:lstStyle/>
          <a:p>
            <a:endParaRPr lang="en-US"/>
          </a:p>
        </p:txBody>
      </p:sp>
      <p:sp>
        <p:nvSpPr>
          <p:cNvPr id="3" name="Text 1"/>
          <p:cNvSpPr/>
          <p:nvPr/>
        </p:nvSpPr>
        <p:spPr>
          <a:xfrm>
            <a:off x="731520" y="91440"/>
            <a:ext cx="7680960" cy="640080"/>
          </a:xfrm>
          <a:prstGeom prst="rect">
            <a:avLst/>
          </a:prstGeom>
          <a:noFill/>
          <a:ln/>
        </p:spPr>
        <p:txBody>
          <a:bodyPr wrap="square" lIns="0" tIns="0" rIns="0" bIns="0" rtlCol="0" anchor="ctr"/>
          <a:lstStyle/>
          <a:p>
            <a:pPr marL="0" indent="0">
              <a:buNone/>
            </a:pPr>
            <a:r>
              <a:rPr lang="en-US" sz="2200" b="1" dirty="0">
                <a:solidFill>
                  <a:srgbClr val="FFFFFF"/>
                </a:solidFill>
                <a:latin typeface="Trebuchet MS" pitchFamily="34" charset="0"/>
                <a:ea typeface="Trebuchet MS" pitchFamily="34" charset="-122"/>
                <a:cs typeface="Trebuchet MS" pitchFamily="34" charset="-120"/>
              </a:rPr>
              <a:t>Resources &amp; Next Steps</a:t>
            </a:r>
            <a:endParaRPr lang="en-US" sz="2200" dirty="0"/>
          </a:p>
        </p:txBody>
      </p:sp>
      <p:sp>
        <p:nvSpPr>
          <p:cNvPr id="4" name="Shape 2"/>
          <p:cNvSpPr/>
          <p:nvPr/>
        </p:nvSpPr>
        <p:spPr>
          <a:xfrm>
            <a:off x="731520" y="1097280"/>
            <a:ext cx="3657600" cy="3200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5" name="Text 3"/>
          <p:cNvSpPr/>
          <p:nvPr/>
        </p:nvSpPr>
        <p:spPr>
          <a:xfrm>
            <a:off x="914400" y="1188720"/>
            <a:ext cx="329184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Learning Resources</a:t>
            </a:r>
            <a:endParaRPr lang="en-US" sz="1600" dirty="0"/>
          </a:p>
        </p:txBody>
      </p:sp>
      <p:pic>
        <p:nvPicPr>
          <p:cNvPr id="6" name="Image 0" descr="preencoded.png"/>
          <p:cNvPicPr>
            <a:picLocks noChangeAspect="1"/>
          </p:cNvPicPr>
          <p:nvPr/>
        </p:nvPicPr>
        <p:blipFill>
          <a:blip r:embed="rId3"/>
          <a:stretch>
            <a:fillRect/>
          </a:stretch>
        </p:blipFill>
        <p:spPr>
          <a:xfrm>
            <a:off x="1005840" y="1691640"/>
            <a:ext cx="201168" cy="201168"/>
          </a:xfrm>
          <a:prstGeom prst="rect">
            <a:avLst/>
          </a:prstGeom>
        </p:spPr>
      </p:pic>
      <p:sp>
        <p:nvSpPr>
          <p:cNvPr id="7" name="Text 4"/>
          <p:cNvSpPr/>
          <p:nvPr/>
        </p:nvSpPr>
        <p:spPr>
          <a:xfrm>
            <a:off x="1325880" y="1691640"/>
            <a:ext cx="283464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LangChain Docs — python.langchain.com</a:t>
            </a:r>
            <a:endParaRPr lang="en-US" sz="1100" dirty="0"/>
          </a:p>
        </p:txBody>
      </p:sp>
      <p:pic>
        <p:nvPicPr>
          <p:cNvPr id="8" name="Image 1" descr="preencoded.png"/>
          <p:cNvPicPr>
            <a:picLocks noChangeAspect="1"/>
          </p:cNvPicPr>
          <p:nvPr/>
        </p:nvPicPr>
        <p:blipFill>
          <a:blip r:embed="rId3"/>
          <a:stretch>
            <a:fillRect/>
          </a:stretch>
        </p:blipFill>
        <p:spPr>
          <a:xfrm>
            <a:off x="1005840" y="2130552"/>
            <a:ext cx="201168" cy="201168"/>
          </a:xfrm>
          <a:prstGeom prst="rect">
            <a:avLst/>
          </a:prstGeom>
        </p:spPr>
      </p:pic>
      <p:sp>
        <p:nvSpPr>
          <p:cNvPr id="9" name="Text 5"/>
          <p:cNvSpPr/>
          <p:nvPr/>
        </p:nvSpPr>
        <p:spPr>
          <a:xfrm>
            <a:off x="1325880" y="2130552"/>
            <a:ext cx="283464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LangGraph Docs — langchain-ai.github.io/langgraph</a:t>
            </a:r>
            <a:endParaRPr lang="en-US" sz="1100" dirty="0"/>
          </a:p>
        </p:txBody>
      </p:sp>
      <p:pic>
        <p:nvPicPr>
          <p:cNvPr id="10" name="Image 2" descr="preencoded.png"/>
          <p:cNvPicPr>
            <a:picLocks noChangeAspect="1"/>
          </p:cNvPicPr>
          <p:nvPr/>
        </p:nvPicPr>
        <p:blipFill>
          <a:blip r:embed="rId3"/>
          <a:stretch>
            <a:fillRect/>
          </a:stretch>
        </p:blipFill>
        <p:spPr>
          <a:xfrm>
            <a:off x="1005840" y="2569464"/>
            <a:ext cx="201168" cy="201168"/>
          </a:xfrm>
          <a:prstGeom prst="rect">
            <a:avLst/>
          </a:prstGeom>
        </p:spPr>
      </p:pic>
      <p:sp>
        <p:nvSpPr>
          <p:cNvPr id="11" name="Text 6"/>
          <p:cNvSpPr/>
          <p:nvPr/>
        </p:nvSpPr>
        <p:spPr>
          <a:xfrm>
            <a:off x="1325880" y="2569464"/>
            <a:ext cx="283464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LangSmith — smith.langchain.com</a:t>
            </a:r>
            <a:endParaRPr lang="en-US" sz="1100" dirty="0"/>
          </a:p>
        </p:txBody>
      </p:sp>
      <p:pic>
        <p:nvPicPr>
          <p:cNvPr id="12" name="Image 3" descr="preencoded.png"/>
          <p:cNvPicPr>
            <a:picLocks noChangeAspect="1"/>
          </p:cNvPicPr>
          <p:nvPr/>
        </p:nvPicPr>
        <p:blipFill>
          <a:blip r:embed="rId3"/>
          <a:stretch>
            <a:fillRect/>
          </a:stretch>
        </p:blipFill>
        <p:spPr>
          <a:xfrm>
            <a:off x="1005840" y="3008376"/>
            <a:ext cx="201168" cy="201168"/>
          </a:xfrm>
          <a:prstGeom prst="rect">
            <a:avLst/>
          </a:prstGeom>
        </p:spPr>
      </p:pic>
      <p:sp>
        <p:nvSpPr>
          <p:cNvPr id="13" name="Text 7"/>
          <p:cNvSpPr/>
          <p:nvPr/>
        </p:nvSpPr>
        <p:spPr>
          <a:xfrm>
            <a:off x="1325880" y="3008376"/>
            <a:ext cx="283464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DeepLearning.AI LangChain Courses</a:t>
            </a:r>
            <a:endParaRPr lang="en-US" sz="1100" dirty="0"/>
          </a:p>
        </p:txBody>
      </p:sp>
      <p:pic>
        <p:nvPicPr>
          <p:cNvPr id="14" name="Image 4" descr="preencoded.png"/>
          <p:cNvPicPr>
            <a:picLocks noChangeAspect="1"/>
          </p:cNvPicPr>
          <p:nvPr/>
        </p:nvPicPr>
        <p:blipFill>
          <a:blip r:embed="rId3"/>
          <a:stretch>
            <a:fillRect/>
          </a:stretch>
        </p:blipFill>
        <p:spPr>
          <a:xfrm>
            <a:off x="1005840" y="3447288"/>
            <a:ext cx="201168" cy="201168"/>
          </a:xfrm>
          <a:prstGeom prst="rect">
            <a:avLst/>
          </a:prstGeom>
        </p:spPr>
      </p:pic>
      <p:sp>
        <p:nvSpPr>
          <p:cNvPr id="15" name="Text 8"/>
          <p:cNvSpPr/>
          <p:nvPr/>
        </p:nvSpPr>
        <p:spPr>
          <a:xfrm>
            <a:off x="1325880" y="3447288"/>
            <a:ext cx="283464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LangChain GitHub — github.com/langchain-ai</a:t>
            </a:r>
            <a:endParaRPr lang="en-US" sz="1100" dirty="0"/>
          </a:p>
        </p:txBody>
      </p:sp>
      <p:sp>
        <p:nvSpPr>
          <p:cNvPr id="16" name="Shape 9"/>
          <p:cNvSpPr/>
          <p:nvPr/>
        </p:nvSpPr>
        <p:spPr>
          <a:xfrm>
            <a:off x="4754880" y="1097280"/>
            <a:ext cx="3840480" cy="3200400"/>
          </a:xfrm>
          <a:prstGeom prst="rect">
            <a:avLst/>
          </a:prstGeom>
          <a:solidFill>
            <a:srgbClr val="FFFFFF"/>
          </a:solidFill>
          <a:ln/>
          <a:effectLst>
            <a:outerShdw blurRad="50800" dist="25400" dir="8100000" algn="bl" rotWithShape="0">
              <a:srgbClr val="000000">
                <a:alpha val="8000"/>
              </a:srgbClr>
            </a:outerShdw>
          </a:effectLst>
        </p:spPr>
        <p:txBody>
          <a:bodyPr/>
          <a:lstStyle/>
          <a:p>
            <a:endParaRPr lang="en-US"/>
          </a:p>
        </p:txBody>
      </p:sp>
      <p:sp>
        <p:nvSpPr>
          <p:cNvPr id="17" name="Text 10"/>
          <p:cNvSpPr/>
          <p:nvPr/>
        </p:nvSpPr>
        <p:spPr>
          <a:xfrm>
            <a:off x="4937760" y="1188720"/>
            <a:ext cx="3474720" cy="365760"/>
          </a:xfrm>
          <a:prstGeom prst="rect">
            <a:avLst/>
          </a:prstGeom>
          <a:noFill/>
          <a:ln/>
        </p:spPr>
        <p:txBody>
          <a:bodyPr wrap="square" lIns="0" tIns="0" rIns="0" bIns="0" rtlCol="0" anchor="ctr"/>
          <a:lstStyle/>
          <a:p>
            <a:pPr marL="0" indent="0">
              <a:buNone/>
            </a:pPr>
            <a:r>
              <a:rPr lang="en-US" sz="1600" b="1" dirty="0">
                <a:solidFill>
                  <a:srgbClr val="1E293B"/>
                </a:solidFill>
                <a:latin typeface="Trebuchet MS" pitchFamily="34" charset="0"/>
                <a:ea typeface="Trebuchet MS" pitchFamily="34" charset="-122"/>
                <a:cs typeface="Trebuchet MS" pitchFamily="34" charset="-120"/>
              </a:rPr>
              <a:t>What to Build Next</a:t>
            </a:r>
            <a:endParaRPr lang="en-US" sz="1600" dirty="0"/>
          </a:p>
        </p:txBody>
      </p:sp>
      <p:pic>
        <p:nvPicPr>
          <p:cNvPr id="18" name="Image 5" descr="preencoded.png"/>
          <p:cNvPicPr>
            <a:picLocks noChangeAspect="1"/>
          </p:cNvPicPr>
          <p:nvPr/>
        </p:nvPicPr>
        <p:blipFill>
          <a:blip r:embed="rId4"/>
          <a:stretch>
            <a:fillRect/>
          </a:stretch>
        </p:blipFill>
        <p:spPr>
          <a:xfrm>
            <a:off x="5029200" y="1691640"/>
            <a:ext cx="201168" cy="201168"/>
          </a:xfrm>
          <a:prstGeom prst="rect">
            <a:avLst/>
          </a:prstGeom>
        </p:spPr>
      </p:pic>
      <p:sp>
        <p:nvSpPr>
          <p:cNvPr id="19" name="Text 11"/>
          <p:cNvSpPr/>
          <p:nvPr/>
        </p:nvSpPr>
        <p:spPr>
          <a:xfrm>
            <a:off x="5349240" y="1691640"/>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RAG Agent — search docs &amp; answer questions</a:t>
            </a:r>
            <a:endParaRPr lang="en-US" sz="1100" dirty="0"/>
          </a:p>
        </p:txBody>
      </p:sp>
      <p:pic>
        <p:nvPicPr>
          <p:cNvPr id="20" name="Image 6" descr="preencoded.png"/>
          <p:cNvPicPr>
            <a:picLocks noChangeAspect="1"/>
          </p:cNvPicPr>
          <p:nvPr/>
        </p:nvPicPr>
        <p:blipFill>
          <a:blip r:embed="rId4"/>
          <a:stretch>
            <a:fillRect/>
          </a:stretch>
        </p:blipFill>
        <p:spPr>
          <a:xfrm>
            <a:off x="5029200" y="2130552"/>
            <a:ext cx="201168" cy="201168"/>
          </a:xfrm>
          <a:prstGeom prst="rect">
            <a:avLst/>
          </a:prstGeom>
        </p:spPr>
      </p:pic>
      <p:sp>
        <p:nvSpPr>
          <p:cNvPr id="21" name="Text 12"/>
          <p:cNvSpPr/>
          <p:nvPr/>
        </p:nvSpPr>
        <p:spPr>
          <a:xfrm>
            <a:off x="5349240" y="2130552"/>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Code Assistant — write &amp; debug Python code</a:t>
            </a:r>
            <a:endParaRPr lang="en-US" sz="1100" dirty="0"/>
          </a:p>
        </p:txBody>
      </p:sp>
      <p:pic>
        <p:nvPicPr>
          <p:cNvPr id="22" name="Image 7" descr="preencoded.png"/>
          <p:cNvPicPr>
            <a:picLocks noChangeAspect="1"/>
          </p:cNvPicPr>
          <p:nvPr/>
        </p:nvPicPr>
        <p:blipFill>
          <a:blip r:embed="rId4"/>
          <a:stretch>
            <a:fillRect/>
          </a:stretch>
        </p:blipFill>
        <p:spPr>
          <a:xfrm>
            <a:off x="5029200" y="2569464"/>
            <a:ext cx="201168" cy="201168"/>
          </a:xfrm>
          <a:prstGeom prst="rect">
            <a:avLst/>
          </a:prstGeom>
        </p:spPr>
      </p:pic>
      <p:sp>
        <p:nvSpPr>
          <p:cNvPr id="23" name="Text 13"/>
          <p:cNvSpPr/>
          <p:nvPr/>
        </p:nvSpPr>
        <p:spPr>
          <a:xfrm>
            <a:off x="5349240" y="2569464"/>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Data Analyst — query databases, make charts</a:t>
            </a:r>
            <a:endParaRPr lang="en-US" sz="1100" dirty="0"/>
          </a:p>
        </p:txBody>
      </p:sp>
      <p:pic>
        <p:nvPicPr>
          <p:cNvPr id="24" name="Image 8" descr="preencoded.png"/>
          <p:cNvPicPr>
            <a:picLocks noChangeAspect="1"/>
          </p:cNvPicPr>
          <p:nvPr/>
        </p:nvPicPr>
        <p:blipFill>
          <a:blip r:embed="rId4"/>
          <a:stretch>
            <a:fillRect/>
          </a:stretch>
        </p:blipFill>
        <p:spPr>
          <a:xfrm>
            <a:off x="5029200" y="3008376"/>
            <a:ext cx="201168" cy="201168"/>
          </a:xfrm>
          <a:prstGeom prst="rect">
            <a:avLst/>
          </a:prstGeom>
        </p:spPr>
      </p:pic>
      <p:sp>
        <p:nvSpPr>
          <p:cNvPr id="25" name="Text 14"/>
          <p:cNvSpPr/>
          <p:nvPr/>
        </p:nvSpPr>
        <p:spPr>
          <a:xfrm>
            <a:off x="5349240" y="3008376"/>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Email Agent — draft, send, manage inbox</a:t>
            </a:r>
            <a:endParaRPr lang="en-US" sz="1100" dirty="0"/>
          </a:p>
        </p:txBody>
      </p:sp>
      <p:pic>
        <p:nvPicPr>
          <p:cNvPr id="26" name="Image 9" descr="preencoded.png"/>
          <p:cNvPicPr>
            <a:picLocks noChangeAspect="1"/>
          </p:cNvPicPr>
          <p:nvPr/>
        </p:nvPicPr>
        <p:blipFill>
          <a:blip r:embed="rId4"/>
          <a:stretch>
            <a:fillRect/>
          </a:stretch>
        </p:blipFill>
        <p:spPr>
          <a:xfrm>
            <a:off x="5029200" y="3447288"/>
            <a:ext cx="201168" cy="201168"/>
          </a:xfrm>
          <a:prstGeom prst="rect">
            <a:avLst/>
          </a:prstGeom>
        </p:spPr>
      </p:pic>
      <p:sp>
        <p:nvSpPr>
          <p:cNvPr id="27" name="Text 15"/>
          <p:cNvSpPr/>
          <p:nvPr/>
        </p:nvSpPr>
        <p:spPr>
          <a:xfrm>
            <a:off x="5349240" y="3447288"/>
            <a:ext cx="3017520" cy="274320"/>
          </a:xfrm>
          <a:prstGeom prst="rect">
            <a:avLst/>
          </a:prstGeom>
          <a:noFill/>
          <a:ln/>
        </p:spPr>
        <p:txBody>
          <a:bodyPr wrap="square" lIns="0" tIns="0" rIns="0" bIns="0" rtlCol="0" anchor="ctr"/>
          <a:lstStyle/>
          <a:p>
            <a:pPr marL="0" indent="0">
              <a:buNone/>
            </a:pPr>
            <a:r>
              <a:rPr lang="en-US" sz="1100" dirty="0">
                <a:solidFill>
                  <a:srgbClr val="334155"/>
                </a:solidFill>
                <a:latin typeface="Calibri" pitchFamily="34" charset="0"/>
                <a:ea typeface="Calibri" pitchFamily="34" charset="-122"/>
                <a:cs typeface="Calibri" pitchFamily="34" charset="-120"/>
              </a:rPr>
              <a:t>Multi-Agent System — team of specialized agents</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7">
    <p:bg>
      <p:bgPr>
        <a:solidFill>
          <a:srgbClr val="0F172A"/>
        </a:solidFill>
        <a:effectLst/>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0891B2"/>
          </a:solidFill>
          <a:ln/>
        </p:spPr>
        <p:txBody>
          <a:bodyPr/>
          <a:lstStyle/>
          <a:p>
            <a:endParaRPr lang="en-US"/>
          </a:p>
        </p:txBody>
      </p:sp>
      <p:sp>
        <p:nvSpPr>
          <p:cNvPr id="3" name="Shape 1"/>
          <p:cNvSpPr/>
          <p:nvPr/>
        </p:nvSpPr>
        <p:spPr>
          <a:xfrm>
            <a:off x="0" y="5070348"/>
            <a:ext cx="9144000" cy="73152"/>
          </a:xfrm>
          <a:prstGeom prst="rect">
            <a:avLst/>
          </a:prstGeom>
          <a:solidFill>
            <a:srgbClr val="0891B2"/>
          </a:solidFill>
          <a:ln/>
        </p:spPr>
        <p:txBody>
          <a:bodyPr/>
          <a:lstStyle/>
          <a:p>
            <a:endParaRPr lang="en-US"/>
          </a:p>
        </p:txBody>
      </p:sp>
      <p:sp>
        <p:nvSpPr>
          <p:cNvPr id="4" name="Shape 2"/>
          <p:cNvSpPr/>
          <p:nvPr/>
        </p:nvSpPr>
        <p:spPr>
          <a:xfrm>
            <a:off x="3886200" y="914400"/>
            <a:ext cx="1371600" cy="1371600"/>
          </a:xfrm>
          <a:prstGeom prst="ellipse">
            <a:avLst/>
          </a:prstGeom>
          <a:solidFill>
            <a:srgbClr val="0891B2"/>
          </a:solidFill>
          <a:ln/>
        </p:spPr>
        <p:txBody>
          <a:bodyPr/>
          <a:lstStyle/>
          <a:p>
            <a:endParaRPr lang="en-US"/>
          </a:p>
        </p:txBody>
      </p:sp>
      <p:pic>
        <p:nvPicPr>
          <p:cNvPr id="5" name="Image 0" descr="preencoded.png"/>
          <p:cNvPicPr>
            <a:picLocks noChangeAspect="1"/>
          </p:cNvPicPr>
          <p:nvPr/>
        </p:nvPicPr>
        <p:blipFill>
          <a:blip r:embed="rId3"/>
          <a:stretch>
            <a:fillRect/>
          </a:stretch>
        </p:blipFill>
        <p:spPr>
          <a:xfrm>
            <a:off x="4187952" y="1216152"/>
            <a:ext cx="768096" cy="768096"/>
          </a:xfrm>
          <a:prstGeom prst="rect">
            <a:avLst/>
          </a:prstGeom>
        </p:spPr>
      </p:pic>
      <p:sp>
        <p:nvSpPr>
          <p:cNvPr id="6" name="Text 3"/>
          <p:cNvSpPr/>
          <p:nvPr/>
        </p:nvSpPr>
        <p:spPr>
          <a:xfrm>
            <a:off x="731520" y="2468880"/>
            <a:ext cx="7680960" cy="731520"/>
          </a:xfrm>
          <a:prstGeom prst="rect">
            <a:avLst/>
          </a:prstGeom>
          <a:noFill/>
          <a:ln/>
        </p:spPr>
        <p:txBody>
          <a:bodyPr wrap="square" lIns="0" tIns="0" rIns="0" bIns="0" rtlCol="0" anchor="ctr"/>
          <a:lstStyle/>
          <a:p>
            <a:pPr marL="0" indent="0" algn="ctr">
              <a:buNone/>
            </a:pPr>
            <a:r>
              <a:rPr lang="en-US" sz="4000" b="1" dirty="0">
                <a:solidFill>
                  <a:srgbClr val="FFFFFF"/>
                </a:solidFill>
                <a:latin typeface="Trebuchet MS" pitchFamily="34" charset="0"/>
                <a:ea typeface="Trebuchet MS" pitchFamily="34" charset="-122"/>
                <a:cs typeface="Trebuchet MS" pitchFamily="34" charset="-120"/>
              </a:rPr>
              <a:t>Thank You!</a:t>
            </a:r>
            <a:endParaRPr lang="en-US" sz="4000" dirty="0"/>
          </a:p>
        </p:txBody>
      </p:sp>
      <p:sp>
        <p:nvSpPr>
          <p:cNvPr id="7" name="Text 4"/>
          <p:cNvSpPr/>
          <p:nvPr/>
        </p:nvSpPr>
        <p:spPr>
          <a:xfrm>
            <a:off x="731520" y="3200400"/>
            <a:ext cx="7680960" cy="457200"/>
          </a:xfrm>
          <a:prstGeom prst="rect">
            <a:avLst/>
          </a:prstGeom>
          <a:noFill/>
          <a:ln/>
        </p:spPr>
        <p:txBody>
          <a:bodyPr wrap="square" lIns="0" tIns="0" rIns="0" bIns="0" rtlCol="0" anchor="ctr"/>
          <a:lstStyle/>
          <a:p>
            <a:pPr marL="0" indent="0" algn="ctr">
              <a:buNone/>
            </a:pPr>
            <a:r>
              <a:rPr lang="en-US" sz="2000" dirty="0">
                <a:solidFill>
                  <a:srgbClr val="22D3EE"/>
                </a:solidFill>
                <a:latin typeface="Calibri" pitchFamily="34" charset="0"/>
                <a:ea typeface="Calibri" pitchFamily="34" charset="-122"/>
                <a:cs typeface="Calibri" pitchFamily="34" charset="-120"/>
              </a:rPr>
              <a:t>Questions &amp; Discussion</a:t>
            </a:r>
            <a:endParaRPr lang="en-US" sz="2000" dirty="0"/>
          </a:p>
        </p:txBody>
      </p:sp>
      <p:sp>
        <p:nvSpPr>
          <p:cNvPr id="8" name="Text 5"/>
          <p:cNvSpPr/>
          <p:nvPr/>
        </p:nvSpPr>
        <p:spPr>
          <a:xfrm>
            <a:off x="731520" y="3931920"/>
            <a:ext cx="7680960" cy="457200"/>
          </a:xfrm>
          <a:prstGeom prst="rect">
            <a:avLst/>
          </a:prstGeom>
          <a:noFill/>
          <a:ln/>
        </p:spPr>
        <p:txBody>
          <a:bodyPr wrap="square" lIns="0" tIns="0" rIns="0" bIns="0" rtlCol="0" anchor="ctr"/>
          <a:lstStyle/>
          <a:p>
            <a:pPr marL="0" indent="0" algn="ctr">
              <a:buNone/>
            </a:pPr>
            <a:r>
              <a:rPr lang="en-US" sz="1400" i="1" dirty="0">
                <a:solidFill>
                  <a:srgbClr val="94A3B8"/>
                </a:solidFill>
                <a:latin typeface="Calibri" pitchFamily="34" charset="0"/>
                <a:ea typeface="Calibri" pitchFamily="34" charset="-122"/>
                <a:cs typeface="Calibri" pitchFamily="34" charset="-120"/>
              </a:rPr>
              <a:t>Now go build something amazing with AI Agents + LangChain!</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5431</TotalTime>
  <Words>6937</Words>
  <Application>Microsoft Office PowerPoint</Application>
  <PresentationFormat>On-screen Show (16:9)</PresentationFormat>
  <Paragraphs>1164</Paragraphs>
  <Slides>59</Slides>
  <Notes>59</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AI Agents &amp; Why Do We Need Them?</dc:title>
  <dc:subject>PptxGenJS Presentation</dc:subject>
  <dc:creator>AI Agents Course</dc:creator>
  <cp:lastModifiedBy>Varush H</cp:lastModifiedBy>
  <cp:revision>17</cp:revision>
  <dcterms:created xsi:type="dcterms:W3CDTF">2026-05-25T06:01:44Z</dcterms:created>
  <dcterms:modified xsi:type="dcterms:W3CDTF">2026-05-30T14:45:26Z</dcterms:modified>
</cp:coreProperties>
</file>