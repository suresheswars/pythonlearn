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2"/>
  </p:notesMasterIdLst>
  <p:sldIdLst>
    <p:sldId id="256" r:id="rId3"/>
    <p:sldId id="29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9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8"/>
    <p:restoredTop sz="95033" autoAdjust="0"/>
  </p:normalViewPr>
  <p:slideViewPr>
    <p:cSldViewPr snapToGrid="0" snapToObjects="1">
      <p:cViewPr varScale="1">
        <p:scale>
          <a:sx n="109" d="100"/>
          <a:sy n="109" d="100"/>
        </p:scale>
        <p:origin x="8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41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"Before we touch Docker, let's understand </a:t>
            </a:r>
            <a:r>
              <a:rPr lang="en-IN" i="1" dirty="0"/>
              <a:t>why</a:t>
            </a:r>
            <a:r>
              <a:rPr lang="en-IN" dirty="0"/>
              <a:t> containers even exist. Every one of these three eras was invented to fix a real pain in the one before it. Notice the trend as we move left to right — smaller, faster, more portable each time. Keep that arrow in mind."</a:t>
            </a:r>
          </a:p>
          <a:p>
            <a:r>
              <a:rPr lang="en-IN" b="1" dirty="0"/>
              <a:t>Era 1 — Physical Servers (point to the red card)</a:t>
            </a:r>
            <a:endParaRPr lang="en-IN" dirty="0"/>
          </a:p>
          <a:p>
            <a:r>
              <a:rPr lang="en-IN" dirty="0"/>
              <a:t>"We start in the 1990s–2000s. Back then, the rule was basically </a:t>
            </a:r>
            <a:r>
              <a:rPr lang="en-IN" i="1" dirty="0"/>
              <a:t>one app, one whole machine</a:t>
            </a:r>
            <a:r>
              <a:rPr lang="en-IN" dirty="0"/>
              <a:t>. If your company needed a website and an email system, that's two separate physical servers humming in a room. It worked — but imagine buying an entire house just to use one room. Most of that expensive machine sat idle. That waste is the pain that pushed us to the next idea."</a:t>
            </a:r>
          </a:p>
          <a:p>
            <a:r>
              <a:rPr lang="en-IN" b="1" dirty="0"/>
              <a:t>The first arrow — make it a question</a:t>
            </a:r>
            <a:endParaRPr lang="en-IN" dirty="0"/>
          </a:p>
          <a:p>
            <a:r>
              <a:rPr lang="en-IN" dirty="0"/>
              <a:t>"So engineers asked: </a:t>
            </a:r>
            <a:r>
              <a:rPr lang="en-IN" i="1" dirty="0"/>
              <a:t>can we safely run several apps on one machine?</a:t>
            </a:r>
            <a:r>
              <a:rPr lang="en-IN" dirty="0"/>
              <a:t> That question gives us Era 2."</a:t>
            </a:r>
          </a:p>
          <a:p>
            <a:r>
              <a:rPr lang="en-IN" b="1" dirty="0"/>
              <a:t>Era 2 — Virtual Machines (point to the amber card)</a:t>
            </a:r>
            <a:endParaRPr lang="en-IN" dirty="0"/>
          </a:p>
          <a:p>
            <a:r>
              <a:rPr lang="en-IN" dirty="0"/>
              <a:t>"Around the 2000s we get virtual machines — </a:t>
            </a:r>
            <a:r>
              <a:rPr lang="en-IN" i="1" dirty="0"/>
              <a:t>many virtual computers inside one box</a:t>
            </a:r>
            <a:r>
              <a:rPr lang="en-IN" dirty="0"/>
              <a:t>. One physical server gets sliced into several independent machines. Think of turning that one house into separate apartments — now multiple tenants share the building. Much less waste. But there's a catch we'll see in a minute: every apartment still has its own full kitchen and plumbing. Hold that thought."</a:t>
            </a:r>
          </a:p>
          <a:p>
            <a:r>
              <a:rPr lang="en-IN" b="1" dirty="0"/>
              <a:t>The second arrow</a:t>
            </a:r>
            <a:endParaRPr lang="en-IN" dirty="0"/>
          </a:p>
          <a:p>
            <a:r>
              <a:rPr lang="en-IN" dirty="0"/>
              <a:t>"That catch is what makes VMs heavy — and heaviness is the pain that leads to Era 3."</a:t>
            </a:r>
          </a:p>
          <a:p>
            <a:r>
              <a:rPr lang="en-IN" b="1" dirty="0"/>
              <a:t>Era 3 — Containers (point to the blue Docker card)</a:t>
            </a:r>
            <a:endParaRPr lang="en-IN" dirty="0"/>
          </a:p>
          <a:p>
            <a:r>
              <a:rPr lang="en-IN" dirty="0"/>
              <a:t>"From about 2013 to today: containers. The key phrase is </a:t>
            </a:r>
            <a:r>
              <a:rPr lang="en-IN" i="1" dirty="0"/>
              <a:t>share the OS, ship just the app</a:t>
            </a:r>
            <a:r>
              <a:rPr lang="en-IN" dirty="0"/>
              <a:t>. Instead of each app carrying its own full operating system, they all share one — and you package only your app and its dependencies. It's like co-living: private rooms, but shared plumbing and power. Lightweight, fast, and it's exactly what Docker gives us."</a:t>
            </a:r>
          </a:p>
          <a:p>
            <a:r>
              <a:rPr lang="en-IN" b="1" dirty="0"/>
              <a:t>Close with the footer</a:t>
            </a:r>
            <a:endParaRPr lang="en-IN" dirty="0"/>
          </a:p>
          <a:p>
            <a:r>
              <a:rPr lang="en-IN" dirty="0"/>
              <a:t>"So here's our plan" — point to the dark bar — "we'll walk each era one at a time: what it was, </a:t>
            </a:r>
            <a:r>
              <a:rPr lang="en-IN" i="1" dirty="0"/>
              <a:t>why it hurt</a:t>
            </a:r>
            <a:r>
              <a:rPr lang="en-IN" dirty="0"/>
              <a:t>, and the breakthrough that pain forced. By the end you'll understand not just </a:t>
            </a:r>
            <a:r>
              <a:rPr lang="en-IN" i="1" dirty="0"/>
              <a:t>what</a:t>
            </a:r>
            <a:r>
              <a:rPr lang="en-IN" dirty="0"/>
              <a:t> Docker is, but </a:t>
            </a:r>
            <a:r>
              <a:rPr lang="en-IN" i="1" dirty="0"/>
              <a:t>why</a:t>
            </a:r>
            <a:r>
              <a:rPr lang="en-IN" dirty="0"/>
              <a:t> it had to be invented."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EB23-0A6B-1BD3-2B02-85A67809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8E621-CC04-A8E5-89FE-69F058523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472C-241E-43CA-6AC4-A0310CB78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7EBC5-09F8-3F45-1F04-64BB2562A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9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62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632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44.png"/><Relationship Id="rId9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80467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for AI Engineers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Share Your AI Projects Like a Pro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FastAPI &amp; Streamlit apps — run anywhere, identically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3-Hour Workshop</a:t>
            </a: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3883D-194A-B429-A77D-55BD13438EDC}"/>
              </a:ext>
            </a:extLst>
          </p:cNvPr>
          <p:cNvSpPr txBox="1"/>
          <p:nvPr/>
        </p:nvSpPr>
        <p:spPr>
          <a:xfrm>
            <a:off x="2286000" y="23889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834C4-036F-950D-3FC4-6552D098A7CF}"/>
              </a:ext>
            </a:extLst>
          </p:cNvPr>
          <p:cNvSpPr txBox="1"/>
          <p:nvPr/>
        </p:nvSpPr>
        <p:spPr>
          <a:xfrm>
            <a:off x="2286000" y="23889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433"/>
          </a:solidFill>
          <a:ln w="12700" cap="flat" cmpd="sng">
            <a:solidFill>
              <a:srgbClr val="1B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92608" y="73152"/>
            <a:ext cx="855878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Know Your Instructor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56032" y="822960"/>
            <a:ext cx="5120640" cy="4133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5488" y="969264"/>
            <a:ext cx="4681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3"/>
              </a:buClr>
              <a:buSzPts val="1800"/>
              <a:buFont typeface="Calibri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Varush H.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75488" y="1371600"/>
            <a:ext cx="4681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C8"/>
              </a:buClr>
              <a:buSzPts val="1100"/>
              <a:buFont typeface="Calibri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A8C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Senior Data Scientist · PwC India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5488" y="1783080"/>
            <a:ext cx="54864" cy="594360"/>
          </a:xfrm>
          <a:prstGeom prst="rect">
            <a:avLst/>
          </a:prstGeom>
          <a:solidFill>
            <a:srgbClr val="00A8C8"/>
          </a:solidFill>
          <a:ln w="12700" cap="flat" cmpd="sng">
            <a:solidFill>
              <a:srgbClr val="00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58368" y="179222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3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Senior Data Scientist @ PwC India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58368" y="2039112"/>
            <a:ext cx="44622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Leads high-impact AI/ML projects delivering measurable business ROI across enterprise clients in consulting.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488" y="2551176"/>
            <a:ext cx="54864" cy="594360"/>
          </a:xfrm>
          <a:prstGeom prst="rect">
            <a:avLst/>
          </a:prstGeom>
          <a:solidFill>
            <a:srgbClr val="00A8C8"/>
          </a:solidFill>
          <a:ln w="12700" cap="flat" cmpd="sng">
            <a:solidFill>
              <a:srgbClr val="00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58368" y="2560320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3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Agentic &amp; Generative AI Practitioner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58368" y="2807208"/>
            <a:ext cx="44622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Architected and shipped production-grade Agentic AI, NLP, Deep Learning, and LLM-powered solutions.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5488" y="3319272"/>
            <a:ext cx="54864" cy="594360"/>
          </a:xfrm>
          <a:prstGeom prst="rect">
            <a:avLst/>
          </a:prstGeom>
          <a:solidFill>
            <a:srgbClr val="00A8C8"/>
          </a:solidFill>
          <a:ln w="12700" cap="flat" cmpd="sng">
            <a:solidFill>
              <a:srgbClr val="00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58368" y="3328416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3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Student Mentor &amp; Educator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58368" y="3575304"/>
            <a:ext cx="44622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Mentors aspiring data scientists and junior engineers — guiding careers, projects, and skill-building in AI/ML.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5488" y="4087368"/>
            <a:ext cx="54864" cy="594360"/>
          </a:xfrm>
          <a:prstGeom prst="rect">
            <a:avLst/>
          </a:prstGeom>
          <a:solidFill>
            <a:srgbClr val="00A8C8"/>
          </a:solidFill>
          <a:ln w="12700" cap="flat" cmpd="sng">
            <a:solidFill>
              <a:srgbClr val="00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58368" y="4096512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3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Workshop Facilitator — AI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58368" y="4343400"/>
            <a:ext cx="44622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Delivers hands-on workshops translating complex AI concepts into practical, build-ready knowledge for learners.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596128" y="822960"/>
            <a:ext cx="3291840" cy="4133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13608" y="948866"/>
            <a:ext cx="1656878" cy="1676341"/>
          </a:xfrm>
          <a:prstGeom prst="ellipse">
            <a:avLst/>
          </a:prstGeom>
          <a:solidFill>
            <a:srgbClr val="E8F6F9"/>
          </a:solidFill>
          <a:ln w="25400" cap="flat" cmpd="sng">
            <a:solidFill>
              <a:srgbClr val="00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36208" y="987552"/>
            <a:ext cx="20116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5760720" y="3127248"/>
            <a:ext cx="2962656" cy="0"/>
          </a:xfrm>
          <a:prstGeom prst="straightConnector1">
            <a:avLst/>
          </a:prstGeom>
          <a:noFill/>
          <a:ln w="12700" cap="flat" cmpd="sng">
            <a:solidFill>
              <a:srgbClr val="EEF1F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4"/>
          <p:cNvSpPr/>
          <p:nvPr/>
        </p:nvSpPr>
        <p:spPr>
          <a:xfrm>
            <a:off x="5504688" y="2732649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3"/>
              </a:buClr>
              <a:buSzPts val="1100"/>
              <a:buFont typeface="Calibri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Scan to Connect on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6208" y="2953512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7771" y="2690622"/>
            <a:ext cx="374025" cy="37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3608" y="954641"/>
            <a:ext cx="1656878" cy="1656878"/>
          </a:xfrm>
          <a:prstGeom prst="flowChart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 Are &amp; Where You're Going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383280" cy="21945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3832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38" y="15124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Far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LangChain agent, wrapped it in a FastAPI app, and ran it with Uvicorn — on YOUR machine, with YOUR setup.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2011680"/>
            <a:ext cx="640080" cy="64008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778" y="2152498"/>
            <a:ext cx="358445" cy="3584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1188720"/>
            <a:ext cx="3383280" cy="2194560"/>
          </a:xfrm>
          <a:prstGeom prst="rect">
            <a:avLst/>
          </a:prstGeom>
          <a:solidFill>
            <a:srgbClr val="D6EB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029200" y="1188720"/>
            <a:ext cx="3383280" cy="5486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0" y="1371600"/>
            <a:ext cx="640080" cy="64008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151241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Today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1208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is packaged in a container — a single unit anyone can run on any machine with one command, no setup headaches.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867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794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Outcome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54480" y="4114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package and share any AI project professionally — so it runs identically on a laptop, a server, or the cloud.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Agenda — 3-Hour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3152" cy="114300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325880"/>
            <a:ext cx="685800" cy="6858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14767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Docker (Practical)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965960" y="18470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'works on my machine' problem, containers vs VMs, key concepts, and why Docker matters for AI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423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51560" y="265176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280263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659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Dockerfiles for AI Apps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965960" y="31729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Dockerfile, building images, .dockerignore, best practices &amp; handling secrets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1520" y="374904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31520" y="374904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051560" y="3977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36" y="412851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6596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96596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Containerize &amp; Run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965960" y="44988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your FastAPI &amp; Streamlit apps, run them locally, and share via Docker 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1: What is Docker?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mental model — no theory overload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1097280" cy="109728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482" y="188732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Got Here: The Evolution of Running Apps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leap was invented to fix the pain of the one before it. Smaller, faster, more portable every time.</a:t>
            </a:r>
            <a:endParaRPr lang="en-US" sz="13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658990-6B28-0C10-F529-40A171A939DA}"/>
              </a:ext>
            </a:extLst>
          </p:cNvPr>
          <p:cNvGrpSpPr/>
          <p:nvPr/>
        </p:nvGrpSpPr>
        <p:grpSpPr>
          <a:xfrm>
            <a:off x="457200" y="1417320"/>
            <a:ext cx="2651760" cy="2651760"/>
            <a:chOff x="457200" y="1417320"/>
            <a:chExt cx="2651760" cy="2651760"/>
          </a:xfrm>
        </p:grpSpPr>
        <p:sp>
          <p:nvSpPr>
            <p:cNvPr id="5" name="Shape 3"/>
            <p:cNvSpPr/>
            <p:nvPr/>
          </p:nvSpPr>
          <p:spPr>
            <a:xfrm>
              <a:off x="457200" y="1417320"/>
              <a:ext cx="2651760" cy="2651760"/>
            </a:xfrm>
            <a:prstGeom prst="rect">
              <a:avLst/>
            </a:prstGeom>
            <a:solidFill>
              <a:srgbClr val="FEE2E2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417320"/>
              <a:ext cx="2651760" cy="73152"/>
            </a:xfrm>
            <a:prstGeom prst="rect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1554480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F44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ERA 1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344168" y="1847088"/>
              <a:ext cx="868680" cy="86868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5278" y="2038198"/>
              <a:ext cx="486461" cy="486461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457200" y="2788920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Physical Servers</a:t>
              </a:r>
              <a:endParaRPr lang="en-US" sz="17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1005840" y="3200400"/>
              <a:ext cx="1554480" cy="292608"/>
            </a:xfrm>
            <a:prstGeom prst="rect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1005840" y="3200400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~1990s–2000s</a:t>
              </a:r>
              <a:endParaRPr lang="en-US" sz="9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94360" y="3566160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app, one whole machine</a:t>
              </a:r>
              <a:endParaRPr lang="en-US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4E4BA1A-136C-5D1D-291B-71F752ABFAA6}"/>
              </a:ext>
            </a:extLst>
          </p:cNvPr>
          <p:cNvGrpSpPr/>
          <p:nvPr/>
        </p:nvGrpSpPr>
        <p:grpSpPr>
          <a:xfrm>
            <a:off x="3136392" y="1417320"/>
            <a:ext cx="2852928" cy="2651760"/>
            <a:chOff x="3136392" y="1417320"/>
            <a:chExt cx="2852928" cy="2651760"/>
          </a:xfrm>
        </p:grpSpPr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6392" y="2606040"/>
              <a:ext cx="182880" cy="182880"/>
            </a:xfrm>
            <a:prstGeom prst="rect">
              <a:avLst/>
            </a:prstGeom>
          </p:spPr>
        </p:pic>
        <p:sp>
          <p:nvSpPr>
            <p:cNvPr id="15" name="Shape 11"/>
            <p:cNvSpPr/>
            <p:nvPr/>
          </p:nvSpPr>
          <p:spPr>
            <a:xfrm>
              <a:off x="3337560" y="1417320"/>
              <a:ext cx="2651760" cy="2651760"/>
            </a:xfrm>
            <a:prstGeom prst="rect">
              <a:avLst/>
            </a:prstGeom>
            <a:solidFill>
              <a:srgbClr val="FEF3C7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3337560" y="1417320"/>
              <a:ext cx="265176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3"/>
            <p:cNvSpPr/>
            <p:nvPr/>
          </p:nvSpPr>
          <p:spPr>
            <a:xfrm>
              <a:off x="3337560" y="1554480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ERA 2</a:t>
              </a:r>
              <a:endParaRPr lang="en-US" sz="12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4224528" y="1847088"/>
              <a:ext cx="868680" cy="868680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15638" y="2038198"/>
              <a:ext cx="486461" cy="486461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3337560" y="2788920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Virtual Machines</a:t>
              </a:r>
              <a:endParaRPr lang="en-US" sz="1700" dirty="0"/>
            </a:p>
          </p:txBody>
        </p:sp>
        <p:sp>
          <p:nvSpPr>
            <p:cNvPr id="21" name="Shape 16"/>
            <p:cNvSpPr/>
            <p:nvPr/>
          </p:nvSpPr>
          <p:spPr>
            <a:xfrm>
              <a:off x="3886200" y="3200400"/>
              <a:ext cx="1554480" cy="292608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/>
            <p:cNvSpPr/>
            <p:nvPr/>
          </p:nvSpPr>
          <p:spPr>
            <a:xfrm>
              <a:off x="3886200" y="3200400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~2000s</a:t>
              </a:r>
              <a:endParaRPr lang="en-US" sz="95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3474720" y="3566160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Many virtual computers in one box</a:t>
              </a:r>
              <a:endParaRPr lang="en-US" sz="11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025921-FF40-AD09-1EFC-8AC9BB2D14E0}"/>
              </a:ext>
            </a:extLst>
          </p:cNvPr>
          <p:cNvGrpSpPr/>
          <p:nvPr/>
        </p:nvGrpSpPr>
        <p:grpSpPr>
          <a:xfrm>
            <a:off x="6016752" y="1417320"/>
            <a:ext cx="2852928" cy="2651760"/>
            <a:chOff x="6016752" y="1417320"/>
            <a:chExt cx="2852928" cy="2651760"/>
          </a:xfrm>
        </p:grpSpPr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6752" y="2606040"/>
              <a:ext cx="182880" cy="182880"/>
            </a:xfrm>
            <a:prstGeom prst="rect">
              <a:avLst/>
            </a:prstGeom>
          </p:spPr>
        </p:pic>
        <p:sp>
          <p:nvSpPr>
            <p:cNvPr id="25" name="Shape 19"/>
            <p:cNvSpPr/>
            <p:nvPr/>
          </p:nvSpPr>
          <p:spPr>
            <a:xfrm>
              <a:off x="6217920" y="1417320"/>
              <a:ext cx="2651760" cy="2651760"/>
            </a:xfrm>
            <a:prstGeom prst="rect">
              <a:avLst/>
            </a:prstGeom>
            <a:solidFill>
              <a:srgbClr val="D6EBFB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0"/>
            <p:cNvSpPr/>
            <p:nvPr/>
          </p:nvSpPr>
          <p:spPr>
            <a:xfrm>
              <a:off x="6217920" y="1417320"/>
              <a:ext cx="2651760" cy="73152"/>
            </a:xfrm>
            <a:prstGeom prst="rect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1"/>
            <p:cNvSpPr/>
            <p:nvPr/>
          </p:nvSpPr>
          <p:spPr>
            <a:xfrm>
              <a:off x="6217920" y="1554480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496ED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ERA 3</a:t>
              </a:r>
              <a:endParaRPr lang="en-US" sz="1200" dirty="0"/>
            </a:p>
          </p:txBody>
        </p:sp>
        <p:sp>
          <p:nvSpPr>
            <p:cNvPr id="28" name="Shape 22"/>
            <p:cNvSpPr/>
            <p:nvPr/>
          </p:nvSpPr>
          <p:spPr>
            <a:xfrm>
              <a:off x="7104888" y="1847088"/>
              <a:ext cx="868680" cy="868680"/>
            </a:xfrm>
            <a:prstGeom prst="ellipse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95998" y="2038198"/>
              <a:ext cx="486461" cy="486461"/>
            </a:xfrm>
            <a:prstGeom prst="rect">
              <a:avLst/>
            </a:prstGeom>
          </p:spPr>
        </p:pic>
        <p:sp>
          <p:nvSpPr>
            <p:cNvPr id="30" name="Text 23"/>
            <p:cNvSpPr/>
            <p:nvPr/>
          </p:nvSpPr>
          <p:spPr>
            <a:xfrm>
              <a:off x="6217920" y="2788920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Containers</a:t>
              </a:r>
              <a:endParaRPr lang="en-US" sz="1700" dirty="0"/>
            </a:p>
          </p:txBody>
        </p:sp>
        <p:sp>
          <p:nvSpPr>
            <p:cNvPr id="31" name="Shape 24"/>
            <p:cNvSpPr/>
            <p:nvPr/>
          </p:nvSpPr>
          <p:spPr>
            <a:xfrm>
              <a:off x="6766560" y="3200400"/>
              <a:ext cx="1554480" cy="292608"/>
            </a:xfrm>
            <a:prstGeom prst="rect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5"/>
            <p:cNvSpPr/>
            <p:nvPr/>
          </p:nvSpPr>
          <p:spPr>
            <a:xfrm>
              <a:off x="6766560" y="3200400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~2013 → today</a:t>
              </a:r>
              <a:endParaRPr lang="en-US" sz="950" dirty="0"/>
            </a:p>
          </p:txBody>
        </p:sp>
        <p:sp>
          <p:nvSpPr>
            <p:cNvPr id="33" name="Text 26"/>
            <p:cNvSpPr/>
            <p:nvPr/>
          </p:nvSpPr>
          <p:spPr>
            <a:xfrm>
              <a:off x="6355080" y="3566160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the OS, ship just the app</a:t>
              </a:r>
              <a:endParaRPr lang="en-US" sz="1100" dirty="0"/>
            </a:p>
          </p:txBody>
        </p:sp>
      </p:grpSp>
      <p:sp>
        <p:nvSpPr>
          <p:cNvPr id="34" name="Shape 2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walk each era — what it was, why it hurt, and the breakthrough it forced.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 1: Physical Servers — One App, a Whole Machine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2536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Was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ran on its own dedicated, bare-metal server. Want to run another app safely? Buy another machine.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114800" cy="160020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26709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28803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buying an entire house just to use one room. Most of it sits empty — but you pay for, power, and maintain all of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Became Painful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9105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858000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server for a single app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06654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Wasteful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858000" y="2048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used only ~10–15% of capacity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4203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2523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to set up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858000" y="2523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ship &amp; rack hardware — weeks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01752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2999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to scale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858000" y="2999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power? Buy another box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49300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0352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Risky to share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858000" y="3474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 on one server can clash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51560" y="4206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fix: slice one physical server into many isolated machines — the Virtual Machine.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 2: Virtual Machines — Many Computers in 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3235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14300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Was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hypervisor splits one physical server into several Virtual Machines — each a full computer with its own operating system.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114800" cy="160020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26709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28529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apartment building: one structure split into self-contained units. Better — but every apartment still has its OWN full kitchen &amp; plumbing (its own OS).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54880" y="1005840"/>
            <a:ext cx="3931920" cy="105156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3776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Wins Over Physical</a:t>
            </a:r>
            <a:endParaRPr lang="en-US" sz="12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417320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13990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VMs per server — far less waste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618488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1600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isolation between VMs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81965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1801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create, not weeks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754880" y="2194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754880" y="219456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493776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Still Painful</a:t>
            </a:r>
            <a:endParaRPr lang="en-US" sz="13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660904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2651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640080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ships a full OS — many GBs</a:t>
            </a:r>
            <a:endParaRPr lang="en-US" sz="9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999232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57800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to boot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640080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Booting a whole OS takes minutes</a:t>
            </a:r>
            <a:endParaRPr lang="en-US" sz="9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37560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57800" y="3328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Duplicated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overhead</a:t>
            </a:r>
            <a:endParaRPr lang="en-US" sz="1050" dirty="0"/>
          </a:p>
        </p:txBody>
      </p:sp>
      <p:sp>
        <p:nvSpPr>
          <p:cNvPr id="33" name="Text 23"/>
          <p:cNvSpPr/>
          <p:nvPr/>
        </p:nvSpPr>
        <p:spPr>
          <a:xfrm>
            <a:off x="6400800" y="3328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VM re-runs its own OS</a:t>
            </a:r>
            <a:endParaRPr lang="en-US" sz="9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75888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257800" y="3666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density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6400800" y="3666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handful of VMs per server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51560" y="4206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fix: let apps SHARE one OS instead of each carrying its own — the Container.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 3: Containers — Share the OS, Ship Just the 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2536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host's operating system and package only the app + its dependencies — no full guest OS per app.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114800" cy="1600200"/>
          </a:xfrm>
          <a:prstGeom prst="rect">
            <a:avLst/>
          </a:prstGeom>
          <a:solidFill>
            <a:srgbClr val="D6EB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26709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28529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Co-living PGs: private rooms, but everyone shares the building's core plumbing &amp; power (the host OS). No duplicate kitchens — so units are tiny and instant to move into.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Won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9105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0" y="1572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app + deps — tens of MBs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06654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400800" y="2048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seconds, not minutes</a:t>
            </a:r>
            <a:endParaRPr lang="en-US" sz="10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4203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400800" y="25237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many on a single machine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01752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40080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identically anywhere</a:t>
            </a:r>
            <a:endParaRPr lang="en-US" sz="10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49300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0352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Isolated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400800" y="3474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is sandboxed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640080" y="4279392"/>
            <a:ext cx="365760" cy="36576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4359859"/>
            <a:ext cx="204826" cy="20482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143000" y="42062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exactly what Docker delivers — let's see how it works.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vs VM vs Container — At a Glance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8AEC8-9259-B541-A799-5A61B9BED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20"/>
          <a:stretch>
            <a:fillRect/>
          </a:stretch>
        </p:blipFill>
        <p:spPr>
          <a:xfrm>
            <a:off x="922865" y="914400"/>
            <a:ext cx="6690942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B2A88-B2B9-BD04-57E6-268CD84D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24D7BB-A262-6171-F0AC-1E04FAB6746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914005-6FD1-0A2E-AEB2-B39CC4EA1C94}"/>
              </a:ext>
            </a:extLst>
          </p:cNvPr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vs VM vs Container — At a Glance</a:t>
            </a:r>
            <a:endParaRPr lang="en-US" sz="22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68268D21-5FC6-B7B0-55CF-C55A725624C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051560"/>
          <a:ext cx="822960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Aspect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Physical Server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Virtual Machine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Container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full OS per 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9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the app + deps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9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entire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GBs 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9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MBs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per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VMs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9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containers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(full OS each)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9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(shares kernel)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to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to hypervisor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9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774676E6-B64C-AC1A-B812-690D8F1B0A3E}"/>
              </a:ext>
            </a:extLst>
          </p:cNvPr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61688C9-B60D-A75E-79B1-6057B9D8E259}"/>
              </a:ext>
            </a:extLst>
          </p:cNvPr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direction every time: lighter, faster, and more portable. Containers are today's sweet spot.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04900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"But It Works on My Machine!"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1887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13752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887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an AI app that runs perfectly on your laptop. You send it to a teammate or deploy it to a server — and it breaks. Sound familiar?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Breaks Elsewhere</a:t>
            </a:r>
            <a:endParaRPr lang="en-US" sz="1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F881CE-0441-723A-BB4E-66B8A58B0390}"/>
              </a:ext>
            </a:extLst>
          </p:cNvPr>
          <p:cNvGrpSpPr/>
          <p:nvPr/>
        </p:nvGrpSpPr>
        <p:grpSpPr>
          <a:xfrm>
            <a:off x="731520" y="2834640"/>
            <a:ext cx="7589520" cy="1691640"/>
            <a:chOff x="731520" y="2834640"/>
            <a:chExt cx="7589520" cy="1691640"/>
          </a:xfrm>
        </p:grpSpPr>
        <p:sp>
          <p:nvSpPr>
            <p:cNvPr id="9" name="Shape 6"/>
            <p:cNvSpPr/>
            <p:nvPr/>
          </p:nvSpPr>
          <p:spPr>
            <a:xfrm>
              <a:off x="731520" y="2834640"/>
              <a:ext cx="237744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868680" y="2999232"/>
              <a:ext cx="457200" cy="45720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9264" y="3099816"/>
              <a:ext cx="256032" cy="256032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1463040" y="2834640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 Python version</a:t>
              </a:r>
              <a:endParaRPr lang="en-US" sz="110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3337560" y="2834640"/>
              <a:ext cx="237744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3474720" y="2999232"/>
              <a:ext cx="457200" cy="45720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75304" y="3099816"/>
              <a:ext cx="256032" cy="256032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4069080" y="2834640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Missing system libraries</a:t>
              </a:r>
              <a:endParaRPr lang="en-US" sz="1100" dirty="0"/>
            </a:p>
          </p:txBody>
        </p:sp>
        <p:sp>
          <p:nvSpPr>
            <p:cNvPr id="17" name="Shape 12"/>
            <p:cNvSpPr/>
            <p:nvPr/>
          </p:nvSpPr>
          <p:spPr>
            <a:xfrm>
              <a:off x="5943600" y="2834640"/>
              <a:ext cx="237744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3"/>
            <p:cNvSpPr/>
            <p:nvPr/>
          </p:nvSpPr>
          <p:spPr>
            <a:xfrm>
              <a:off x="6080760" y="2999232"/>
              <a:ext cx="457200" cy="45720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1344" y="3099816"/>
              <a:ext cx="256032" cy="256032"/>
            </a:xfrm>
            <a:prstGeom prst="rect">
              <a:avLst/>
            </a:prstGeom>
          </p:spPr>
        </p:pic>
        <p:sp>
          <p:nvSpPr>
            <p:cNvPr id="20" name="Text 14"/>
            <p:cNvSpPr/>
            <p:nvPr/>
          </p:nvSpPr>
          <p:spPr>
            <a:xfrm>
              <a:off x="6675120" y="2834640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Dependency conflicts</a:t>
              </a:r>
              <a:endParaRPr lang="en-US" sz="1100" dirty="0"/>
            </a:p>
          </p:txBody>
        </p:sp>
        <p:sp>
          <p:nvSpPr>
            <p:cNvPr id="21" name="Shape 15"/>
            <p:cNvSpPr/>
            <p:nvPr/>
          </p:nvSpPr>
          <p:spPr>
            <a:xfrm>
              <a:off x="731520" y="3749040"/>
              <a:ext cx="237744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16"/>
            <p:cNvSpPr/>
            <p:nvPr/>
          </p:nvSpPr>
          <p:spPr>
            <a:xfrm>
              <a:off x="868680" y="3913632"/>
              <a:ext cx="457200" cy="45720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9264" y="4014216"/>
              <a:ext cx="256032" cy="256032"/>
            </a:xfrm>
            <a:prstGeom prst="rect">
              <a:avLst/>
            </a:prstGeom>
          </p:spPr>
        </p:pic>
        <p:sp>
          <p:nvSpPr>
            <p:cNvPr id="24" name="Text 17"/>
            <p:cNvSpPr/>
            <p:nvPr/>
          </p:nvSpPr>
          <p:spPr>
            <a:xfrm>
              <a:off x="1463040" y="3749040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GPU / CUDA drivers</a:t>
              </a:r>
              <a:endParaRPr lang="en-US" sz="1100" dirty="0"/>
            </a:p>
          </p:txBody>
        </p:sp>
        <p:sp>
          <p:nvSpPr>
            <p:cNvPr id="25" name="Shape 18"/>
            <p:cNvSpPr/>
            <p:nvPr/>
          </p:nvSpPr>
          <p:spPr>
            <a:xfrm>
              <a:off x="3337560" y="3749040"/>
              <a:ext cx="237744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9"/>
            <p:cNvSpPr/>
            <p:nvPr/>
          </p:nvSpPr>
          <p:spPr>
            <a:xfrm>
              <a:off x="3474720" y="3913632"/>
              <a:ext cx="457200" cy="45720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75304" y="4014216"/>
              <a:ext cx="256032" cy="256032"/>
            </a:xfrm>
            <a:prstGeom prst="rect">
              <a:avLst/>
            </a:prstGeom>
          </p:spPr>
        </p:pic>
        <p:sp>
          <p:nvSpPr>
            <p:cNvPr id="28" name="Text 20"/>
            <p:cNvSpPr/>
            <p:nvPr/>
          </p:nvSpPr>
          <p:spPr>
            <a:xfrm>
              <a:off x="4069080" y="3749040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 OS (Mac vs Linux)</a:t>
              </a:r>
              <a:endParaRPr lang="en-US" sz="1100" dirty="0"/>
            </a:p>
          </p:txBody>
        </p:sp>
        <p:sp>
          <p:nvSpPr>
            <p:cNvPr id="29" name="Shape 21"/>
            <p:cNvSpPr/>
            <p:nvPr/>
          </p:nvSpPr>
          <p:spPr>
            <a:xfrm>
              <a:off x="5943600" y="3749040"/>
              <a:ext cx="237744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2"/>
            <p:cNvSpPr/>
            <p:nvPr/>
          </p:nvSpPr>
          <p:spPr>
            <a:xfrm>
              <a:off x="6080760" y="3913632"/>
              <a:ext cx="457200" cy="457200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81344" y="4014216"/>
              <a:ext cx="256032" cy="256032"/>
            </a:xfrm>
            <a:prstGeom prst="rect">
              <a:avLst/>
            </a:prstGeom>
          </p:spPr>
        </p:pic>
        <p:sp>
          <p:nvSpPr>
            <p:cNvPr id="32" name="Text 23"/>
            <p:cNvSpPr/>
            <p:nvPr/>
          </p:nvSpPr>
          <p:spPr>
            <a:xfrm>
              <a:off x="6675120" y="3749040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Forgotten env variables</a:t>
              </a:r>
              <a:endParaRPr lang="en-US" sz="1100" dirty="0"/>
            </a:p>
          </p:txBody>
        </p:sp>
      </p:grpSp>
      <p:sp>
        <p:nvSpPr>
          <p:cNvPr id="33" name="Text 24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eliminates ALL of these by packaging the app WITH its entire environment.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Docker? The Shipping Container Idea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Containers (Shipping)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164592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214" y="1806854"/>
            <a:ext cx="409651" cy="4096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5603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were loaded loose &amp; by hand — barrels, sacks, crates of every shape. Slow, chaotic, and nothing fit neatly on different ships or trucks.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Software with messy, manual setup on every machine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3931920" cy="3566160"/>
          </a:xfrm>
          <a:prstGeom prst="rect">
            <a:avLst/>
          </a:prstGeom>
          <a:solidFill>
            <a:srgbClr val="D6EB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3931920" cy="5486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After: The Standard Container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5080" y="1645920"/>
            <a:ext cx="731520" cy="7315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014" y="1806854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2040" y="25603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box. It fits any ship, crane, or truck — the same way, every time. The contents don't matter; the box is standard.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9204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Your app + ALL its dependencies in one standard unit that runs identically anywhere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vs Virtual Machines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32918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  |   App 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3291840" cy="41148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 |  Guest 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459736"/>
            <a:ext cx="3291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4597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935224"/>
            <a:ext cx="329184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9352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410712"/>
            <a:ext cx="329184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410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(GBs) · slow start (minutes)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(Docker)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508760"/>
            <a:ext cx="3291840" cy="502920"/>
          </a:xfrm>
          <a:prstGeom prst="rect">
            <a:avLst/>
          </a:prstGeom>
          <a:solidFill>
            <a:srgbClr val="D6EBFB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508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 |  App B  |  App 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984248"/>
            <a:ext cx="3291840" cy="41148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1984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459736"/>
            <a:ext cx="329184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24597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System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935224"/>
            <a:ext cx="329184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9352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(MBs) · fast start (seconds) · shares the host kernel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skip the heavy guest OS — that's why they're smaller and start in seconds.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Words You Need to Know</a:t>
            </a:r>
            <a:endParaRPr lang="en-US" sz="2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3468910-FD41-F495-17F2-4CBF38D34EA1}"/>
              </a:ext>
            </a:extLst>
          </p:cNvPr>
          <p:cNvGrpSpPr/>
          <p:nvPr/>
        </p:nvGrpSpPr>
        <p:grpSpPr>
          <a:xfrm>
            <a:off x="548640" y="1051560"/>
            <a:ext cx="8046720" cy="658368"/>
            <a:chOff x="548640" y="1051560"/>
            <a:chExt cx="8046720" cy="658368"/>
          </a:xfrm>
        </p:grpSpPr>
        <p:sp>
          <p:nvSpPr>
            <p:cNvPr id="4" name="Shape 2"/>
            <p:cNvSpPr/>
            <p:nvPr/>
          </p:nvSpPr>
          <p:spPr>
            <a:xfrm>
              <a:off x="548640" y="1051560"/>
              <a:ext cx="80467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548640" y="1051560"/>
              <a:ext cx="73152" cy="658368"/>
            </a:xfrm>
            <a:prstGeom prst="rect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77240" y="1161288"/>
              <a:ext cx="438912" cy="438912"/>
            </a:xfrm>
            <a:prstGeom prst="ellipse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801" y="1257849"/>
              <a:ext cx="245791" cy="245791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371600" y="1124712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496ED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Docker Engine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246120" y="1124712"/>
              <a:ext cx="5166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runtime that does the work — the program on your machine that builds images and runs containers.</a:t>
              </a:r>
              <a:endParaRPr lang="en-US" sz="115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E2F9B8-5C09-D324-7626-5CCF7437354D}"/>
              </a:ext>
            </a:extLst>
          </p:cNvPr>
          <p:cNvGrpSpPr/>
          <p:nvPr/>
        </p:nvGrpSpPr>
        <p:grpSpPr>
          <a:xfrm>
            <a:off x="548640" y="1801368"/>
            <a:ext cx="8046720" cy="658368"/>
            <a:chOff x="548640" y="1801368"/>
            <a:chExt cx="8046720" cy="658368"/>
          </a:xfrm>
        </p:grpSpPr>
        <p:sp>
          <p:nvSpPr>
            <p:cNvPr id="10" name="Shape 7"/>
            <p:cNvSpPr/>
            <p:nvPr/>
          </p:nvSpPr>
          <p:spPr>
            <a:xfrm>
              <a:off x="548640" y="1801368"/>
              <a:ext cx="80467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548640" y="1801368"/>
              <a:ext cx="73152" cy="658368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777240" y="1911096"/>
              <a:ext cx="438912" cy="438912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801" y="2007657"/>
              <a:ext cx="245791" cy="245791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371600" y="1874520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Dockerfile</a:t>
              </a:r>
              <a:endParaRPr lang="en-US" sz="16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3246120" y="1874520"/>
              <a:ext cx="5166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recipe — a text file of instructions that tells Docker how to build your image.</a:t>
              </a:r>
              <a:endParaRPr lang="en-US" sz="11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1E3EDD-9387-5AAE-3D77-4C22EA214720}"/>
              </a:ext>
            </a:extLst>
          </p:cNvPr>
          <p:cNvGrpSpPr/>
          <p:nvPr/>
        </p:nvGrpSpPr>
        <p:grpSpPr>
          <a:xfrm>
            <a:off x="548640" y="2551176"/>
            <a:ext cx="8046720" cy="658368"/>
            <a:chOff x="548640" y="2551176"/>
            <a:chExt cx="8046720" cy="658368"/>
          </a:xfrm>
        </p:grpSpPr>
        <p:sp>
          <p:nvSpPr>
            <p:cNvPr id="16" name="Shape 12"/>
            <p:cNvSpPr/>
            <p:nvPr/>
          </p:nvSpPr>
          <p:spPr>
            <a:xfrm>
              <a:off x="548640" y="2551176"/>
              <a:ext cx="80467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548640" y="2551176"/>
              <a:ext cx="73152" cy="658368"/>
            </a:xfrm>
            <a:prstGeom prst="rect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4"/>
            <p:cNvSpPr/>
            <p:nvPr/>
          </p:nvSpPr>
          <p:spPr>
            <a:xfrm>
              <a:off x="777240" y="2660904"/>
              <a:ext cx="438912" cy="438912"/>
            </a:xfrm>
            <a:prstGeom prst="ellipse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801" y="2757465"/>
              <a:ext cx="245791" cy="245791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1371600" y="2624328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Image</a:t>
              </a:r>
              <a:endParaRPr lang="en-US" sz="160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3246120" y="2624328"/>
              <a:ext cx="5166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blueprint — a read-only template with your app + all it needs. Like a class in code.</a:t>
              </a:r>
              <a:endParaRPr lang="en-US" sz="115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F8306F3-3CBE-838F-56EF-0BD5D6CB1674}"/>
              </a:ext>
            </a:extLst>
          </p:cNvPr>
          <p:cNvGrpSpPr/>
          <p:nvPr/>
        </p:nvGrpSpPr>
        <p:grpSpPr>
          <a:xfrm>
            <a:off x="548640" y="3300984"/>
            <a:ext cx="8046720" cy="658368"/>
            <a:chOff x="548640" y="3300984"/>
            <a:chExt cx="8046720" cy="658368"/>
          </a:xfrm>
        </p:grpSpPr>
        <p:sp>
          <p:nvSpPr>
            <p:cNvPr id="22" name="Shape 17"/>
            <p:cNvSpPr/>
            <p:nvPr/>
          </p:nvSpPr>
          <p:spPr>
            <a:xfrm>
              <a:off x="548640" y="3300984"/>
              <a:ext cx="80467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18"/>
            <p:cNvSpPr/>
            <p:nvPr/>
          </p:nvSpPr>
          <p:spPr>
            <a:xfrm>
              <a:off x="548640" y="3300984"/>
              <a:ext cx="73152" cy="658368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19"/>
            <p:cNvSpPr/>
            <p:nvPr/>
          </p:nvSpPr>
          <p:spPr>
            <a:xfrm>
              <a:off x="777240" y="3410712"/>
              <a:ext cx="438912" cy="438912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3801" y="3507273"/>
              <a:ext cx="245791" cy="245791"/>
            </a:xfrm>
            <a:prstGeom prst="rect">
              <a:avLst/>
            </a:prstGeom>
          </p:spPr>
        </p:pic>
        <p:sp>
          <p:nvSpPr>
            <p:cNvPr id="26" name="Text 20"/>
            <p:cNvSpPr/>
            <p:nvPr/>
          </p:nvSpPr>
          <p:spPr>
            <a:xfrm>
              <a:off x="1371600" y="3374136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Container</a:t>
              </a:r>
              <a:endParaRPr lang="en-US" sz="1600" dirty="0"/>
            </a:p>
          </p:txBody>
        </p:sp>
        <p:sp>
          <p:nvSpPr>
            <p:cNvPr id="27" name="Text 21"/>
            <p:cNvSpPr/>
            <p:nvPr/>
          </p:nvSpPr>
          <p:spPr>
            <a:xfrm>
              <a:off x="3246120" y="3374136"/>
              <a:ext cx="5166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running instance of an image. Like an object from a class — run many from one image.</a:t>
              </a:r>
              <a:endParaRPr lang="en-US" sz="115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025742-8F74-FF04-E170-36E05C17519C}"/>
              </a:ext>
            </a:extLst>
          </p:cNvPr>
          <p:cNvGrpSpPr/>
          <p:nvPr/>
        </p:nvGrpSpPr>
        <p:grpSpPr>
          <a:xfrm>
            <a:off x="548640" y="4050792"/>
            <a:ext cx="8046720" cy="658368"/>
            <a:chOff x="548640" y="4050792"/>
            <a:chExt cx="8046720" cy="658368"/>
          </a:xfrm>
        </p:grpSpPr>
        <p:sp>
          <p:nvSpPr>
            <p:cNvPr id="28" name="Shape 22"/>
            <p:cNvSpPr/>
            <p:nvPr/>
          </p:nvSpPr>
          <p:spPr>
            <a:xfrm>
              <a:off x="548640" y="4050792"/>
              <a:ext cx="80467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3"/>
            <p:cNvSpPr/>
            <p:nvPr/>
          </p:nvSpPr>
          <p:spPr>
            <a:xfrm>
              <a:off x="548640" y="4050792"/>
              <a:ext cx="73152" cy="658368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4"/>
            <p:cNvSpPr/>
            <p:nvPr/>
          </p:nvSpPr>
          <p:spPr>
            <a:xfrm>
              <a:off x="777240" y="4160520"/>
              <a:ext cx="438912" cy="438912"/>
            </a:xfrm>
            <a:prstGeom prst="ellipse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3801" y="4257081"/>
              <a:ext cx="245791" cy="245791"/>
            </a:xfrm>
            <a:prstGeom prst="rect">
              <a:avLst/>
            </a:prstGeom>
          </p:spPr>
        </p:pic>
        <p:sp>
          <p:nvSpPr>
            <p:cNvPr id="32" name="Text 25"/>
            <p:cNvSpPr/>
            <p:nvPr/>
          </p:nvSpPr>
          <p:spPr>
            <a:xfrm>
              <a:off x="1371600" y="4123944"/>
              <a:ext cx="18288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Registry</a:t>
              </a:r>
              <a:endParaRPr lang="en-US" sz="1600" dirty="0"/>
            </a:p>
          </p:txBody>
        </p:sp>
        <p:sp>
          <p:nvSpPr>
            <p:cNvPr id="33" name="Text 26"/>
            <p:cNvSpPr/>
            <p:nvPr/>
          </p:nvSpPr>
          <p:spPr>
            <a:xfrm>
              <a:off x="3246120" y="4123944"/>
              <a:ext cx="5166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images are stored &amp; shared (e.g. Docker Hub). Push yours up; pull others down.</a:t>
              </a:r>
              <a:endParaRPr lang="en-US" sz="11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Docker Works: Build → Ship → Run</a:t>
            </a:r>
            <a:endParaRPr lang="en-US" sz="2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5165AC-91D8-40DA-A1FF-C77CB06444A0}"/>
              </a:ext>
            </a:extLst>
          </p:cNvPr>
          <p:cNvGrpSpPr/>
          <p:nvPr/>
        </p:nvGrpSpPr>
        <p:grpSpPr>
          <a:xfrm>
            <a:off x="640080" y="1371600"/>
            <a:ext cx="2194560" cy="1737360"/>
            <a:chOff x="640080" y="1371600"/>
            <a:chExt cx="2194560" cy="1737360"/>
          </a:xfrm>
        </p:grpSpPr>
        <p:sp>
          <p:nvSpPr>
            <p:cNvPr id="4" name="Shape 2"/>
            <p:cNvSpPr/>
            <p:nvPr/>
          </p:nvSpPr>
          <p:spPr>
            <a:xfrm>
              <a:off x="640080" y="1371600"/>
              <a:ext cx="2194560" cy="1737360"/>
            </a:xfrm>
            <a:prstGeom prst="rect">
              <a:avLst/>
            </a:prstGeom>
            <a:solidFill>
              <a:srgbClr val="D1FAE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1417320" y="1554480"/>
              <a:ext cx="640080" cy="640080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8138" y="1695298"/>
              <a:ext cx="358445" cy="358445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640080" y="2331720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Dockerfile</a:t>
              </a:r>
              <a:endParaRPr lang="en-US" sz="16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40080" y="265176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your recipe</a:t>
              </a:r>
              <a:endParaRPr lang="en-US" sz="11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F908FB8-68D9-D218-9CAD-5FA9AC4BC580}"/>
              </a:ext>
            </a:extLst>
          </p:cNvPr>
          <p:cNvGrpSpPr/>
          <p:nvPr/>
        </p:nvGrpSpPr>
        <p:grpSpPr>
          <a:xfrm>
            <a:off x="2788920" y="1371600"/>
            <a:ext cx="2788920" cy="1737360"/>
            <a:chOff x="2788920" y="1371600"/>
            <a:chExt cx="2788920" cy="1737360"/>
          </a:xfrm>
        </p:grpSpPr>
        <p:sp>
          <p:nvSpPr>
            <p:cNvPr id="9" name="Text 6"/>
            <p:cNvSpPr/>
            <p:nvPr/>
          </p:nvSpPr>
          <p:spPr>
            <a:xfrm>
              <a:off x="2788920" y="178308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docker build</a:t>
              </a:r>
              <a:endParaRPr lang="en-US" sz="900" dirty="0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0360" y="2103120"/>
              <a:ext cx="411480" cy="411480"/>
            </a:xfrm>
            <a:prstGeom prst="rect">
              <a:avLst/>
            </a:prstGeom>
          </p:spPr>
        </p:pic>
        <p:sp>
          <p:nvSpPr>
            <p:cNvPr id="11" name="Shape 7"/>
            <p:cNvSpPr/>
            <p:nvPr/>
          </p:nvSpPr>
          <p:spPr>
            <a:xfrm>
              <a:off x="3383280" y="1371600"/>
              <a:ext cx="2194560" cy="1737360"/>
            </a:xfrm>
            <a:prstGeom prst="rect">
              <a:avLst/>
            </a:prstGeom>
            <a:solidFill>
              <a:srgbClr val="D6EBFB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8"/>
            <p:cNvSpPr/>
            <p:nvPr/>
          </p:nvSpPr>
          <p:spPr>
            <a:xfrm>
              <a:off x="4160520" y="1554480"/>
              <a:ext cx="640080" cy="640080"/>
            </a:xfrm>
            <a:prstGeom prst="ellipse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1338" y="1695298"/>
              <a:ext cx="358445" cy="358445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3383280" y="2331720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496ED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Image</a:t>
              </a:r>
              <a:endParaRPr lang="en-US" sz="16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3383280" y="265176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 blueprint</a:t>
              </a:r>
              <a:endParaRPr lang="en-US" sz="11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CF628A-9E89-D91E-8450-047F45DBAA8A}"/>
              </a:ext>
            </a:extLst>
          </p:cNvPr>
          <p:cNvGrpSpPr/>
          <p:nvPr/>
        </p:nvGrpSpPr>
        <p:grpSpPr>
          <a:xfrm>
            <a:off x="5532120" y="1371600"/>
            <a:ext cx="2788920" cy="1737360"/>
            <a:chOff x="5532120" y="1371600"/>
            <a:chExt cx="2788920" cy="1737360"/>
          </a:xfrm>
        </p:grpSpPr>
        <p:sp>
          <p:nvSpPr>
            <p:cNvPr id="16" name="Text 11"/>
            <p:cNvSpPr/>
            <p:nvPr/>
          </p:nvSpPr>
          <p:spPr>
            <a:xfrm>
              <a:off x="5532120" y="178308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Docker</a:t>
              </a: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</a:t>
              </a:r>
              <a:endParaRPr lang="en-US" sz="900" dirty="0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3560" y="2103120"/>
              <a:ext cx="411480" cy="411480"/>
            </a:xfrm>
            <a:prstGeom prst="rect">
              <a:avLst/>
            </a:prstGeom>
          </p:spPr>
        </p:pic>
        <p:sp>
          <p:nvSpPr>
            <p:cNvPr id="18" name="Shape 12"/>
            <p:cNvSpPr/>
            <p:nvPr/>
          </p:nvSpPr>
          <p:spPr>
            <a:xfrm>
              <a:off x="6126480" y="1371600"/>
              <a:ext cx="2194560" cy="1737360"/>
            </a:xfrm>
            <a:prstGeom prst="rect">
              <a:avLst/>
            </a:prstGeom>
            <a:solidFill>
              <a:srgbClr val="FEF3C7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3"/>
            <p:cNvSpPr/>
            <p:nvPr/>
          </p:nvSpPr>
          <p:spPr>
            <a:xfrm>
              <a:off x="6903720" y="1554480"/>
              <a:ext cx="640080" cy="640080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44538" y="1695298"/>
              <a:ext cx="358445" cy="358445"/>
            </a:xfrm>
            <a:prstGeom prst="rect">
              <a:avLst/>
            </a:prstGeom>
          </p:spPr>
        </p:pic>
        <p:sp>
          <p:nvSpPr>
            <p:cNvPr id="21" name="Text 14"/>
            <p:cNvSpPr/>
            <p:nvPr/>
          </p:nvSpPr>
          <p:spPr>
            <a:xfrm>
              <a:off x="6126480" y="2331720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Container</a:t>
              </a:r>
              <a:endParaRPr lang="en-US" sz="1600" dirty="0"/>
            </a:p>
          </p:txBody>
        </p:sp>
        <p:sp>
          <p:nvSpPr>
            <p:cNvPr id="22" name="Text 15"/>
            <p:cNvSpPr/>
            <p:nvPr/>
          </p:nvSpPr>
          <p:spPr>
            <a:xfrm>
              <a:off x="6126480" y="265176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running app</a:t>
              </a:r>
              <a:endParaRPr lang="en-US" sz="11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2D855B-63D9-CD96-C7F5-AB8521E7EBE5}"/>
              </a:ext>
            </a:extLst>
          </p:cNvPr>
          <p:cNvGrpSpPr/>
          <p:nvPr/>
        </p:nvGrpSpPr>
        <p:grpSpPr>
          <a:xfrm>
            <a:off x="3017520" y="3200400"/>
            <a:ext cx="3108960" cy="1417320"/>
            <a:chOff x="3017520" y="3200400"/>
            <a:chExt cx="3108960" cy="1417320"/>
          </a:xfrm>
        </p:grpSpPr>
        <p:sp>
          <p:nvSpPr>
            <p:cNvPr id="23" name="Shape 16"/>
            <p:cNvSpPr/>
            <p:nvPr/>
          </p:nvSpPr>
          <p:spPr>
            <a:xfrm>
              <a:off x="3017520" y="3520440"/>
              <a:ext cx="3108960" cy="1097280"/>
            </a:xfrm>
            <a:prstGeom prst="rect">
              <a:avLst/>
            </a:prstGeom>
            <a:solidFill>
              <a:srgbClr val="EDE9FE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17"/>
            <p:cNvSpPr/>
            <p:nvPr/>
          </p:nvSpPr>
          <p:spPr>
            <a:xfrm>
              <a:off x="3246120" y="3794760"/>
              <a:ext cx="548640" cy="548640"/>
            </a:xfrm>
            <a:prstGeom prst="ellipse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6821" y="3915461"/>
              <a:ext cx="307238" cy="307238"/>
            </a:xfrm>
            <a:prstGeom prst="rect">
              <a:avLst/>
            </a:prstGeom>
          </p:spPr>
        </p:pic>
        <p:sp>
          <p:nvSpPr>
            <p:cNvPr id="26" name="Text 18"/>
            <p:cNvSpPr/>
            <p:nvPr/>
          </p:nvSpPr>
          <p:spPr>
            <a:xfrm>
              <a:off x="3931920" y="3703320"/>
              <a:ext cx="21031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Registry (Docker Hub)</a:t>
              </a:r>
              <a:endParaRPr lang="en-US" sz="1200" dirty="0"/>
            </a:p>
          </p:txBody>
        </p:sp>
        <p:sp>
          <p:nvSpPr>
            <p:cNvPr id="27" name="Text 19"/>
            <p:cNvSpPr/>
            <p:nvPr/>
          </p:nvSpPr>
          <p:spPr>
            <a:xfrm>
              <a:off x="3931920" y="402336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to share · pull to reuse</a:t>
              </a:r>
              <a:endParaRPr lang="en-US" sz="1000" dirty="0"/>
            </a:p>
          </p:txBody>
        </p:sp>
        <p:pic>
          <p:nvPicPr>
            <p:cNvPr id="28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20440" y="3200400"/>
              <a:ext cx="274320" cy="274320"/>
            </a:xfrm>
            <a:prstGeom prst="rect">
              <a:avLst/>
            </a:prstGeom>
          </p:spPr>
        </p:pic>
        <p:sp>
          <p:nvSpPr>
            <p:cNvPr id="29" name="Text 20"/>
            <p:cNvSpPr/>
            <p:nvPr/>
          </p:nvSpPr>
          <p:spPr>
            <a:xfrm>
              <a:off x="3840480" y="320040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docker push / pull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Docker Matters for AI Engineers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335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618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Tame Heavy Dependencies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torch, transformers, CUDA — pin the exact versions once, never fight install errors again.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3350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2618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Perfect Reproducibility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environment from your laptop to production. Kills 'works on my machine' forever.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3350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2618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Support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GPU-accelerated models in containers with the NVIDIA Container Toolkit.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1638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Effortless Sharing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your model + code as one image. Teammates run it with a single command.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1638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Isolation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7472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projects need different versions? Each container is its own sealed world.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1638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&amp; Scale Ready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55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the unit cloud platforms &amp; Kubernetes deploy and scale.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Installing &amp; Verifying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Docker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 / Windows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(GUI + engine)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(apt / dnf)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it's 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whale icon in tray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657600" cy="182880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It Works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two commands. If both succeed, you're ready: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057400"/>
            <a:ext cx="329184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'hello-world' proves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`docker run hello-world` makes Docker pull a tiny image from the registry, create a container from it, and run it — proving the whole build-ship-run pipeline works on your machine. It's the Docker equivalent of 'Hello, World!'.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2: Dockerfiles for AI Apps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recipe, build the image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90180" y="169164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82" y="19330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901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Dockerfile? It's a Recipe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13752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88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is a plain text file with step-by-step instructions to build your image. Think of it as a recipe: each line is one step, run in order, top to bottom.</a:t>
            </a:r>
            <a:endParaRPr lang="en-US" sz="13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D59F99-FE24-74D4-38D1-D11B9AC37F9A}"/>
              </a:ext>
            </a:extLst>
          </p:cNvPr>
          <p:cNvGrpSpPr/>
          <p:nvPr/>
        </p:nvGrpSpPr>
        <p:grpSpPr>
          <a:xfrm>
            <a:off x="731520" y="2286000"/>
            <a:ext cx="7680960" cy="420624"/>
            <a:chOff x="731520" y="2286000"/>
            <a:chExt cx="7680960" cy="420624"/>
          </a:xfrm>
        </p:grpSpPr>
        <p:sp>
          <p:nvSpPr>
            <p:cNvPr id="8" name="Shape 5"/>
            <p:cNvSpPr/>
            <p:nvPr/>
          </p:nvSpPr>
          <p:spPr>
            <a:xfrm>
              <a:off x="731520" y="2286000"/>
              <a:ext cx="7680960" cy="4206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80" y="2377440"/>
              <a:ext cx="237744" cy="237744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1280160" y="2286000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 with base ingredients</a:t>
              </a:r>
              <a:endParaRPr lang="en-US" sz="1150" dirty="0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4840" y="2404872"/>
              <a:ext cx="182880" cy="18288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4754880" y="2286000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496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— pick a base image</a:t>
              </a:r>
              <a:endParaRPr lang="en-US" sz="115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30A779-A89C-6F65-00B7-404E673619EB}"/>
              </a:ext>
            </a:extLst>
          </p:cNvPr>
          <p:cNvGrpSpPr/>
          <p:nvPr/>
        </p:nvGrpSpPr>
        <p:grpSpPr>
          <a:xfrm>
            <a:off x="731520" y="2788920"/>
            <a:ext cx="7680960" cy="420624"/>
            <a:chOff x="731520" y="2788920"/>
            <a:chExt cx="7680960" cy="420624"/>
          </a:xfrm>
        </p:grpSpPr>
        <p:sp>
          <p:nvSpPr>
            <p:cNvPr id="13" name="Shape 8"/>
            <p:cNvSpPr/>
            <p:nvPr/>
          </p:nvSpPr>
          <p:spPr>
            <a:xfrm>
              <a:off x="731520" y="2788920"/>
              <a:ext cx="7680960" cy="4206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8680" y="2880360"/>
              <a:ext cx="237744" cy="237744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1280160" y="2788920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up your kitchen counter</a:t>
              </a:r>
              <a:endParaRPr lang="en-US" sz="1150" dirty="0"/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4840" y="2907792"/>
              <a:ext cx="182880" cy="182880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4754880" y="2788920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496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WORKDIR — set the work folder</a:t>
              </a:r>
              <a:endParaRPr lang="en-US" sz="115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13EC6B-514D-894E-FAA2-6C7843A6C7E6}"/>
              </a:ext>
            </a:extLst>
          </p:cNvPr>
          <p:cNvGrpSpPr/>
          <p:nvPr/>
        </p:nvGrpSpPr>
        <p:grpSpPr>
          <a:xfrm>
            <a:off x="731520" y="3291840"/>
            <a:ext cx="7680960" cy="420624"/>
            <a:chOff x="731520" y="3291840"/>
            <a:chExt cx="7680960" cy="420624"/>
          </a:xfrm>
        </p:grpSpPr>
        <p:sp>
          <p:nvSpPr>
            <p:cNvPr id="18" name="Shape 11"/>
            <p:cNvSpPr/>
            <p:nvPr/>
          </p:nvSpPr>
          <p:spPr>
            <a:xfrm>
              <a:off x="731520" y="3291840"/>
              <a:ext cx="7680960" cy="4206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8680" y="3383280"/>
              <a:ext cx="237744" cy="237744"/>
            </a:xfrm>
            <a:prstGeom prst="rect">
              <a:avLst/>
            </a:prstGeom>
          </p:spPr>
        </p:pic>
        <p:sp>
          <p:nvSpPr>
            <p:cNvPr id="20" name="Text 12"/>
            <p:cNvSpPr/>
            <p:nvPr/>
          </p:nvSpPr>
          <p:spPr>
            <a:xfrm>
              <a:off x="1280160" y="3291840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your ingredients</a:t>
              </a:r>
              <a:endParaRPr lang="en-US" sz="1150" dirty="0"/>
            </a:p>
          </p:txBody>
        </p:sp>
        <p:pic>
          <p:nvPicPr>
            <p:cNvPr id="21" name="Image 6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4840" y="3410712"/>
              <a:ext cx="182880" cy="182880"/>
            </a:xfrm>
            <a:prstGeom prst="rect">
              <a:avLst/>
            </a:prstGeom>
          </p:spPr>
        </p:pic>
        <p:sp>
          <p:nvSpPr>
            <p:cNvPr id="22" name="Text 13"/>
            <p:cNvSpPr/>
            <p:nvPr/>
          </p:nvSpPr>
          <p:spPr>
            <a:xfrm>
              <a:off x="4754880" y="3291840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496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COPY — copy files into the image</a:t>
              </a:r>
              <a:endParaRPr lang="en-US" sz="115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8FD8924-086A-29D6-474C-105CC28CB68D}"/>
              </a:ext>
            </a:extLst>
          </p:cNvPr>
          <p:cNvGrpSpPr/>
          <p:nvPr/>
        </p:nvGrpSpPr>
        <p:grpSpPr>
          <a:xfrm>
            <a:off x="731520" y="3794760"/>
            <a:ext cx="7680960" cy="420624"/>
            <a:chOff x="731520" y="3794760"/>
            <a:chExt cx="7680960" cy="420624"/>
          </a:xfrm>
        </p:grpSpPr>
        <p:sp>
          <p:nvSpPr>
            <p:cNvPr id="23" name="Shape 14"/>
            <p:cNvSpPr/>
            <p:nvPr/>
          </p:nvSpPr>
          <p:spPr>
            <a:xfrm>
              <a:off x="731520" y="3794760"/>
              <a:ext cx="7680960" cy="4206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8680" y="3886200"/>
              <a:ext cx="237744" cy="237744"/>
            </a:xfrm>
            <a:prstGeom prst="rect">
              <a:avLst/>
            </a:prstGeom>
          </p:spPr>
        </p:pic>
        <p:sp>
          <p:nvSpPr>
            <p:cNvPr id="25" name="Text 15"/>
            <p:cNvSpPr/>
            <p:nvPr/>
          </p:nvSpPr>
          <p:spPr>
            <a:xfrm>
              <a:off x="1280160" y="3794760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Cook / prepare</a:t>
              </a:r>
              <a:endParaRPr lang="en-US" sz="1150" dirty="0"/>
            </a:p>
          </p:txBody>
        </p:sp>
        <p:pic>
          <p:nvPicPr>
            <p:cNvPr id="26" name="Image 8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4840" y="3913632"/>
              <a:ext cx="182880" cy="182880"/>
            </a:xfrm>
            <a:prstGeom prst="rect">
              <a:avLst/>
            </a:prstGeom>
          </p:spPr>
        </p:pic>
        <p:sp>
          <p:nvSpPr>
            <p:cNvPr id="27" name="Text 16"/>
            <p:cNvSpPr/>
            <p:nvPr/>
          </p:nvSpPr>
          <p:spPr>
            <a:xfrm>
              <a:off x="4754880" y="3794760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496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 — install dependencies</a:t>
              </a:r>
              <a:endParaRPr lang="en-US" sz="115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09E88E-00CD-1DEF-4C64-63A359C0FB82}"/>
              </a:ext>
            </a:extLst>
          </p:cNvPr>
          <p:cNvGrpSpPr/>
          <p:nvPr/>
        </p:nvGrpSpPr>
        <p:grpSpPr>
          <a:xfrm>
            <a:off x="731520" y="4297680"/>
            <a:ext cx="7680960" cy="420624"/>
            <a:chOff x="731520" y="4297680"/>
            <a:chExt cx="7680960" cy="420624"/>
          </a:xfrm>
        </p:grpSpPr>
        <p:sp>
          <p:nvSpPr>
            <p:cNvPr id="28" name="Shape 17"/>
            <p:cNvSpPr/>
            <p:nvPr/>
          </p:nvSpPr>
          <p:spPr>
            <a:xfrm>
              <a:off x="731520" y="4297680"/>
              <a:ext cx="7680960" cy="4206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8680" y="4389120"/>
              <a:ext cx="237744" cy="237744"/>
            </a:xfrm>
            <a:prstGeom prst="rect">
              <a:avLst/>
            </a:prstGeom>
          </p:spPr>
        </p:pic>
        <p:sp>
          <p:nvSpPr>
            <p:cNvPr id="30" name="Text 18"/>
            <p:cNvSpPr/>
            <p:nvPr/>
          </p:nvSpPr>
          <p:spPr>
            <a:xfrm>
              <a:off x="1280160" y="4297680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 the dish</a:t>
              </a:r>
              <a:endParaRPr lang="en-US" sz="1150" dirty="0"/>
            </a:p>
          </p:txBody>
        </p:sp>
        <p:pic>
          <p:nvPicPr>
            <p:cNvPr id="31" name="Image 1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4840" y="4416552"/>
              <a:ext cx="182880" cy="182880"/>
            </a:xfrm>
            <a:prstGeom prst="rect">
              <a:avLst/>
            </a:prstGeom>
          </p:spPr>
        </p:pic>
        <p:sp>
          <p:nvSpPr>
            <p:cNvPr id="32" name="Text 19"/>
            <p:cNvSpPr/>
            <p:nvPr/>
          </p:nvSpPr>
          <p:spPr>
            <a:xfrm>
              <a:off x="4754880" y="4297680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496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CMD — the command to start the app</a:t>
              </a:r>
              <a:endParaRPr lang="en-US" sz="11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Dockerfile Instructions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554480" cy="45720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image to build on (e.g. python:3.11-slim)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155448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600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working directory inside the container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15544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148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from your project into the image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697480"/>
            <a:ext cx="15544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2697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command at BUILD time (install deps)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3246120"/>
            <a:ext cx="155448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environment variable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794760"/>
            <a:ext cx="1554480" cy="4572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68880" y="3794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which port the app listens 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155448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68880" y="4343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command to run when the container STARTS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937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happens once at BUILD time. CMD happens every time the container STARTS — a key distinction.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Dockerfile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937760" cy="2743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Start from a base image with Python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Set the working directory in the image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Copy &amp; install dependencies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Copy the rest of the app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Command to run when it starts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"main.py"]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108960" cy="2743200"/>
          </a:xfrm>
          <a:prstGeom prst="rect">
            <a:avLst/>
          </a:prstGeom>
          <a:solidFill>
            <a:srgbClr val="D6EB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It Top to Bottom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0876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80760" y="1481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one build step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89280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80760" y="1865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them in order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7685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2249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creates a cached 'layer'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6090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8076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your image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7607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complete, working image definition in 6 instructions.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 requirements.txt BEFORE the rest of the code? Layer caching — more on the next slides.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for Your FastAPI AI 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120640" cy="3703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for the FastAPI agent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deps FIRST (cached unless requirements change)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the application 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Document the port Uvicorn listens 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the API with Uvicorn, bound to all interfaces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"system.main:app",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"--host", "0.0.0.0", "--port", "8000"]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292608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AI-App Specifics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--host 0.0.0.0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0" y="17007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 API only listens inside the container &amp; is unreachable.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--no-cache-dir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2478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pip's cache to keep the image smaller.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32552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the port (you still map it at run time).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 first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4032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re-install only when requirements.txt changes.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Image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my-agent-api 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Decoding the command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= build an image    ·    -t my-agent-api = name (tag) it    ·    . = build context (this folder)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see your image: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7680960" cy="1371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     TAG       IMAGE ID       SIZE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my-agent-api    latest    a1b2c3d4e5f6   210MB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builds each Dockerfile line as a cached LAYER.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only your code? Only the COPY layer rebuilds — fast.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Junk Out with .dockerignore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.gitignore, a .dockerignore file tells Docker which files to leave OUT of the image. This makes builds: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2221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venv, caches, or data bloat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74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828800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to copy into the image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828800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.env secrets never get baked in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0" y="1051560"/>
            <a:ext cx="4114800" cy="2743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709160" y="11430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.dockerignore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*.md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.pytest_cache/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        # large local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for AI Dockerfiles</a:t>
            </a:r>
            <a:endParaRPr lang="en-US" sz="2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4D5AB9-F715-A344-290B-35A33B56ACF5}"/>
              </a:ext>
            </a:extLst>
          </p:cNvPr>
          <p:cNvGrpSpPr/>
          <p:nvPr/>
        </p:nvGrpSpPr>
        <p:grpSpPr>
          <a:xfrm>
            <a:off x="457200" y="1097280"/>
            <a:ext cx="2651760" cy="1645920"/>
            <a:chOff x="457200" y="1097280"/>
            <a:chExt cx="2651760" cy="1645920"/>
          </a:xfrm>
        </p:grpSpPr>
        <p:sp>
          <p:nvSpPr>
            <p:cNvPr id="4" name="Shape 2"/>
            <p:cNvSpPr/>
            <p:nvPr/>
          </p:nvSpPr>
          <p:spPr>
            <a:xfrm>
              <a:off x="457200" y="1097280"/>
              <a:ext cx="265176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594360" y="1234440"/>
              <a:ext cx="457200" cy="457200"/>
            </a:xfrm>
            <a:prstGeom prst="ellipse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944" y="1335024"/>
              <a:ext cx="256032" cy="256032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143000" y="1261872"/>
              <a:ext cx="1874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Use slim, pinned base</a:t>
              </a:r>
              <a:endParaRPr lang="en-US" sz="11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94360" y="1783080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python:3.11-slim, not python:latest. Smaller &amp; reproducible.</a:t>
              </a:r>
              <a:endParaRPr lang="en-US" sz="10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2CF056A-25AD-7BEB-8D6A-D2F770E233DE}"/>
              </a:ext>
            </a:extLst>
          </p:cNvPr>
          <p:cNvGrpSpPr/>
          <p:nvPr/>
        </p:nvGrpSpPr>
        <p:grpSpPr>
          <a:xfrm>
            <a:off x="3337560" y="1097280"/>
            <a:ext cx="2651760" cy="1645920"/>
            <a:chOff x="3337560" y="1097280"/>
            <a:chExt cx="2651760" cy="1645920"/>
          </a:xfrm>
        </p:grpSpPr>
        <p:sp>
          <p:nvSpPr>
            <p:cNvPr id="9" name="Shape 6"/>
            <p:cNvSpPr/>
            <p:nvPr/>
          </p:nvSpPr>
          <p:spPr>
            <a:xfrm>
              <a:off x="3337560" y="1097280"/>
              <a:ext cx="265176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3474720" y="1234440"/>
              <a:ext cx="457200" cy="457200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5304" y="1335024"/>
              <a:ext cx="256032" cy="256032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4023360" y="1261872"/>
              <a:ext cx="1874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Deps before code</a:t>
              </a:r>
              <a:endParaRPr lang="en-US" sz="11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474720" y="1783080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COPY requirements first so the install layer caches between builds.</a:t>
              </a:r>
              <a:endParaRPr lang="en-US" sz="10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B17501-549D-55A3-E158-00979FCD6CB3}"/>
              </a:ext>
            </a:extLst>
          </p:cNvPr>
          <p:cNvGrpSpPr/>
          <p:nvPr/>
        </p:nvGrpSpPr>
        <p:grpSpPr>
          <a:xfrm>
            <a:off x="6217920" y="1097280"/>
            <a:ext cx="2651760" cy="1645920"/>
            <a:chOff x="6217920" y="1097280"/>
            <a:chExt cx="2651760" cy="1645920"/>
          </a:xfrm>
        </p:grpSpPr>
        <p:sp>
          <p:nvSpPr>
            <p:cNvPr id="14" name="Shape 10"/>
            <p:cNvSpPr/>
            <p:nvPr/>
          </p:nvSpPr>
          <p:spPr>
            <a:xfrm>
              <a:off x="6217920" y="1097280"/>
              <a:ext cx="265176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1"/>
            <p:cNvSpPr/>
            <p:nvPr/>
          </p:nvSpPr>
          <p:spPr>
            <a:xfrm>
              <a:off x="6355080" y="1234440"/>
              <a:ext cx="457200" cy="457200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5664" y="1335024"/>
              <a:ext cx="256032" cy="256032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6903720" y="1261872"/>
              <a:ext cx="1874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Keep images small</a:t>
              </a:r>
              <a:endParaRPr lang="en-US" sz="115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355080" y="1783080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--no-cache-dir, remove build tools, clean up apt caches.</a:t>
              </a:r>
              <a:endParaRPr lang="en-US" sz="1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CECDA46-0E6B-63AF-9CC6-3213C27F6ADC}"/>
              </a:ext>
            </a:extLst>
          </p:cNvPr>
          <p:cNvGrpSpPr/>
          <p:nvPr/>
        </p:nvGrpSpPr>
        <p:grpSpPr>
          <a:xfrm>
            <a:off x="457200" y="2926080"/>
            <a:ext cx="2651760" cy="1645920"/>
            <a:chOff x="457200" y="2926080"/>
            <a:chExt cx="2651760" cy="1645920"/>
          </a:xfrm>
        </p:grpSpPr>
        <p:sp>
          <p:nvSpPr>
            <p:cNvPr id="19" name="Shape 14"/>
            <p:cNvSpPr/>
            <p:nvPr/>
          </p:nvSpPr>
          <p:spPr>
            <a:xfrm>
              <a:off x="457200" y="2926080"/>
              <a:ext cx="265176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594360" y="3063240"/>
              <a:ext cx="457200" cy="457200"/>
            </a:xfrm>
            <a:prstGeom prst="ellipse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4944" y="3163824"/>
              <a:ext cx="256032" cy="256032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1143000" y="3090672"/>
              <a:ext cx="1874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Multi-stage builds</a:t>
              </a:r>
              <a:endParaRPr lang="en-US" sz="115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594360" y="3611880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heavy deps in one stage, copy only what's needed to the final image.</a:t>
              </a:r>
              <a:endParaRPr lang="en-US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F482AB5-783D-071E-9A22-CEDAA55DC6CA}"/>
              </a:ext>
            </a:extLst>
          </p:cNvPr>
          <p:cNvGrpSpPr/>
          <p:nvPr/>
        </p:nvGrpSpPr>
        <p:grpSpPr>
          <a:xfrm>
            <a:off x="3337560" y="2926080"/>
            <a:ext cx="2651760" cy="1645920"/>
            <a:chOff x="3337560" y="2926080"/>
            <a:chExt cx="2651760" cy="1645920"/>
          </a:xfrm>
        </p:grpSpPr>
        <p:sp>
          <p:nvSpPr>
            <p:cNvPr id="24" name="Shape 18"/>
            <p:cNvSpPr/>
            <p:nvPr/>
          </p:nvSpPr>
          <p:spPr>
            <a:xfrm>
              <a:off x="3337560" y="2926080"/>
              <a:ext cx="265176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19"/>
            <p:cNvSpPr/>
            <p:nvPr/>
          </p:nvSpPr>
          <p:spPr>
            <a:xfrm>
              <a:off x="3474720" y="3063240"/>
              <a:ext cx="457200" cy="457200"/>
            </a:xfrm>
            <a:prstGeom prst="ellipse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75304" y="3163824"/>
              <a:ext cx="256032" cy="256032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4023360" y="3090672"/>
              <a:ext cx="1874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Run as non-root</a:t>
              </a:r>
              <a:endParaRPr lang="en-US" sz="1150" dirty="0"/>
            </a:p>
          </p:txBody>
        </p:sp>
        <p:sp>
          <p:nvSpPr>
            <p:cNvPr id="28" name="Text 21"/>
            <p:cNvSpPr/>
            <p:nvPr/>
          </p:nvSpPr>
          <p:spPr>
            <a:xfrm>
              <a:off x="3474720" y="3611880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a user; don't run the container as root for security.</a:t>
              </a:r>
              <a:endParaRPr lang="en-US" sz="10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DD055B-82A8-CB76-F74C-4083C82C93F2}"/>
              </a:ext>
            </a:extLst>
          </p:cNvPr>
          <p:cNvGrpSpPr/>
          <p:nvPr/>
        </p:nvGrpSpPr>
        <p:grpSpPr>
          <a:xfrm>
            <a:off x="6217920" y="2926080"/>
            <a:ext cx="2651760" cy="1645920"/>
            <a:chOff x="6217920" y="2926080"/>
            <a:chExt cx="2651760" cy="1645920"/>
          </a:xfrm>
        </p:grpSpPr>
        <p:sp>
          <p:nvSpPr>
            <p:cNvPr id="29" name="Shape 22"/>
            <p:cNvSpPr/>
            <p:nvPr/>
          </p:nvSpPr>
          <p:spPr>
            <a:xfrm>
              <a:off x="6217920" y="2926080"/>
              <a:ext cx="265176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Shape 23"/>
            <p:cNvSpPr/>
            <p:nvPr/>
          </p:nvSpPr>
          <p:spPr>
            <a:xfrm>
              <a:off x="6355080" y="3063240"/>
              <a:ext cx="457200" cy="457200"/>
            </a:xfrm>
            <a:prstGeom prst="ellipse">
              <a:avLst/>
            </a:prstGeom>
            <a:solidFill>
              <a:srgbClr val="F9731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5664" y="3163824"/>
              <a:ext cx="256032" cy="256032"/>
            </a:xfrm>
            <a:prstGeom prst="rect">
              <a:avLst/>
            </a:prstGeom>
          </p:spPr>
        </p:pic>
        <p:sp>
          <p:nvSpPr>
            <p:cNvPr id="32" name="Text 24"/>
            <p:cNvSpPr/>
            <p:nvPr/>
          </p:nvSpPr>
          <p:spPr>
            <a:xfrm>
              <a:off x="6903720" y="3090672"/>
              <a:ext cx="1874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E293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One process per container</a:t>
              </a:r>
              <a:endParaRPr lang="en-US" sz="1150" dirty="0"/>
            </a:p>
          </p:txBody>
        </p:sp>
        <p:sp>
          <p:nvSpPr>
            <p:cNvPr id="33" name="Text 25"/>
            <p:cNvSpPr/>
            <p:nvPr/>
          </p:nvSpPr>
          <p:spPr>
            <a:xfrm>
              <a:off x="6355080" y="3611880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in one, frontend in another — compose them together.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Secrets &amp; Environment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14008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bake API keys into the image! Anyone who pulls your image can extract them. Hard-coding OPENAI_API_KEY in the Dockerfile is a serious security leak.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secrets at RUN time instead: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651760"/>
            <a:ext cx="7680960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A — pass a single variable</a:t>
            </a:r>
            <a:endParaRPr lang="en-US" sz="1100" dirty="0"/>
          </a:p>
          <a:p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OPENAI_API_KEY=sk-... &lt;</a:t>
            </a:r>
            <a:r>
              <a:rPr lang="en-US" sz="110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image_name</a:t>
            </a: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B — pass a whole .env file (recommended for dev)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&lt;</a:t>
            </a:r>
            <a:r>
              <a:rPr lang="en-US" sz="110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image_name</a:t>
            </a: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7680960" cy="86868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production: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80160" y="4206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cloud's secret manager (AWS Secrets Manager, etc.) — never plaintext files. The image stays clean and shareable; secrets are injected only at run time.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3: Containerize &amp; Run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your real apps and ship them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482" y="188732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Containerize Your FastAPI Agent (Last Session)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layered agent-fastapi project and add two files at the root: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agent-fastapi/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generator/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system/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          &lt;-- NEW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.dockerignore       &lt;-- NEW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solidFill>
            <a:srgbClr val="D6EB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 to Ship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411480" cy="41148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1856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Dockerfile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2112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(the FastAPI one from Hour 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587752"/>
            <a:ext cx="411480" cy="41148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2569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.dockerignore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2825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(exclude .env, venv, caches)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300984"/>
            <a:ext cx="411480" cy="41148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282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image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agent-api 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layered app — Controller, Service, Generator, Domain, System — now lives in ONE portable image.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the Container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8000:8000 --env-file .env --name agent agent-api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by flag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— run in the background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8000:8000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host port 8000 → container port 8000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--env-file .env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834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secrets at run time (never baked in)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108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container a friendly name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0120" y="3840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941064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3749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live!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54480" y="40416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mapping is the magic: your browser hits localhost:8000 and Docker forwards it into the container.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http://localhost:8000/docs  — your agent API is running in a container.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Containerizing a Streamlit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— only the base command changes. Streamlit defaults to port 8501: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120640" cy="2926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for a Streamlit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8501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 0.0.0.0 so it's reachable outside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["streamlit", "run", "app.py",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"--server.address=0.0.0.0",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"--server.port=8501"]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760720" y="1325880"/>
            <a:ext cx="2926080" cy="292608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 my-chat-ui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8501:8501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my-chat-ui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the CMD runs `streamlit run` and binds the address so the UI is reachable from your browser.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Docker Commands Cheat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name 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image from a Dockerfile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8000:8000 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start a container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1810512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810512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810512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containers (incl. stopped)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523744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523744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container's 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523744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2523744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bash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shell inside a running container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36976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3236976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running container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236976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3236976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container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950208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3950208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15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local images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950208"/>
            <a:ext cx="38404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3950208"/>
            <a:ext cx="54864" cy="60350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&lt;image&gt;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image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— Multi-Container Apps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Compose?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have multiple containers — e.g. a FastAPI backend AND a Streamlit frontend, or an app PLUS a vector database.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defines them all in ONE YAML file and starts everything with ONE command: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29184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051560"/>
            <a:ext cx="4389120" cy="3566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14300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docker-compose.yml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./agent-fastapi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"8000:8000"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.env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./streamlit-ui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"8501:8501"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api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Sharing Your Image via Docker Hub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2194560" cy="1325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agent-api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yourname/agent-api:1.0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214884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2336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in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429000" y="1920240"/>
            <a:ext cx="2194560" cy="1325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148840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35040" y="118872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172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76656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it up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172200" y="1920240"/>
            <a:ext cx="2194560" cy="1325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309360" y="20116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yourname/agent-api:1.0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98678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71600" y="3794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anyone, anywhere, runs your AI app with ONE command: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37160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8000:8000 --env-file .env yourname/agent-api:1.0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Exercise: Ship Your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13651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88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FastAPI agent API you built last session and run it — fully in Docker, with no local Python needed.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Dockerfile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python:3.11-slim, install deps, EXPOSE 8000, CMD uvicorn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.dockerignore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57800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.env, venv/, __pycache__, .git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3444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image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agent-api 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31089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with secrets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8000:8000 --env-file .env agent-api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344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it live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34440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localhost:8000/docs and call /chat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3886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754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25780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Bonus: push it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57800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push to your Docker Hub account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 &amp; How to Avoid Them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3767328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Pitfall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Fix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runs but browser can't reach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to --host 0.0.0.0, not 127.0.0.1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to map the 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-p 8000:8000 to docker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Baked secrets into the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at run time via --env-file or -e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multi-GB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-slim base + .dockerignore + --no-cache-dir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build re-installs deps slowly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requirements.txt before the rest of the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don't show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the image; containers don't auto-update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170432"/>
            <a:ext cx="347472" cy="347472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your app + its entire environment into one portable image — no more 'works on my machine'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10512"/>
            <a:ext cx="347472" cy="347472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783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blueprint, Container = running instance, Dockerfile = recipe, Registry = where you share them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450592"/>
            <a:ext cx="347472" cy="347472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reads top to bottom: FROM, WORKDIR, COPY, RUN, EXPOSE, CMD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090672"/>
            <a:ext cx="347472" cy="347472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0632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requirements before code, use slim bases, and add a .dockerignore to keep images small &amp; fast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730752"/>
            <a:ext cx="347472" cy="347472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703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bake secrets into the image — pass them at run time with --env-file or -e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4370832"/>
            <a:ext cx="347472" cy="347472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4343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docker run -p → share via docker push. Anyone can then run your app with one command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Resources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916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Docs — docs.docker.com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488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— hub.docker.com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060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Docker — labs.play-with-docker.com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3035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reference &amp; best practices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2044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3493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Container Toolkit (for GPUs)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49377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Explore Next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9164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4924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for smaller images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4924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API + frontend + DB</a:t>
            </a:r>
            <a:endParaRPr lang="en-US" sz="11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0604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containers for local LLM inference</a:t>
            </a:r>
            <a:endParaRPr lang="en-US" sz="11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6324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3035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Render, Railway, or Fly.io</a:t>
            </a:r>
            <a:endParaRPr lang="en-US" sz="11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2044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3493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orchestrate at scale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0" y="822960"/>
            <a:ext cx="1280160" cy="128016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835" y="1104595"/>
            <a:ext cx="716890" cy="7168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Ship It!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package &amp; share any AI project professionally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run anywhere. That's the power of Docker.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3999</Words>
  <Application>Microsoft Office PowerPoint</Application>
  <PresentationFormat>On-screen Show (16:9)</PresentationFormat>
  <Paragraphs>599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Consolas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for AI Engineers</dc:title>
  <dc:subject>PptxGenJS Presentation</dc:subject>
  <dc:creator>AI Agents Workshop</dc:creator>
  <cp:lastModifiedBy>Varush H</cp:lastModifiedBy>
  <cp:revision>15</cp:revision>
  <dcterms:created xsi:type="dcterms:W3CDTF">2026-06-22T13:32:08Z</dcterms:created>
  <dcterms:modified xsi:type="dcterms:W3CDTF">2026-06-27T03:41:48Z</dcterms:modified>
</cp:coreProperties>
</file>